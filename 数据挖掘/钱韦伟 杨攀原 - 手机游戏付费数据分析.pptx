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12.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1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15.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8.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19.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25"/>
  </p:notesMasterIdLst>
  <p:sldIdLst>
    <p:sldId id="2745" r:id="rId2"/>
    <p:sldId id="2746" r:id="rId3"/>
    <p:sldId id="2747" r:id="rId4"/>
    <p:sldId id="2835" r:id="rId5"/>
    <p:sldId id="2866" r:id="rId6"/>
    <p:sldId id="2824" r:id="rId7"/>
    <p:sldId id="2876" r:id="rId8"/>
    <p:sldId id="2867" r:id="rId9"/>
    <p:sldId id="2849" r:id="rId10"/>
    <p:sldId id="2850" r:id="rId11"/>
    <p:sldId id="2869" r:id="rId12"/>
    <p:sldId id="2870" r:id="rId13"/>
    <p:sldId id="2874" r:id="rId14"/>
    <p:sldId id="2871" r:id="rId15"/>
    <p:sldId id="2872" r:id="rId16"/>
    <p:sldId id="2875" r:id="rId17"/>
    <p:sldId id="2825" r:id="rId18"/>
    <p:sldId id="2844" r:id="rId19"/>
    <p:sldId id="2865" r:id="rId20"/>
    <p:sldId id="2860" r:id="rId21"/>
    <p:sldId id="2833" r:id="rId22"/>
    <p:sldId id="2834" r:id="rId23"/>
    <p:sldId id="2811" r:id="rId24"/>
  </p:sldIdLst>
  <p:sldSz cx="12858750" cy="7232650"/>
  <p:notesSz cx="6858000" cy="9144000"/>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1pPr>
    <a:lvl2pPr marL="640080" indent="-182880"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2pPr>
    <a:lvl3pPr marL="1282700" indent="-368300"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925955" indent="-554355"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4pPr>
    <a:lvl5pPr marL="2568575" indent="-739775" algn="l" rtl="0" fontAlgn="base">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p:defaultTextStyle>
  <p:extLst>
    <p:ext uri="{EFAFB233-063F-42B5-8137-9DF3F51BA10A}">
      <p15:sldGuideLst xmlns:p15="http://schemas.microsoft.com/office/powerpoint/2012/main">
        <p15:guide id="1" orient="horz" pos="386">
          <p15:clr>
            <a:srgbClr val="A4A3A4"/>
          </p15:clr>
        </p15:guide>
        <p15:guide id="2" orient="horz" pos="4183">
          <p15:clr>
            <a:srgbClr val="A4A3A4"/>
          </p15:clr>
        </p15:guide>
        <p15:guide id="3" pos="4050" userDrawn="1">
          <p15:clr>
            <a:srgbClr val="A4A3A4"/>
          </p15:clr>
        </p15:guide>
        <p15:guide id="4" pos="467" userDrawn="1">
          <p15:clr>
            <a:srgbClr val="A4A3A4"/>
          </p15:clr>
        </p15:guide>
        <p15:guide id="5" pos="755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A9F0"/>
    <a:srgbClr val="FFFFFF"/>
    <a:srgbClr val="FFE07D"/>
    <a:srgbClr val="CAE8AA"/>
    <a:srgbClr val="FBBF09"/>
    <a:srgbClr val="212E3C"/>
    <a:srgbClr val="BFBFBF"/>
    <a:srgbClr val="EF4232"/>
    <a:srgbClr val="FABCA8"/>
    <a:srgbClr val="5756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9450C8-3770-404A-A1A2-209B255AEC66}" v="472" dt="2021-06-08T01:54:18.368"/>
    <p1510:client id="{B58F12B7-14E0-4D64-A3DA-B601CD3BE7A8}" v="193" dt="2021-06-07T06:25:24.32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80" autoAdjust="0"/>
    <p:restoredTop sz="81441" autoAdjust="0"/>
  </p:normalViewPr>
  <p:slideViewPr>
    <p:cSldViewPr>
      <p:cViewPr varScale="1">
        <p:scale>
          <a:sx n="88" d="100"/>
          <a:sy n="88" d="100"/>
        </p:scale>
        <p:origin x="642" y="84"/>
      </p:cViewPr>
      <p:guideLst>
        <p:guide orient="horz" pos="386"/>
        <p:guide orient="horz" pos="4183"/>
        <p:guide pos="4050"/>
        <p:guide pos="467"/>
        <p:guide pos="7551"/>
      </p:guideLst>
    </p:cSldViewPr>
  </p:slideViewPr>
  <p:outlineViewPr>
    <p:cViewPr>
      <p:scale>
        <a:sx n="100" d="100"/>
        <a:sy n="100" d="100"/>
      </p:scale>
      <p:origin x="0" y="0"/>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t>2021/6/8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fld id="{418F03C3-53C1-4F10-8DAF-D1F318E96C6E}"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mn-lt"/>
        <a:ea typeface="+mn-ea"/>
        <a:cs typeface="+mn-cs"/>
      </a:defRPr>
    </a:lvl1pPr>
    <a:lvl2pPr marL="455930" algn="l" rtl="0" eaLnBrk="0" fontAlgn="base" hangingPunct="0">
      <a:spcBef>
        <a:spcPct val="30000"/>
      </a:spcBef>
      <a:spcAft>
        <a:spcPct val="0"/>
      </a:spcAft>
      <a:defRPr sz="1300" kern="1200">
        <a:solidFill>
          <a:schemeClr val="tx1"/>
        </a:solidFill>
        <a:latin typeface="+mn-lt"/>
        <a:ea typeface="+mn-ea"/>
        <a:cs typeface="+mn-cs"/>
      </a:defRPr>
    </a:lvl2pPr>
    <a:lvl3pPr marL="913130" algn="l" rtl="0" eaLnBrk="0" fontAlgn="base" hangingPunct="0">
      <a:spcBef>
        <a:spcPct val="30000"/>
      </a:spcBef>
      <a:spcAft>
        <a:spcPct val="0"/>
      </a:spcAft>
      <a:defRPr sz="1300" kern="1200">
        <a:solidFill>
          <a:schemeClr val="tx1"/>
        </a:solidFill>
        <a:latin typeface="+mn-lt"/>
        <a:ea typeface="+mn-ea"/>
        <a:cs typeface="+mn-cs"/>
      </a:defRPr>
    </a:lvl3pPr>
    <a:lvl4pPr marL="1370330" algn="l" rtl="0" eaLnBrk="0" fontAlgn="base" hangingPunct="0">
      <a:spcBef>
        <a:spcPct val="30000"/>
      </a:spcBef>
      <a:spcAft>
        <a:spcPct val="0"/>
      </a:spcAft>
      <a:defRPr sz="1300" kern="1200">
        <a:solidFill>
          <a:schemeClr val="tx1"/>
        </a:solidFill>
        <a:latin typeface="+mn-lt"/>
        <a:ea typeface="+mn-ea"/>
        <a:cs typeface="+mn-cs"/>
      </a:defRPr>
    </a:lvl4pPr>
    <a:lvl5pPr marL="1827530" algn="l" rtl="0" eaLnBrk="0" fontAlgn="base" hangingPunct="0">
      <a:spcBef>
        <a:spcPct val="30000"/>
      </a:spcBef>
      <a:spcAft>
        <a:spcPct val="0"/>
      </a:spcAft>
      <a:defRPr sz="1300" kern="1200">
        <a:solidFill>
          <a:schemeClr val="tx1"/>
        </a:solidFill>
        <a:latin typeface="+mn-lt"/>
        <a:ea typeface="+mn-ea"/>
        <a:cs typeface="+mn-cs"/>
      </a:defRPr>
    </a:lvl5pPr>
    <a:lvl6pPr marL="2285365" algn="l" defTabSz="914400" rtl="0" eaLnBrk="1" latinLnBrk="0" hangingPunct="1">
      <a:defRPr sz="1300" kern="1200">
        <a:solidFill>
          <a:schemeClr val="tx1"/>
        </a:solidFill>
        <a:latin typeface="+mn-lt"/>
        <a:ea typeface="+mn-ea"/>
        <a:cs typeface="+mn-cs"/>
      </a:defRPr>
    </a:lvl6pPr>
    <a:lvl7pPr marL="2742565" algn="l" defTabSz="914400" rtl="0" eaLnBrk="1" latinLnBrk="0" hangingPunct="1">
      <a:defRPr sz="1300" kern="1200">
        <a:solidFill>
          <a:schemeClr val="tx1"/>
        </a:solidFill>
        <a:latin typeface="+mn-lt"/>
        <a:ea typeface="+mn-ea"/>
        <a:cs typeface="+mn-cs"/>
      </a:defRPr>
    </a:lvl7pPr>
    <a:lvl8pPr marL="3199765" algn="l" defTabSz="914400" rtl="0" eaLnBrk="1" latinLnBrk="0" hangingPunct="1">
      <a:defRPr sz="1300" kern="1200">
        <a:solidFill>
          <a:schemeClr val="tx1"/>
        </a:solidFill>
        <a:latin typeface="+mn-lt"/>
        <a:ea typeface="+mn-ea"/>
        <a:cs typeface="+mn-cs"/>
      </a:defRPr>
    </a:lvl8pPr>
    <a:lvl9pPr marL="3656965" algn="l" defTabSz="914400"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目标定义</a:t>
            </a:r>
          </a:p>
        </p:txBody>
      </p:sp>
      <p:sp>
        <p:nvSpPr>
          <p:cNvPr id="4" name="灯片编号占位符 3"/>
          <p:cNvSpPr>
            <a:spLocks noGrp="1"/>
          </p:cNvSpPr>
          <p:nvPr>
            <p:ph type="sldNum" sz="quarter" idx="10"/>
          </p:nvPr>
        </p:nvSpPr>
        <p:spPr/>
        <p:txBody>
          <a:bodyPr/>
          <a:lstStyle/>
          <a:p>
            <a:fld id="{418F03C3-53C1-4F10-8DAF-D1F318E96C6E}"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b="0" i="0" dirty="0">
                <a:solidFill>
                  <a:srgbClr val="000000"/>
                </a:solidFill>
                <a:effectLst/>
                <a:latin typeface="Microsoft Yahei" panose="020B0503020204020204" pitchFamily="34" charset="-122"/>
                <a:ea typeface="Microsoft Yahei" panose="020B0503020204020204" pitchFamily="34" charset="-122"/>
              </a:rPr>
              <a:t>中国音数协游戏工委</a:t>
            </a:r>
            <a:r>
              <a:rPr lang="en-US" altLang="zh-CN" b="0" i="0" dirty="0">
                <a:solidFill>
                  <a:srgbClr val="000000"/>
                </a:solidFill>
                <a:effectLst/>
                <a:latin typeface="Microsoft Yahei" panose="020B0503020204020204" pitchFamily="34" charset="-122"/>
                <a:ea typeface="Microsoft Yahei" panose="020B0503020204020204" pitchFamily="34" charset="-122"/>
              </a:rPr>
              <a:t>(GPC)</a:t>
            </a:r>
            <a:r>
              <a:rPr lang="zh-CN" altLang="en-US" b="0" i="0" dirty="0">
                <a:solidFill>
                  <a:srgbClr val="000000"/>
                </a:solidFill>
                <a:effectLst/>
                <a:latin typeface="Microsoft Yahei" panose="020B0503020204020204" pitchFamily="34" charset="-122"/>
                <a:ea typeface="Microsoft Yahei" panose="020B0503020204020204" pitchFamily="34" charset="-122"/>
              </a:rPr>
              <a:t>与中国游戏产业研究院发布了</a:t>
            </a:r>
            <a:r>
              <a:rPr lang="en-US" altLang="zh-CN" b="0" i="0" dirty="0">
                <a:solidFill>
                  <a:srgbClr val="000000"/>
                </a:solidFill>
                <a:effectLst/>
                <a:latin typeface="Microsoft Yahei" panose="020B0503020204020204" pitchFamily="34" charset="-122"/>
                <a:ea typeface="Microsoft Yahei" panose="020B0503020204020204" pitchFamily="34" charset="-122"/>
              </a:rPr>
              <a:t>《2020</a:t>
            </a:r>
            <a:r>
              <a:rPr lang="zh-CN" altLang="en-US" b="0" i="0" dirty="0">
                <a:solidFill>
                  <a:srgbClr val="000000"/>
                </a:solidFill>
                <a:effectLst/>
                <a:latin typeface="Microsoft Yahei" panose="020B0503020204020204" pitchFamily="34" charset="-122"/>
                <a:ea typeface="Microsoft Yahei" panose="020B0503020204020204" pitchFamily="34" charset="-122"/>
              </a:rPr>
              <a:t>年中国游戏产业报告</a:t>
            </a:r>
            <a:r>
              <a:rPr lang="en-US" altLang="zh-CN" b="0" i="0" dirty="0">
                <a:solidFill>
                  <a:srgbClr val="000000"/>
                </a:solidFill>
                <a:effectLst/>
                <a:latin typeface="Microsoft Yahei" panose="020B0503020204020204" pitchFamily="34" charset="-122"/>
                <a:ea typeface="Microsoft Yahei" panose="020B0503020204020204" pitchFamily="34" charset="-122"/>
              </a:rPr>
              <a: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400" dirty="0">
                <a:latin typeface="Times New Roman" panose="02020603050405020304" pitchFamily="18" charset="0"/>
              </a:rPr>
              <a:t>说明几个问题，一个是</a:t>
            </a:r>
            <a:r>
              <a:rPr lang="en-US" altLang="zh-CN" sz="1400" dirty="0">
                <a:latin typeface="Times New Roman" panose="02020603050405020304" pitchFamily="18" charset="0"/>
              </a:rPr>
              <a:t>【</a:t>
            </a:r>
            <a:r>
              <a:rPr lang="zh-CN" altLang="en-US" sz="1400" dirty="0">
                <a:latin typeface="Times New Roman" panose="02020603050405020304" pitchFamily="18" charset="0"/>
              </a:rPr>
              <a:t>手游占大头</a:t>
            </a:r>
            <a:r>
              <a:rPr lang="en-US" altLang="zh-CN" sz="1400" dirty="0">
                <a:latin typeface="Times New Roman" panose="02020603050405020304" pitchFamily="18" charset="0"/>
              </a:rPr>
              <a:t>】</a:t>
            </a:r>
            <a:r>
              <a:rPr lang="zh-CN" altLang="en-US" sz="1400" dirty="0">
                <a:latin typeface="Times New Roman" panose="02020603050405020304" pitchFamily="18" charset="0"/>
              </a:rPr>
              <a:t>，另一个是</a:t>
            </a:r>
            <a:r>
              <a:rPr lang="en-US" altLang="zh-CN" sz="1400" dirty="0">
                <a:latin typeface="Times New Roman" panose="02020603050405020304" pitchFamily="18" charset="0"/>
              </a:rPr>
              <a:t>【</a:t>
            </a:r>
            <a:r>
              <a:rPr lang="zh-CN" altLang="en-US" sz="1400" dirty="0">
                <a:latin typeface="Times New Roman" panose="02020603050405020304" pitchFamily="18" charset="0"/>
              </a:rPr>
              <a:t>增长率放缓</a:t>
            </a:r>
            <a:r>
              <a:rPr lang="en-US" altLang="zh-CN" sz="1400" dirty="0">
                <a:latin typeface="Times New Roman" panose="02020603050405020304" pitchFamily="18" charset="0"/>
              </a:rPr>
              <a:t>】</a:t>
            </a:r>
            <a:r>
              <a:rPr lang="zh-CN" altLang="en-US" sz="1400" dirty="0">
                <a:latin typeface="Times New Roman" panose="02020603050405020304" pitchFamily="18" charset="0"/>
              </a:rPr>
              <a:t>（得益于疫情</a:t>
            </a:r>
            <a:r>
              <a:rPr lang="en-US" altLang="zh-CN" sz="1400" dirty="0">
                <a:latin typeface="Times New Roman" panose="02020603050405020304" pitchFamily="18" charset="0"/>
              </a:rPr>
              <a:t>20</a:t>
            </a:r>
            <a:r>
              <a:rPr lang="zh-CN" altLang="en-US" sz="1400" dirty="0">
                <a:latin typeface="Times New Roman" panose="02020603050405020304" pitchFamily="18" charset="0"/>
              </a:rPr>
              <a:t>年又有所增长），</a:t>
            </a:r>
            <a:r>
              <a:rPr lang="en-US" altLang="zh-CN" sz="1400" dirty="0">
                <a:latin typeface="Times New Roman" panose="02020603050405020304" pitchFamily="18" charset="0"/>
              </a:rPr>
              <a:t>【18</a:t>
            </a:r>
            <a:r>
              <a:rPr lang="zh-CN" altLang="en-US" sz="1400" dirty="0">
                <a:latin typeface="Times New Roman" panose="02020603050405020304" pitchFamily="18" charset="0"/>
              </a:rPr>
              <a:t>年版号寒冬</a:t>
            </a:r>
            <a:r>
              <a:rPr lang="en-US" altLang="zh-CN" sz="1400" dirty="0">
                <a:latin typeface="Times New Roman" panose="02020603050405020304" pitchFamily="18" charset="0"/>
              </a:rPr>
              <a: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玩家不再无脑氪金，蛮荒吸金时代已经过去</a:t>
            </a:r>
            <a:endParaRPr lang="en-US" altLang="zh-CN" dirty="0"/>
          </a:p>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758476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366268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数据探索、预处理</a:t>
            </a:r>
          </a:p>
        </p:txBody>
      </p:sp>
      <p:sp>
        <p:nvSpPr>
          <p:cNvPr id="4" name="灯片编号占位符 3"/>
          <p:cNvSpPr>
            <a:spLocks noGrp="1"/>
          </p:cNvSpPr>
          <p:nvPr>
            <p:ph type="sldNum" sz="quarter" idx="10"/>
          </p:nvPr>
        </p:nvSpPr>
        <p:spPr/>
        <p:txBody>
          <a:bodyPr/>
          <a:lstStyle/>
          <a:p>
            <a:fld id="{418F03C3-53C1-4F10-8DAF-D1F318E96C6E}" type="slidenum">
              <a:rPr lang="zh-CN" altLang="en-US" smtClean="0"/>
              <a:t>6</a:t>
            </a:fld>
            <a:endParaRPr lang="zh-CN" altLang="en-US"/>
          </a:p>
        </p:txBody>
      </p:sp>
    </p:spTree>
    <p:extLst>
      <p:ext uri="{BB962C8B-B14F-4D97-AF65-F5344CB8AC3E}">
        <p14:creationId xmlns:p14="http://schemas.microsoft.com/office/powerpoint/2010/main" val="36757093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669057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847652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2018</a:t>
            </a:r>
            <a:r>
              <a:rPr lang="zh-CN" altLang="en-US" dirty="0"/>
              <a:t>年推出的</a:t>
            </a:r>
            <a:r>
              <a:rPr lang="en-US" altLang="zh-CN" b="0" i="0" dirty="0">
                <a:solidFill>
                  <a:srgbClr val="333333"/>
                </a:solidFill>
                <a:effectLst/>
                <a:latin typeface="arial" panose="020B0604020202020204" pitchFamily="34" charset="0"/>
              </a:rPr>
              <a:t>MMO</a:t>
            </a:r>
            <a:r>
              <a:rPr lang="zh-CN" altLang="en-US" b="0" i="0" dirty="0">
                <a:solidFill>
                  <a:srgbClr val="333333"/>
                </a:solidFill>
                <a:effectLst/>
                <a:latin typeface="arial" panose="020B0604020202020204" pitchFamily="34" charset="0"/>
              </a:rPr>
              <a:t>策略类模拟经营游戏</a:t>
            </a:r>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2330817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b="0" i="0" dirty="0">
                <a:solidFill>
                  <a:srgbClr val="23394D"/>
                </a:solidFill>
                <a:effectLst/>
                <a:latin typeface="-apple-system"/>
              </a:rPr>
              <a:t>该训练集的数据时间区间在</a:t>
            </a:r>
            <a:r>
              <a:rPr lang="en-US" altLang="zh-CN" b="0" i="0" dirty="0">
                <a:solidFill>
                  <a:srgbClr val="23394D"/>
                </a:solidFill>
                <a:effectLst/>
                <a:latin typeface="-apple-system"/>
              </a:rPr>
              <a:t>2018-1-26</a:t>
            </a:r>
            <a:r>
              <a:rPr lang="zh-CN" altLang="en-US" b="0" i="0" dirty="0">
                <a:solidFill>
                  <a:srgbClr val="23394D"/>
                </a:solidFill>
                <a:effectLst/>
                <a:latin typeface="-apple-system"/>
              </a:rPr>
              <a:t>到</a:t>
            </a:r>
            <a:r>
              <a:rPr lang="en-US" altLang="zh-CN" b="0" i="0" dirty="0">
                <a:solidFill>
                  <a:srgbClr val="23394D"/>
                </a:solidFill>
                <a:effectLst/>
                <a:latin typeface="-apple-system"/>
              </a:rPr>
              <a:t>2018-3-6</a:t>
            </a:r>
            <a:r>
              <a:rPr lang="zh-CN" altLang="en-US" b="0" i="0" dirty="0">
                <a:solidFill>
                  <a:srgbClr val="23394D"/>
                </a:solidFill>
                <a:effectLst/>
                <a:latin typeface="-apple-system"/>
              </a:rPr>
              <a:t>。我们发现在</a:t>
            </a:r>
            <a:r>
              <a:rPr lang="en-US" altLang="zh-CN" b="0" i="0" dirty="0">
                <a:solidFill>
                  <a:srgbClr val="23394D"/>
                </a:solidFill>
                <a:effectLst/>
                <a:latin typeface="-apple-system"/>
              </a:rPr>
              <a:t>2</a:t>
            </a:r>
            <a:r>
              <a:rPr lang="zh-CN" altLang="en-US" b="0" i="0" dirty="0">
                <a:solidFill>
                  <a:srgbClr val="23394D"/>
                </a:solidFill>
                <a:effectLst/>
                <a:latin typeface="-apple-system"/>
              </a:rPr>
              <a:t>月中旬的时候组册人数达到了一个巅峰，估计是游戏官方出了什么活动。通过翻查其官方微博可以发现在</a:t>
            </a:r>
            <a:r>
              <a:rPr lang="en-US" altLang="zh-CN" b="0" i="0" dirty="0">
                <a:solidFill>
                  <a:srgbClr val="23394D"/>
                </a:solidFill>
                <a:effectLst/>
                <a:latin typeface="-apple-system"/>
              </a:rPr>
              <a:t>2</a:t>
            </a:r>
            <a:r>
              <a:rPr lang="zh-CN" altLang="en-US" b="0" i="0" dirty="0">
                <a:solidFill>
                  <a:srgbClr val="23394D"/>
                </a:solidFill>
                <a:effectLst/>
                <a:latin typeface="-apple-system"/>
              </a:rPr>
              <a:t>月</a:t>
            </a:r>
            <a:r>
              <a:rPr lang="en-US" altLang="zh-CN" b="0" i="0" dirty="0">
                <a:solidFill>
                  <a:srgbClr val="23394D"/>
                </a:solidFill>
                <a:effectLst/>
                <a:latin typeface="-apple-system"/>
              </a:rPr>
              <a:t>12</a:t>
            </a:r>
            <a:r>
              <a:rPr lang="zh-CN" altLang="en-US" b="0" i="0" dirty="0">
                <a:solidFill>
                  <a:srgbClr val="23394D"/>
                </a:solidFill>
                <a:effectLst/>
                <a:latin typeface="-apple-system"/>
              </a:rPr>
              <a:t>号确实有一个春节的游戏活动，进行了一系列优惠的推广，吸引了大量新用户组册，然而在这次高峰之后，后续的新用户组册呈现了下降的趋势，可见这次的活动只带来了一个短暂的玩家数量组册的提升，可是后面活动一结束后组册人数就有了大幅度的下跌，可见这个活动其实没有给这个游戏带来更多的血液。</a:t>
            </a:r>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283705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316240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b="0" i="0" dirty="0">
                <a:solidFill>
                  <a:srgbClr val="23394D"/>
                </a:solidFill>
                <a:effectLst/>
                <a:latin typeface="-apple-system"/>
              </a:rPr>
              <a:t>我将每天游玩时间超过</a:t>
            </a:r>
            <a:r>
              <a:rPr lang="en-US" altLang="zh-CN" b="0" i="0" dirty="0">
                <a:solidFill>
                  <a:srgbClr val="23394D"/>
                </a:solidFill>
                <a:effectLst/>
                <a:latin typeface="-apple-system"/>
              </a:rPr>
              <a:t>30</a:t>
            </a:r>
            <a:r>
              <a:rPr lang="zh-CN" altLang="en-US" b="0" i="0" dirty="0">
                <a:solidFill>
                  <a:srgbClr val="23394D"/>
                </a:solidFill>
                <a:effectLst/>
                <a:latin typeface="-apple-system"/>
              </a:rPr>
              <a:t>分钟的定义为活跃玩家，下面是每日活跃玩家的注册折线图，整体趋势看每日活跃的玩家的组册数量是在逐渐下降的。可以看出这个游戏存在的一些问题，玩家在完成新手期的任务后，中期的成长和竞争阶段出现问题，导致需求人气下滑。</a:t>
            </a:r>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2929218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br>
              <a:rPr lang="en-US" altLang="zh-CN" dirty="0"/>
            </a:br>
            <a:r>
              <a:rPr lang="en-US" altLang="zh-CN" dirty="0"/>
              <a:t>&gt;30</a:t>
            </a:r>
            <a:r>
              <a:rPr lang="zh-CN" altLang="en-US" dirty="0"/>
              <a:t>分钟活跃度用户：</a:t>
            </a:r>
            <a:r>
              <a:rPr lang="en-US" altLang="zh-CN" dirty="0"/>
              <a:t>14</a:t>
            </a:r>
            <a:r>
              <a:rPr lang="zh-CN" altLang="en-US" dirty="0"/>
              <a:t>万</a:t>
            </a:r>
            <a:br>
              <a:rPr lang="zh-CN" altLang="en-US" dirty="0"/>
            </a:br>
            <a:br>
              <a:rPr lang="en-US" altLang="zh-CN" dirty="0"/>
            </a:br>
            <a:r>
              <a:rPr lang="zh-CN" altLang="en-US" dirty="0"/>
              <a:t>氪金用户：</a:t>
            </a:r>
            <a:r>
              <a:rPr lang="en-US" altLang="zh-CN" dirty="0"/>
              <a:t>4</a:t>
            </a:r>
            <a:r>
              <a:rPr lang="zh-CN" altLang="en-US" dirty="0"/>
              <a:t>万</a:t>
            </a:r>
            <a:br>
              <a:rPr lang="zh-CN" altLang="en-US" dirty="0"/>
            </a:br>
            <a:br>
              <a:rPr lang="zh-CN" altLang="en-US" dirty="0"/>
            </a:br>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42836995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b="0" i="0" dirty="0">
                <a:solidFill>
                  <a:srgbClr val="23394D"/>
                </a:solidFill>
                <a:effectLst/>
                <a:latin typeface="-apple-system"/>
              </a:rPr>
              <a:t>要塞等级是游戏中相当重要的一个等级，相当于游戏账号的等级，决定着盟友帮助次数和行军队列上限。从图可知有大量的玩家集中在六级以下，低等级的玩家巨大。从我的实际游戏体验来看，花不到半个小时，不肝不氪，只需按照所谓的引导一通乱点，就可以轻松达到六级，所有说有着相当大部分的玩家应该和我一样只是瞎点一通，就放弃了这个游戏。这个结果很大部分的原因还是在于他的新手引导系统有着很大的问题。首先这款游戏的元素就多到爆炸，但他却不是一步一步开通的一个探索过程，而是一股脑的在一开始就全部开放，并且没有很好的介绍各种资源和道具的用途。新手期还赠送了一堆的加速道具，让你在升级建筑时不需要等待，这也导致了新手能快速升到</a:t>
            </a:r>
            <a:r>
              <a:rPr lang="en-US" altLang="zh-CN" b="0" i="0" dirty="0">
                <a:solidFill>
                  <a:srgbClr val="23394D"/>
                </a:solidFill>
                <a:effectLst/>
                <a:latin typeface="-apple-system"/>
              </a:rPr>
              <a:t>6</a:t>
            </a:r>
            <a:r>
              <a:rPr lang="zh-CN" altLang="en-US" b="0" i="0" dirty="0">
                <a:solidFill>
                  <a:srgbClr val="23394D"/>
                </a:solidFill>
                <a:effectLst/>
                <a:latin typeface="-apple-system"/>
              </a:rPr>
              <a:t>级。整体的游戏就给人感觉他想要玩家通过一个快速的升级，引导玩家进行道具加速券的购买，减少升级所带来的时间，可是糟糕的引导导致玩家在稀里糊涂中就升级成功，却不知道升级这些东西的意义何在，导致了倦怠而退出游戏。因此在新手引导方面应该多花时间，一小部分的开放建筑和道具元素，详细的介绍每个建筑资源的用途和影响，最好可以设计一个剧情帮助玩家快速理解各个游戏要素的作用。</a:t>
            </a:r>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582735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zh-CN" altLang="en-US" b="0" i="0" dirty="0">
                <a:solidFill>
                  <a:srgbClr val="23394D"/>
                </a:solidFill>
                <a:effectLst/>
                <a:latin typeface="-apple-system"/>
              </a:rPr>
              <a:t>从各个玩家的平均付费和要塞等级的关系上看，玩家在十一级后才会开始付费，并且付费金额上升明显，尤其是十四级之后斜率较大。二十级之后出现很大的波动，经过观察发现是样本量太少（</a:t>
            </a:r>
            <a:r>
              <a:rPr lang="en-US" altLang="zh-CN" b="0" i="0" dirty="0">
                <a:solidFill>
                  <a:srgbClr val="23394D"/>
                </a:solidFill>
                <a:effectLst/>
                <a:latin typeface="-apple-system"/>
              </a:rPr>
              <a:t>21</a:t>
            </a:r>
            <a:r>
              <a:rPr lang="zh-CN" altLang="en-US" b="0" i="0" dirty="0">
                <a:solidFill>
                  <a:srgbClr val="23394D"/>
                </a:solidFill>
                <a:effectLst/>
                <a:latin typeface="-apple-system"/>
              </a:rPr>
              <a:t>级</a:t>
            </a:r>
            <a:r>
              <a:rPr lang="en-US" altLang="zh-CN" b="0" i="0" dirty="0">
                <a:solidFill>
                  <a:srgbClr val="23394D"/>
                </a:solidFill>
                <a:effectLst/>
                <a:latin typeface="-apple-system"/>
              </a:rPr>
              <a:t>12</a:t>
            </a:r>
            <a:r>
              <a:rPr lang="zh-CN" altLang="en-US" b="0" i="0" dirty="0">
                <a:solidFill>
                  <a:srgbClr val="23394D"/>
                </a:solidFill>
                <a:effectLst/>
                <a:latin typeface="-apple-system"/>
              </a:rPr>
              <a:t>人，</a:t>
            </a:r>
            <a:r>
              <a:rPr lang="en-US" altLang="zh-CN" b="0" i="0" dirty="0">
                <a:solidFill>
                  <a:srgbClr val="23394D"/>
                </a:solidFill>
                <a:effectLst/>
                <a:latin typeface="-apple-system"/>
              </a:rPr>
              <a:t>22</a:t>
            </a:r>
            <a:r>
              <a:rPr lang="zh-CN" altLang="en-US" b="0" i="0" dirty="0">
                <a:solidFill>
                  <a:srgbClr val="23394D"/>
                </a:solidFill>
                <a:effectLst/>
                <a:latin typeface="-apple-system"/>
              </a:rPr>
              <a:t>级</a:t>
            </a:r>
            <a:r>
              <a:rPr lang="en-US" altLang="zh-CN" b="0" i="0" dirty="0">
                <a:solidFill>
                  <a:srgbClr val="23394D"/>
                </a:solidFill>
                <a:effectLst/>
                <a:latin typeface="-apple-system"/>
              </a:rPr>
              <a:t>2</a:t>
            </a:r>
            <a:r>
              <a:rPr lang="zh-CN" altLang="en-US" b="0" i="0" dirty="0">
                <a:solidFill>
                  <a:srgbClr val="23394D"/>
                </a:solidFill>
                <a:effectLst/>
                <a:latin typeface="-apple-system"/>
              </a:rPr>
              <a:t>人，</a:t>
            </a:r>
            <a:r>
              <a:rPr lang="en-US" altLang="zh-CN" b="0" i="0" dirty="0">
                <a:solidFill>
                  <a:srgbClr val="23394D"/>
                </a:solidFill>
                <a:effectLst/>
                <a:latin typeface="-apple-system"/>
              </a:rPr>
              <a:t>23</a:t>
            </a:r>
            <a:r>
              <a:rPr lang="zh-CN" altLang="en-US" b="0" i="0" dirty="0">
                <a:solidFill>
                  <a:srgbClr val="23394D"/>
                </a:solidFill>
                <a:effectLst/>
                <a:latin typeface="-apple-system"/>
              </a:rPr>
              <a:t>级</a:t>
            </a:r>
            <a:r>
              <a:rPr lang="en-US" altLang="zh-CN" b="0" i="0" dirty="0">
                <a:solidFill>
                  <a:srgbClr val="23394D"/>
                </a:solidFill>
                <a:effectLst/>
                <a:latin typeface="-apple-system"/>
              </a:rPr>
              <a:t>1</a:t>
            </a:r>
            <a:r>
              <a:rPr lang="zh-CN" altLang="en-US" b="0" i="0" dirty="0">
                <a:solidFill>
                  <a:srgbClr val="23394D"/>
                </a:solidFill>
                <a:effectLst/>
                <a:latin typeface="-apple-system"/>
              </a:rPr>
              <a:t>人）导致。总结来说，玩家的要塞等级达到</a:t>
            </a:r>
            <a:r>
              <a:rPr lang="en-US" altLang="zh-CN" b="0" i="0" dirty="0">
                <a:solidFill>
                  <a:srgbClr val="23394D"/>
                </a:solidFill>
                <a:effectLst/>
                <a:latin typeface="-apple-system"/>
              </a:rPr>
              <a:t>8</a:t>
            </a:r>
            <a:r>
              <a:rPr lang="zh-CN" altLang="en-US" b="0" i="0" dirty="0">
                <a:solidFill>
                  <a:srgbClr val="23394D"/>
                </a:solidFill>
                <a:effectLst/>
                <a:latin typeface="-apple-system"/>
              </a:rPr>
              <a:t>级以上才有付费意愿，越高等级的付费金额越高。</a:t>
            </a:r>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20896696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400" dirty="0"/>
              <a:t>活跃用户</a:t>
            </a:r>
            <a:r>
              <a:rPr lang="en-US" altLang="zh-CN" sz="1400" dirty="0"/>
              <a:t>14</a:t>
            </a:r>
            <a:r>
              <a:rPr lang="zh-CN" altLang="en-US" sz="1400" dirty="0"/>
              <a:t>万人</a:t>
            </a:r>
            <a:endParaRPr lang="en-US" altLang="zh-CN" sz="1400"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7244332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模型构建、模型评价、数据可视化</a:t>
            </a:r>
          </a:p>
        </p:txBody>
      </p:sp>
      <p:sp>
        <p:nvSpPr>
          <p:cNvPr id="4" name="灯片编号占位符 3"/>
          <p:cNvSpPr>
            <a:spLocks noGrp="1"/>
          </p:cNvSpPr>
          <p:nvPr>
            <p:ph type="sldNum" sz="quarter" idx="10"/>
          </p:nvPr>
        </p:nvSpPr>
        <p:spPr/>
        <p:txBody>
          <a:bodyPr/>
          <a:lstStyle/>
          <a:p>
            <a:fld id="{418F03C3-53C1-4F10-8DAF-D1F318E96C6E}" type="slidenum">
              <a:rPr lang="zh-CN" altLang="en-US" smtClean="0"/>
              <a:t>17</a:t>
            </a:fld>
            <a:endParaRPr lang="zh-CN" altLang="en-US"/>
          </a:p>
        </p:txBody>
      </p:sp>
    </p:spTree>
    <p:extLst>
      <p:ext uri="{BB962C8B-B14F-4D97-AF65-F5344CB8AC3E}">
        <p14:creationId xmlns:p14="http://schemas.microsoft.com/office/powerpoint/2010/main" val="3071136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ltLang="zh-CN" sz="1400"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1776343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sz="2400" kern="1200" dirty="0">
                <a:solidFill>
                  <a:schemeClr val="tx1"/>
                </a:solidFill>
                <a:latin typeface="Times New Roman" panose="02020603050405020304" pitchFamily="18" charset="0"/>
                <a:ea typeface="宋体" pitchFamily="2" charset="-122"/>
                <a:cs typeface="+mn-cs"/>
              </a:rPr>
              <a:t>Precision(</a:t>
            </a:r>
            <a:r>
              <a:rPr lang="zh-CN" altLang="en-US" sz="2400" kern="1200" dirty="0">
                <a:solidFill>
                  <a:schemeClr val="tx1"/>
                </a:solidFill>
                <a:latin typeface="Times New Roman" panose="02020603050405020304" pitchFamily="18" charset="0"/>
                <a:ea typeface="宋体" pitchFamily="2" charset="-122"/>
                <a:cs typeface="+mn-cs"/>
              </a:rPr>
              <a:t>查准率</a:t>
            </a:r>
            <a:r>
              <a:rPr lang="en-US" altLang="zh-CN" sz="2400" kern="1200" dirty="0">
                <a:solidFill>
                  <a:schemeClr val="tx1"/>
                </a:solidFill>
                <a:latin typeface="Times New Roman" panose="02020603050405020304" pitchFamily="18" charset="0"/>
                <a:ea typeface="宋体" pitchFamily="2" charset="-122"/>
                <a:cs typeface="+mn-cs"/>
              </a:rPr>
              <a:t>) </a:t>
            </a:r>
            <a:r>
              <a:rPr lang="zh-CN" altLang="en-US" sz="2400" kern="1200" dirty="0">
                <a:solidFill>
                  <a:schemeClr val="tx1"/>
                </a:solidFill>
                <a:latin typeface="Times New Roman" panose="02020603050405020304" pitchFamily="18" charset="0"/>
                <a:ea typeface="宋体" pitchFamily="2" charset="-122"/>
                <a:cs typeface="+mn-cs"/>
              </a:rPr>
              <a:t>、</a:t>
            </a:r>
            <a:r>
              <a:rPr lang="en-US" altLang="zh-CN" sz="2400" kern="1200" dirty="0">
                <a:solidFill>
                  <a:schemeClr val="tx1"/>
                </a:solidFill>
                <a:latin typeface="Times New Roman" panose="02020603050405020304" pitchFamily="18" charset="0"/>
                <a:ea typeface="宋体" pitchFamily="2" charset="-122"/>
                <a:cs typeface="+mn-cs"/>
              </a:rPr>
              <a:t>Recall(</a:t>
            </a:r>
            <a:r>
              <a:rPr lang="zh-CN" altLang="en-US" sz="2400" kern="1200" dirty="0">
                <a:solidFill>
                  <a:schemeClr val="tx1"/>
                </a:solidFill>
                <a:latin typeface="Times New Roman" panose="02020603050405020304" pitchFamily="18" charset="0"/>
                <a:ea typeface="宋体" pitchFamily="2" charset="-122"/>
                <a:cs typeface="+mn-cs"/>
              </a:rPr>
              <a:t>查全率</a:t>
            </a:r>
            <a:r>
              <a:rPr lang="en-US" altLang="zh-CN" sz="2400" kern="1200" dirty="0">
                <a:solidFill>
                  <a:schemeClr val="tx1"/>
                </a:solidFill>
                <a:latin typeface="Times New Roman" panose="02020603050405020304" pitchFamily="18" charset="0"/>
                <a:ea typeface="宋体" pitchFamily="2" charset="-122"/>
                <a:cs typeface="+mn-cs"/>
              </a:rPr>
              <a:t>)</a:t>
            </a:r>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25044777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ltLang="zh-CN" sz="1400"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9703699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8F03C3-53C1-4F10-8DAF-D1F318E96C6E}" type="slidenum">
              <a:rPr lang="zh-CN" altLang="en-US" smtClean="0"/>
              <a:t>21</a:t>
            </a:fld>
            <a:endParaRPr lang="zh-CN" altLang="en-US"/>
          </a:p>
        </p:txBody>
      </p:sp>
    </p:spTree>
    <p:extLst>
      <p:ext uri="{BB962C8B-B14F-4D97-AF65-F5344CB8AC3E}">
        <p14:creationId xmlns:p14="http://schemas.microsoft.com/office/powerpoint/2010/main" val="2336123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r>
              <a:rPr lang="en-US" dirty="0"/>
              <a:t>My First Template</a:t>
            </a:r>
          </a:p>
        </p:txBody>
      </p:sp>
    </p:spTree>
    <p:extLst>
      <p:ext uri="{BB962C8B-B14F-4D97-AF65-F5344CB8AC3E}">
        <p14:creationId xmlns:p14="http://schemas.microsoft.com/office/powerpoint/2010/main" val="33921968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23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84039" y="6703596"/>
            <a:ext cx="2893219" cy="386187"/>
          </a:xfrm>
          <a:prstGeom prst="rect">
            <a:avLst/>
          </a:prstGeom>
        </p:spPr>
        <p:txBody>
          <a:bodyPr/>
          <a:lstStyle/>
          <a:p>
            <a:fld id="{1804BCC0-6BB8-41C6-98EF-FFA227A029A3}" type="datetime1">
              <a:rPr lang="zh-CN" altLang="en-US" smtClean="0"/>
              <a:t>2021/6/8</a:t>
            </a:fld>
            <a:endParaRPr lang="zh-CN" altLang="en-US"/>
          </a:p>
        </p:txBody>
      </p:sp>
      <p:sp>
        <p:nvSpPr>
          <p:cNvPr id="3" name="页脚占位符 2"/>
          <p:cNvSpPr>
            <a:spLocks noGrp="1"/>
          </p:cNvSpPr>
          <p:nvPr>
            <p:ph type="ftr" sz="quarter" idx="11"/>
          </p:nvPr>
        </p:nvSpPr>
        <p:spPr>
          <a:xfrm>
            <a:off x="4259461" y="6703596"/>
            <a:ext cx="4339828" cy="386187"/>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9081492" y="6703596"/>
            <a:ext cx="2893219" cy="386187"/>
          </a:xfrm>
          <a:prstGeom prst="rect">
            <a:avLst/>
          </a:prstGeom>
        </p:spPr>
        <p:txBody>
          <a:bodyPr/>
          <a:lstStyle/>
          <a:p>
            <a:fld id="{37AAA611-6692-4583-86AB-5AB9B972BD4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3.emf"/><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4.jpe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8.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4.xml"/><Relationship Id="rId1" Type="http://schemas.openxmlformats.org/officeDocument/2006/relationships/tags" Target="../tags/tag2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1.xml"/><Relationship Id="rId7" Type="http://schemas.openxmlformats.org/officeDocument/2006/relationships/image" Target="../media/image14.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19.xml"/><Relationship Id="rId9"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59"/>
          <p:cNvSpPr>
            <a:spLocks noChangeArrowheads="1"/>
          </p:cNvSpPr>
          <p:nvPr/>
        </p:nvSpPr>
        <p:spPr bwMode="auto">
          <a:xfrm>
            <a:off x="679450" y="1435768"/>
            <a:ext cx="1144587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8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8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8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zh-CN" altLang="en-US" sz="4800" b="1" cap="all" dirty="0">
                <a:solidFill>
                  <a:schemeClr val="accent1"/>
                </a:solidFill>
                <a:cs typeface="Arial" panose="02080604020202020204" pitchFamily="34" charset="0"/>
              </a:rPr>
              <a:t>手机游戏用户付费情况分析</a:t>
            </a:r>
            <a:endParaRPr lang="zh-CN" altLang="en-US" sz="1600" cap="all" dirty="0">
              <a:solidFill>
                <a:schemeClr val="accent1"/>
              </a:solidFill>
              <a:cs typeface="Arial" panose="02080604020202020204" pitchFamily="34" charset="0"/>
            </a:endParaRPr>
          </a:p>
        </p:txBody>
      </p:sp>
      <p:sp>
        <p:nvSpPr>
          <p:cNvPr id="13" name="矩形 259"/>
          <p:cNvSpPr>
            <a:spLocks noChangeArrowheads="1"/>
          </p:cNvSpPr>
          <p:nvPr/>
        </p:nvSpPr>
        <p:spPr bwMode="auto">
          <a:xfrm>
            <a:off x="0" y="3866531"/>
            <a:ext cx="12858044" cy="325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8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8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8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lnSpc>
                <a:spcPct val="150000"/>
              </a:lnSpc>
              <a:buNone/>
            </a:pPr>
            <a:r>
              <a:rPr lang="en-US" altLang="zh-CN" sz="1600" dirty="0">
                <a:solidFill>
                  <a:schemeClr val="accent1"/>
                </a:solidFill>
                <a:latin typeface="+mn-ea"/>
                <a:ea typeface="+mn-ea"/>
                <a:cs typeface="Arial" panose="02080604020202020204" pitchFamily="34" charset="0"/>
              </a:rPr>
              <a:t>          </a:t>
            </a:r>
            <a:r>
              <a:rPr lang="zh-CN" altLang="en-US" sz="1600" dirty="0">
                <a:solidFill>
                  <a:schemeClr val="accent1"/>
                </a:solidFill>
                <a:latin typeface="+mn-ea"/>
                <a:ea typeface="+mn-ea"/>
                <a:cs typeface="Arial" panose="02080604020202020204" pitchFamily="34" charset="0"/>
              </a:rPr>
              <a:t>组员：钱韦伟  杨攀原</a:t>
            </a:r>
            <a:endParaRPr lang="en-US" altLang="zh-CN" sz="1600" dirty="0">
              <a:solidFill>
                <a:schemeClr val="accent1"/>
              </a:solidFill>
              <a:latin typeface="+mn-ea"/>
              <a:ea typeface="+mn-ea"/>
              <a:cs typeface="Arial" panose="02080604020202020204" pitchFamily="34" charset="0"/>
            </a:endParaRPr>
          </a:p>
        </p:txBody>
      </p:sp>
      <p:sp>
        <p:nvSpPr>
          <p:cNvPr id="9"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10"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3" name="灯片编号占位符 2">
            <a:extLst>
              <a:ext uri="{FF2B5EF4-FFF2-40B4-BE49-F238E27FC236}">
                <a16:creationId xmlns:a16="http://schemas.microsoft.com/office/drawing/2014/main" id="{73F4671E-67ED-4A89-AEE0-2452CCAD08EA}"/>
              </a:ext>
            </a:extLst>
          </p:cNvPr>
          <p:cNvSpPr>
            <a:spLocks noGrp="1"/>
          </p:cNvSpPr>
          <p:nvPr>
            <p:ph type="sldNum" sz="quarter" idx="12"/>
          </p:nvPr>
        </p:nvSpPr>
        <p:spPr/>
        <p:txBody>
          <a:bodyPr/>
          <a:lstStyle/>
          <a:p>
            <a:fld id="{37AAA611-6692-4583-86AB-5AB9B972BD46}" type="slidenum">
              <a:rPr lang="zh-CN" altLang="en-US" smtClean="0"/>
              <a:t>1</a:t>
            </a:fld>
            <a:endParaRPr lang="zh-CN" altLang="en-US"/>
          </a:p>
        </p:txBody>
      </p:sp>
      <p:sp>
        <p:nvSpPr>
          <p:cNvPr id="5" name="日期占位符 4">
            <a:extLst>
              <a:ext uri="{FF2B5EF4-FFF2-40B4-BE49-F238E27FC236}">
                <a16:creationId xmlns:a16="http://schemas.microsoft.com/office/drawing/2014/main" id="{BDD28EAE-4E4B-45BF-83C0-B911B18F9CF9}"/>
              </a:ext>
            </a:extLst>
          </p:cNvPr>
          <p:cNvSpPr>
            <a:spLocks noGrp="1"/>
          </p:cNvSpPr>
          <p:nvPr>
            <p:ph type="dt" sz="half" idx="10"/>
          </p:nvPr>
        </p:nvSpPr>
        <p:spPr/>
        <p:txBody>
          <a:bodyPr/>
          <a:lstStyle/>
          <a:p>
            <a:fld id="{B961CB2A-500B-4586-8D98-52CA31DA2A54}" type="datetime1">
              <a:rPr lang="zh-CN" altLang="en-US" smtClean="0"/>
              <a:t>2021/6/8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6573391" y="1152525"/>
            <a:ext cx="4598595" cy="564898"/>
          </a:xfrm>
          <a:prstGeom prst="rect">
            <a:avLst/>
          </a:prstGeom>
          <a:effectLst/>
        </p:spPr>
        <p:txBody>
          <a:bodyPr wrap="square">
            <a:spAutoFit/>
          </a:bodyPr>
          <a:lstStyle/>
          <a:p>
            <a:pPr algn="l">
              <a:lnSpc>
                <a:spcPct val="120000"/>
              </a:lnSpc>
            </a:pPr>
            <a:r>
              <a:rPr lang="en-US" altLang="zh-CN" sz="2800" dirty="0">
                <a:solidFill>
                  <a:schemeClr val="accent1"/>
                </a:solidFill>
                <a:latin typeface="Arial" panose="02080604020202020204" pitchFamily="34" charset="0"/>
                <a:ea typeface="微软雅黑" panose="020B0503020204020204" pitchFamily="34" charset="-122"/>
                <a:sym typeface="Arial" panose="02080604020202020204" pitchFamily="34" charset="0"/>
              </a:rPr>
              <a:t>01  </a:t>
            </a:r>
            <a:r>
              <a:rPr lang="zh-CN" altLang="en-US" sz="2800" dirty="0">
                <a:solidFill>
                  <a:schemeClr val="accent1"/>
                </a:solidFill>
                <a:latin typeface="Arial" panose="02080604020202020204" pitchFamily="34" charset="0"/>
                <a:ea typeface="微软雅黑" panose="020B0503020204020204" pitchFamily="34" charset="-122"/>
                <a:sym typeface="Arial" panose="02080604020202020204" pitchFamily="34" charset="0"/>
              </a:rPr>
              <a:t>案例背景与目标</a:t>
            </a:r>
            <a:endParaRPr lang="en-US" sz="2800" dirty="0">
              <a:solidFill>
                <a:schemeClr val="accent1"/>
              </a:solidFill>
              <a:latin typeface="Arial" panose="02080604020202020204" pitchFamily="34" charset="0"/>
              <a:ea typeface="微软雅黑" panose="020B0503020204020204" pitchFamily="34" charset="-122"/>
              <a:sym typeface="Arial" panose="02080604020202020204" pitchFamily="34" charset="0"/>
            </a:endParaRPr>
          </a:p>
        </p:txBody>
      </p:sp>
      <p:sp>
        <p:nvSpPr>
          <p:cNvPr id="20" name="矩形 19"/>
          <p:cNvSpPr/>
          <p:nvPr/>
        </p:nvSpPr>
        <p:spPr>
          <a:xfrm>
            <a:off x="6563472" y="1170904"/>
            <a:ext cx="555041" cy="5286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80604020202020204" pitchFamily="34" charset="0"/>
              <a:ea typeface="微软雅黑" panose="020B0503020204020204" pitchFamily="34" charset="-122"/>
              <a:sym typeface="Arial" panose="02080604020202020204" pitchFamily="34" charset="0"/>
            </a:endParaRPr>
          </a:p>
        </p:txBody>
      </p:sp>
      <p:sp>
        <p:nvSpPr>
          <p:cNvPr id="21" name="矩形 20"/>
          <p:cNvSpPr/>
          <p:nvPr/>
        </p:nvSpPr>
        <p:spPr>
          <a:xfrm>
            <a:off x="6574085" y="2105273"/>
            <a:ext cx="4092787" cy="564898"/>
          </a:xfrm>
          <a:prstGeom prst="rect">
            <a:avLst/>
          </a:prstGeom>
          <a:effectLst/>
        </p:spPr>
        <p:txBody>
          <a:bodyPr wrap="none">
            <a:spAutoFit/>
          </a:bodyPr>
          <a:lstStyle/>
          <a:p>
            <a:pPr>
              <a:lnSpc>
                <a:spcPct val="120000"/>
              </a:lnSpc>
            </a:pPr>
            <a:r>
              <a:rPr lang="en-US" altLang="zh-CN" sz="2800" dirty="0">
                <a:solidFill>
                  <a:schemeClr val="accent1"/>
                </a:solidFill>
                <a:latin typeface="Arial" panose="02080604020202020204" pitchFamily="34" charset="0"/>
                <a:ea typeface="微软雅黑" panose="020B0503020204020204" pitchFamily="34" charset="-122"/>
                <a:sym typeface="Arial" panose="02080604020202020204" pitchFamily="34" charset="0"/>
              </a:rPr>
              <a:t>02  </a:t>
            </a:r>
            <a:r>
              <a:rPr lang="zh-CN" altLang="en-US" sz="28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r>
              <a:rPr lang="en-US" sz="2800" dirty="0">
                <a:solidFill>
                  <a:schemeClr val="accent1"/>
                </a:solidFill>
                <a:latin typeface="Arial" panose="02080604020202020204" pitchFamily="34" charset="0"/>
                <a:ea typeface="微软雅黑" panose="020B0503020204020204" pitchFamily="34" charset="-122"/>
                <a:sym typeface="Arial" panose="02080604020202020204" pitchFamily="34" charset="0"/>
              </a:rPr>
              <a:t>        </a:t>
            </a:r>
          </a:p>
        </p:txBody>
      </p:sp>
      <p:sp>
        <p:nvSpPr>
          <p:cNvPr id="33" name="矩形 32"/>
          <p:cNvSpPr/>
          <p:nvPr/>
        </p:nvSpPr>
        <p:spPr>
          <a:xfrm>
            <a:off x="6563472" y="2123404"/>
            <a:ext cx="555041" cy="5286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80604020202020204" pitchFamily="34" charset="0"/>
              <a:ea typeface="微软雅黑" panose="020B0503020204020204" pitchFamily="34" charset="-122"/>
              <a:sym typeface="Arial" panose="02080604020202020204" pitchFamily="34" charset="0"/>
            </a:endParaRPr>
          </a:p>
        </p:txBody>
      </p:sp>
      <p:sp>
        <p:nvSpPr>
          <p:cNvPr id="34" name="矩形 33"/>
          <p:cNvSpPr/>
          <p:nvPr/>
        </p:nvSpPr>
        <p:spPr>
          <a:xfrm>
            <a:off x="6563290" y="3073648"/>
            <a:ext cx="3297698" cy="564898"/>
          </a:xfrm>
          <a:prstGeom prst="rect">
            <a:avLst/>
          </a:prstGeom>
          <a:effectLst/>
        </p:spPr>
        <p:txBody>
          <a:bodyPr wrap="none">
            <a:spAutoFit/>
          </a:bodyPr>
          <a:lstStyle/>
          <a:p>
            <a:pPr algn="l">
              <a:lnSpc>
                <a:spcPct val="120000"/>
              </a:lnSpc>
            </a:pPr>
            <a:r>
              <a:rPr lang="en-US" altLang="zh-CN" sz="2800" dirty="0">
                <a:solidFill>
                  <a:schemeClr val="accent1"/>
                </a:solidFill>
                <a:latin typeface="Arial" panose="02080604020202020204" pitchFamily="34" charset="0"/>
                <a:ea typeface="微软雅黑" panose="020B0503020204020204" pitchFamily="34" charset="-122"/>
                <a:sym typeface="Arial" panose="02080604020202020204" pitchFamily="34" charset="0"/>
              </a:rPr>
              <a:t>03  </a:t>
            </a:r>
            <a:r>
              <a:rPr lang="zh-CN" altLang="en-US" sz="2800" dirty="0">
                <a:solidFill>
                  <a:schemeClr val="accent1"/>
                </a:solidFill>
                <a:latin typeface="Arial" panose="02080604020202020204" pitchFamily="34" charset="0"/>
                <a:ea typeface="微软雅黑" panose="020B0503020204020204" pitchFamily="34" charset="-122"/>
                <a:sym typeface="Arial" panose="02080604020202020204" pitchFamily="34" charset="0"/>
              </a:rPr>
              <a:t>模型构建与应用</a:t>
            </a:r>
            <a:endParaRPr lang="en-US" altLang="en-US" sz="2800" dirty="0">
              <a:solidFill>
                <a:schemeClr val="accent1"/>
              </a:solidFill>
              <a:latin typeface="Arial" panose="02080604020202020204" pitchFamily="34" charset="0"/>
              <a:ea typeface="微软雅黑" panose="020B0503020204020204" pitchFamily="34" charset="-122"/>
              <a:sym typeface="Arial" panose="02080604020202020204" pitchFamily="34" charset="0"/>
            </a:endParaRPr>
          </a:p>
        </p:txBody>
      </p:sp>
      <p:sp>
        <p:nvSpPr>
          <p:cNvPr id="35" name="矩形 34"/>
          <p:cNvSpPr/>
          <p:nvPr/>
        </p:nvSpPr>
        <p:spPr>
          <a:xfrm>
            <a:off x="6563472" y="3075904"/>
            <a:ext cx="555041" cy="5286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80604020202020204" pitchFamily="34" charset="0"/>
              <a:ea typeface="微软雅黑" panose="020B0503020204020204" pitchFamily="34" charset="-122"/>
              <a:sym typeface="Arial" panose="02080604020202020204" pitchFamily="34" charset="0"/>
            </a:endParaRPr>
          </a:p>
        </p:txBody>
      </p:sp>
      <p:sp>
        <p:nvSpPr>
          <p:cNvPr id="36" name="矩形 35"/>
          <p:cNvSpPr/>
          <p:nvPr/>
        </p:nvSpPr>
        <p:spPr>
          <a:xfrm>
            <a:off x="6563290" y="4066788"/>
            <a:ext cx="1502334" cy="564898"/>
          </a:xfrm>
          <a:prstGeom prst="rect">
            <a:avLst/>
          </a:prstGeom>
          <a:effectLst/>
        </p:spPr>
        <p:txBody>
          <a:bodyPr wrap="none">
            <a:spAutoFit/>
          </a:bodyPr>
          <a:lstStyle/>
          <a:p>
            <a:pPr algn="l">
              <a:lnSpc>
                <a:spcPct val="120000"/>
              </a:lnSpc>
            </a:pPr>
            <a:r>
              <a:rPr lang="en-US" altLang="zh-CN" sz="2800" dirty="0">
                <a:solidFill>
                  <a:schemeClr val="accent1"/>
                </a:solidFill>
                <a:latin typeface="Arial" panose="02080604020202020204" pitchFamily="34" charset="0"/>
                <a:ea typeface="微软雅黑" panose="020B0503020204020204" pitchFamily="34" charset="-122"/>
                <a:sym typeface="Arial" panose="02080604020202020204" pitchFamily="34" charset="0"/>
              </a:rPr>
              <a:t>04  </a:t>
            </a:r>
            <a:r>
              <a:rPr lang="en-US" sz="2800" dirty="0" err="1">
                <a:solidFill>
                  <a:schemeClr val="accent1"/>
                </a:solidFill>
                <a:latin typeface="Arial" panose="02080604020202020204" pitchFamily="34" charset="0"/>
                <a:ea typeface="微软雅黑" panose="020B0503020204020204" pitchFamily="34" charset="-122"/>
                <a:sym typeface="Arial" panose="02080604020202020204" pitchFamily="34" charset="0"/>
              </a:rPr>
              <a:t>总结</a:t>
            </a:r>
            <a:endParaRPr lang="en-US" sz="2800" dirty="0">
              <a:solidFill>
                <a:schemeClr val="accent1"/>
              </a:solidFill>
              <a:latin typeface="Arial" panose="02080604020202020204" pitchFamily="34" charset="0"/>
              <a:ea typeface="微软雅黑" panose="020B0503020204020204" pitchFamily="34" charset="-122"/>
              <a:sym typeface="Arial" panose="02080604020202020204" pitchFamily="34" charset="0"/>
            </a:endParaRPr>
          </a:p>
        </p:txBody>
      </p:sp>
      <p:sp>
        <p:nvSpPr>
          <p:cNvPr id="37" name="矩形 36"/>
          <p:cNvSpPr/>
          <p:nvPr/>
        </p:nvSpPr>
        <p:spPr>
          <a:xfrm>
            <a:off x="6563472" y="4066504"/>
            <a:ext cx="555041" cy="5286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latin typeface="Arial" panose="02080604020202020204" pitchFamily="34" charset="0"/>
              <a:ea typeface="微软雅黑" panose="020B0503020204020204" pitchFamily="34" charset="-122"/>
              <a:sym typeface="Arial" panose="02080604020202020204" pitchFamily="34" charset="0"/>
            </a:endParaRPr>
          </a:p>
        </p:txBody>
      </p:sp>
      <p:sp>
        <p:nvSpPr>
          <p:cNvPr id="38" name="TextBox 148"/>
          <p:cNvSpPr txBox="1"/>
          <p:nvPr/>
        </p:nvSpPr>
        <p:spPr>
          <a:xfrm>
            <a:off x="2324919" y="1867451"/>
            <a:ext cx="2476020" cy="1206099"/>
          </a:xfrm>
          <a:prstGeom prst="rect">
            <a:avLst/>
          </a:prstGeom>
          <a:noFill/>
        </p:spPr>
        <p:txBody>
          <a:bodyPr vert="horz" wrap="square" rtlCol="0">
            <a:spAutoFit/>
          </a:bodyPr>
          <a:lstStyle/>
          <a:p>
            <a:pPr>
              <a:lnSpc>
                <a:spcPct val="120000"/>
              </a:lnSpc>
            </a:pPr>
            <a:r>
              <a:rPr lang="zh-CN" altLang="en-US" sz="6600" b="1" cap="all" spc="300" dirty="0">
                <a:solidFill>
                  <a:schemeClr val="accent1"/>
                </a:solidFill>
                <a:latin typeface="Arial" panose="02080604020202020204" pitchFamily="34" charset="0"/>
                <a:ea typeface="微软雅黑" panose="020B0503020204020204" pitchFamily="34" charset="-122"/>
                <a:cs typeface="+mn-ea"/>
                <a:sym typeface="Arial" panose="02080604020202020204" pitchFamily="34" charset="0"/>
              </a:rPr>
              <a:t>目录</a:t>
            </a:r>
            <a:endParaRPr lang="en-US" altLang="zh-CN" sz="6600" b="1" cap="all" spc="300" dirty="0">
              <a:solidFill>
                <a:schemeClr val="accent1"/>
              </a:solidFill>
              <a:latin typeface="Arial" panose="02080604020202020204" pitchFamily="34" charset="0"/>
              <a:ea typeface="微软雅黑" panose="020B0503020204020204" pitchFamily="34" charset="-122"/>
              <a:cs typeface="+mn-ea"/>
              <a:sym typeface="Arial" panose="02080604020202020204" pitchFamily="34" charset="0"/>
            </a:endParaRPr>
          </a:p>
        </p:txBody>
      </p:sp>
      <p:sp>
        <p:nvSpPr>
          <p:cNvPr id="15" name="TextBox 148"/>
          <p:cNvSpPr txBox="1"/>
          <p:nvPr/>
        </p:nvSpPr>
        <p:spPr>
          <a:xfrm>
            <a:off x="2324735" y="2935605"/>
            <a:ext cx="3787775" cy="903605"/>
          </a:xfrm>
          <a:prstGeom prst="rect">
            <a:avLst/>
          </a:prstGeom>
          <a:noFill/>
        </p:spPr>
        <p:txBody>
          <a:bodyPr vert="horz" wrap="square" rtlCol="0">
            <a:spAutoFit/>
          </a:bodyPr>
          <a:lstStyle/>
          <a:p>
            <a:pPr>
              <a:lnSpc>
                <a:spcPct val="120000"/>
              </a:lnSpc>
            </a:pPr>
            <a:r>
              <a:rPr lang="en-US" altLang="zh-CN" sz="4400" b="1" dirty="0">
                <a:solidFill>
                  <a:schemeClr val="accent1"/>
                </a:solidFill>
                <a:latin typeface="Arial" panose="02080604020202020204" pitchFamily="34" charset="0"/>
                <a:ea typeface="微软雅黑" panose="020B0503020204020204" pitchFamily="34" charset="-122"/>
                <a:cs typeface="+mn-ea"/>
                <a:sym typeface="Arial" panose="02080604020202020204" pitchFamily="34" charset="0"/>
              </a:rPr>
              <a:t>CONTENT</a:t>
            </a:r>
            <a:r>
              <a:rPr lang="en-US" altLang="en-US" sz="4400" b="1" dirty="0">
                <a:solidFill>
                  <a:schemeClr val="accent1"/>
                </a:solidFill>
                <a:latin typeface="Arial" panose="02080604020202020204" pitchFamily="34" charset="0"/>
                <a:ea typeface="微软雅黑" panose="020B0503020204020204" pitchFamily="34" charset="-122"/>
                <a:cs typeface="+mn-ea"/>
                <a:sym typeface="Arial" panose="02080604020202020204" pitchFamily="34" charset="0"/>
              </a:rPr>
              <a:t>S</a:t>
            </a:r>
          </a:p>
        </p:txBody>
      </p:sp>
      <p:sp>
        <p:nvSpPr>
          <p:cNvPr id="1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18"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3" name="灯片编号占位符 2">
            <a:extLst>
              <a:ext uri="{FF2B5EF4-FFF2-40B4-BE49-F238E27FC236}">
                <a16:creationId xmlns:a16="http://schemas.microsoft.com/office/drawing/2014/main" id="{49F07AB6-1F41-4D60-9534-B0BC5C0FBB9C}"/>
              </a:ext>
            </a:extLst>
          </p:cNvPr>
          <p:cNvSpPr>
            <a:spLocks noGrp="1"/>
          </p:cNvSpPr>
          <p:nvPr>
            <p:ph type="sldNum" sz="quarter" idx="12"/>
          </p:nvPr>
        </p:nvSpPr>
        <p:spPr/>
        <p:txBody>
          <a:bodyPr/>
          <a:lstStyle/>
          <a:p>
            <a:fld id="{37AAA611-6692-4583-86AB-5AB9B972BD46}" type="slidenum">
              <a:rPr lang="zh-CN" altLang="en-US" smtClean="0"/>
              <a:t>2</a:t>
            </a:fld>
            <a:endParaRPr lang="zh-CN" altLang="en-US"/>
          </a:p>
        </p:txBody>
      </p:sp>
      <p:sp>
        <p:nvSpPr>
          <p:cNvPr id="4" name="日期占位符 3">
            <a:extLst>
              <a:ext uri="{FF2B5EF4-FFF2-40B4-BE49-F238E27FC236}">
                <a16:creationId xmlns:a16="http://schemas.microsoft.com/office/drawing/2014/main" id="{E80BC126-7C54-4E4E-B9F3-C333F6255A3F}"/>
              </a:ext>
            </a:extLst>
          </p:cNvPr>
          <p:cNvSpPr>
            <a:spLocks noGrp="1"/>
          </p:cNvSpPr>
          <p:nvPr>
            <p:ph type="dt" sz="half" idx="10"/>
          </p:nvPr>
        </p:nvSpPr>
        <p:spPr/>
        <p:txBody>
          <a:bodyPr/>
          <a:lstStyle/>
          <a:p>
            <a:fld id="{FA1E90F6-CB3B-4DA3-A842-76E95322CEE2}" type="datetime1">
              <a:rPr lang="zh-CN" altLang="en-US" smtClean="0"/>
              <a:t>2021/6/8</a:t>
            </a:fld>
            <a:endParaRPr lang="zh-CN" altLang="en-US"/>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48"/>
          <p:cNvSpPr txBox="1"/>
          <p:nvPr/>
        </p:nvSpPr>
        <p:spPr>
          <a:xfrm>
            <a:off x="6402388" y="2721165"/>
            <a:ext cx="5211563" cy="677108"/>
          </a:xfrm>
          <a:prstGeom prst="rect">
            <a:avLst/>
          </a:prstGeom>
          <a:noFill/>
        </p:spPr>
        <p:txBody>
          <a:bodyPr wrap="square" lIns="0" tIns="0" rIns="0" bIns="0" rtlCol="0">
            <a:spAutoFit/>
          </a:bodyPr>
          <a:lstStyle/>
          <a:p>
            <a:r>
              <a:rPr lang="zh-CN" altLang="en-US" sz="4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案例背景与目标</a:t>
            </a:r>
            <a:endParaRPr lang="en-US" sz="4400"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15" name="矩形 259"/>
          <p:cNvSpPr>
            <a:spLocks noChangeArrowheads="1"/>
          </p:cNvSpPr>
          <p:nvPr/>
        </p:nvSpPr>
        <p:spPr bwMode="auto">
          <a:xfrm>
            <a:off x="3255952" y="1951625"/>
            <a:ext cx="2196442"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8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8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8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3800" cap="all" spc="300" dirty="0">
                <a:solidFill>
                  <a:schemeClr val="accent1"/>
                </a:solidFill>
                <a:latin typeface="Impact" panose="020B0806030902050204" pitchFamily="34" charset="0"/>
                <a:cs typeface="Arial" panose="02080604020202020204" pitchFamily="34" charset="0"/>
              </a:rPr>
              <a:t>01</a:t>
            </a:r>
            <a:endParaRPr lang="zh-CN" altLang="en-US" sz="13800" cap="all" spc="300" dirty="0">
              <a:solidFill>
                <a:schemeClr val="accent1"/>
              </a:solidFill>
              <a:latin typeface="Impact" panose="020B0806030902050204" pitchFamily="34" charset="0"/>
              <a:cs typeface="Arial" panose="0208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3" name="灯片编号占位符 2">
            <a:extLst>
              <a:ext uri="{FF2B5EF4-FFF2-40B4-BE49-F238E27FC236}">
                <a16:creationId xmlns:a16="http://schemas.microsoft.com/office/drawing/2014/main" id="{3E43F1DC-283B-4DFC-9BBC-8B159F772EC1}"/>
              </a:ext>
            </a:extLst>
          </p:cNvPr>
          <p:cNvSpPr>
            <a:spLocks noGrp="1"/>
          </p:cNvSpPr>
          <p:nvPr>
            <p:ph type="sldNum" sz="quarter" idx="12"/>
          </p:nvPr>
        </p:nvSpPr>
        <p:spPr/>
        <p:txBody>
          <a:bodyPr/>
          <a:lstStyle/>
          <a:p>
            <a:fld id="{37AAA611-6692-4583-86AB-5AB9B972BD46}" type="slidenum">
              <a:rPr lang="zh-CN" altLang="en-US" smtClean="0"/>
              <a:t>3</a:t>
            </a:fld>
            <a:endParaRPr lang="zh-CN" altLang="en-US"/>
          </a:p>
        </p:txBody>
      </p:sp>
      <p:sp>
        <p:nvSpPr>
          <p:cNvPr id="4" name="日期占位符 3">
            <a:extLst>
              <a:ext uri="{FF2B5EF4-FFF2-40B4-BE49-F238E27FC236}">
                <a16:creationId xmlns:a16="http://schemas.microsoft.com/office/drawing/2014/main" id="{C11951E4-BC53-4807-AB05-19F683F47A53}"/>
              </a:ext>
            </a:extLst>
          </p:cNvPr>
          <p:cNvSpPr>
            <a:spLocks noGrp="1"/>
          </p:cNvSpPr>
          <p:nvPr>
            <p:ph type="dt" sz="half" idx="10"/>
          </p:nvPr>
        </p:nvSpPr>
        <p:spPr/>
        <p:txBody>
          <a:bodyPr/>
          <a:lstStyle/>
          <a:p>
            <a:fld id="{BD24375C-2EE0-4208-B600-DC263397501D}" type="datetime1">
              <a:rPr lang="zh-CN" altLang="en-US" smtClean="0"/>
              <a:t>2021/6/8</a:t>
            </a:fld>
            <a:endParaRPr lang="zh-CN" altLang="en-US"/>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案例背景与目标</a:t>
            </a:r>
            <a:endParaRPr lang="en-US" altLang="en-US" sz="2400" dirty="0">
              <a:solidFill>
                <a:schemeClr val="tx1"/>
              </a:solidFill>
              <a:latin typeface="+mj-ea"/>
              <a:ea typeface="+mj-ea"/>
              <a:cs typeface="+mn-ea"/>
              <a:sym typeface="Arial" panose="02080604020202020204" pitchFamily="34" charset="0"/>
            </a:endParaRPr>
          </a:p>
        </p:txBody>
      </p:sp>
      <p:sp>
        <p:nvSpPr>
          <p:cNvPr id="6" name="灯片编号占位符 5">
            <a:extLst>
              <a:ext uri="{FF2B5EF4-FFF2-40B4-BE49-F238E27FC236}">
                <a16:creationId xmlns:a16="http://schemas.microsoft.com/office/drawing/2014/main" id="{EA57D8D4-4F8F-4DFF-A6A5-00740A54C19F}"/>
              </a:ext>
            </a:extLst>
          </p:cNvPr>
          <p:cNvSpPr>
            <a:spLocks noGrp="1"/>
          </p:cNvSpPr>
          <p:nvPr>
            <p:ph type="sldNum" sz="quarter" idx="12"/>
          </p:nvPr>
        </p:nvSpPr>
        <p:spPr/>
        <p:txBody>
          <a:bodyPr/>
          <a:lstStyle/>
          <a:p>
            <a:fld id="{37AAA611-6692-4583-86AB-5AB9B972BD46}" type="slidenum">
              <a:rPr lang="zh-CN" altLang="en-US" smtClean="0"/>
              <a:t>4</a:t>
            </a:fld>
            <a:endParaRPr lang="zh-CN" altLang="en-US"/>
          </a:p>
        </p:txBody>
      </p:sp>
      <p:sp>
        <p:nvSpPr>
          <p:cNvPr id="7" name="日期占位符 6">
            <a:extLst>
              <a:ext uri="{FF2B5EF4-FFF2-40B4-BE49-F238E27FC236}">
                <a16:creationId xmlns:a16="http://schemas.microsoft.com/office/drawing/2014/main" id="{F5F0BC8D-E0DF-4649-A9A9-1CA9BF286F33}"/>
              </a:ext>
            </a:extLst>
          </p:cNvPr>
          <p:cNvSpPr>
            <a:spLocks noGrp="1"/>
          </p:cNvSpPr>
          <p:nvPr>
            <p:ph type="dt" sz="half" idx="10"/>
          </p:nvPr>
        </p:nvSpPr>
        <p:spPr/>
        <p:txBody>
          <a:bodyPr/>
          <a:lstStyle/>
          <a:p>
            <a:fld id="{9EAEF61E-810C-4EB3-BDE6-DD063DF2EA54}" type="datetime1">
              <a:rPr lang="zh-CN" altLang="en-US" smtClean="0"/>
              <a:t>2021/6/8</a:t>
            </a:fld>
            <a:endParaRPr lang="zh-CN" altLang="en-US" dirty="0"/>
          </a:p>
        </p:txBody>
      </p:sp>
      <p:sp>
        <p:nvSpPr>
          <p:cNvPr id="8" name="文本框 7">
            <a:extLst>
              <a:ext uri="{FF2B5EF4-FFF2-40B4-BE49-F238E27FC236}">
                <a16:creationId xmlns:a16="http://schemas.microsoft.com/office/drawing/2014/main" id="{6A09E1A7-02B2-4A23-8692-36A173015ACD}"/>
              </a:ext>
            </a:extLst>
          </p:cNvPr>
          <p:cNvSpPr txBox="1"/>
          <p:nvPr/>
        </p:nvSpPr>
        <p:spPr>
          <a:xfrm>
            <a:off x="909514" y="952029"/>
            <a:ext cx="6529268" cy="4284122"/>
          </a:xfrm>
          <a:prstGeom prst="rect">
            <a:avLst/>
          </a:prstGeom>
          <a:noFill/>
        </p:spPr>
        <p:txBody>
          <a:bodyPr wrap="square" rtlCol="0">
            <a:spAutoFit/>
          </a:bodyPr>
          <a:lstStyle/>
          <a:p>
            <a:pPr>
              <a:lnSpc>
                <a:spcPct val="125000"/>
              </a:lnSpc>
            </a:pPr>
            <a:r>
              <a:rPr lang="zh-CN" altLang="en-US" sz="2800" b="1" dirty="0"/>
              <a:t>案例背景</a:t>
            </a:r>
            <a:endParaRPr lang="en-US" altLang="zh-CN" sz="2400" dirty="0"/>
          </a:p>
          <a:p>
            <a:pPr marL="342900" indent="-342900">
              <a:lnSpc>
                <a:spcPct val="125000"/>
              </a:lnSpc>
              <a:buFont typeface="Wingdings" panose="05000000000000000000" pitchFamily="2" charset="2"/>
              <a:buChar char="Ø"/>
            </a:pPr>
            <a:r>
              <a:rPr lang="zh-CN" altLang="en-US" sz="2400" dirty="0">
                <a:latin typeface="Times New Roman" panose="02020603050405020304" pitchFamily="18" charset="0"/>
              </a:rPr>
              <a:t>中国音数协游戏工委</a:t>
            </a:r>
            <a:r>
              <a:rPr lang="en-US" altLang="zh-CN" sz="2400" dirty="0">
                <a:latin typeface="Times New Roman" panose="02020603050405020304" pitchFamily="18" charset="0"/>
              </a:rPr>
              <a:t>(GPC)</a:t>
            </a:r>
            <a:r>
              <a:rPr lang="zh-CN" altLang="en-US" sz="2400" dirty="0">
                <a:latin typeface="Times New Roman" panose="02020603050405020304" pitchFamily="18" charset="0"/>
              </a:rPr>
              <a:t>与中国游戏产业研究院发布了</a:t>
            </a:r>
            <a:r>
              <a:rPr lang="en-US" altLang="zh-CN" sz="2400" dirty="0">
                <a:latin typeface="Times New Roman" panose="02020603050405020304" pitchFamily="18" charset="0"/>
              </a:rPr>
              <a:t>《2020</a:t>
            </a:r>
            <a:r>
              <a:rPr lang="zh-CN" altLang="en-US" sz="2400" dirty="0">
                <a:latin typeface="Times New Roman" panose="02020603050405020304" pitchFamily="18" charset="0"/>
              </a:rPr>
              <a:t>年中国游戏产业报告</a:t>
            </a:r>
            <a:r>
              <a:rPr lang="en-US" altLang="zh-CN" sz="2400" dirty="0">
                <a:latin typeface="Times New Roman" panose="02020603050405020304" pitchFamily="18" charset="0"/>
              </a:rPr>
              <a:t>》</a:t>
            </a:r>
            <a:r>
              <a:rPr lang="zh-CN" altLang="en-US" sz="2400" dirty="0">
                <a:latin typeface="Times New Roman" panose="02020603050405020304" pitchFamily="18" charset="0"/>
              </a:rPr>
              <a:t>：中国游戏用户数量保持稳定增长。 </a:t>
            </a:r>
            <a:r>
              <a:rPr lang="en-US" altLang="zh-CN" sz="2400" dirty="0">
                <a:latin typeface="Times New Roman" panose="02020603050405020304" pitchFamily="18" charset="0"/>
              </a:rPr>
              <a:t>2020</a:t>
            </a:r>
            <a:r>
              <a:rPr lang="zh-CN" altLang="en-US" sz="2400" dirty="0">
                <a:latin typeface="Times New Roman" panose="02020603050405020304" pitchFamily="18" charset="0"/>
              </a:rPr>
              <a:t>年用户规模达</a:t>
            </a:r>
            <a:r>
              <a:rPr lang="en-US" altLang="zh-CN" sz="2400" dirty="0">
                <a:latin typeface="Times New Roman" panose="02020603050405020304" pitchFamily="18" charset="0"/>
              </a:rPr>
              <a:t>6.65</a:t>
            </a:r>
            <a:r>
              <a:rPr lang="zh-CN" altLang="en-US" sz="2400" dirty="0">
                <a:latin typeface="Times New Roman" panose="02020603050405020304" pitchFamily="18" charset="0"/>
              </a:rPr>
              <a:t>亿人，同比增长</a:t>
            </a:r>
            <a:r>
              <a:rPr lang="en-US" altLang="zh-CN" sz="2400" dirty="0">
                <a:latin typeface="Times New Roman" panose="02020603050405020304" pitchFamily="18" charset="0"/>
              </a:rPr>
              <a:t>3.7%</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marL="342900" indent="-342900">
              <a:lnSpc>
                <a:spcPct val="125000"/>
              </a:lnSpc>
              <a:buFont typeface="Wingdings" panose="05000000000000000000" pitchFamily="2" charset="2"/>
              <a:buChar char="l"/>
            </a:pPr>
            <a:endParaRPr lang="en-US" altLang="zh-CN" sz="2400" dirty="0"/>
          </a:p>
          <a:p>
            <a:pPr marL="342900" indent="-342900">
              <a:lnSpc>
                <a:spcPct val="125000"/>
              </a:lnSpc>
              <a:buFont typeface="Wingdings" panose="05000000000000000000" pitchFamily="2" charset="2"/>
              <a:buChar char="Ø"/>
            </a:pPr>
            <a:r>
              <a:rPr lang="zh-CN" altLang="en-US" sz="2400" dirty="0">
                <a:latin typeface="Times New Roman" panose="02020603050405020304" pitchFamily="18" charset="0"/>
              </a:rPr>
              <a:t>中国移动游戏市场实际销售收入达到</a:t>
            </a:r>
            <a:r>
              <a:rPr lang="en-US" altLang="zh-CN" sz="2400" dirty="0">
                <a:latin typeface="Times New Roman" panose="02020603050405020304" pitchFamily="18" charset="0"/>
              </a:rPr>
              <a:t>2096.76</a:t>
            </a:r>
            <a:r>
              <a:rPr lang="zh-CN" altLang="en-US" sz="2400" dirty="0">
                <a:latin typeface="Times New Roman" panose="02020603050405020304" pitchFamily="18" charset="0"/>
              </a:rPr>
              <a:t>亿元，比</a:t>
            </a:r>
            <a:r>
              <a:rPr lang="en-US" altLang="zh-CN" sz="2400" dirty="0">
                <a:latin typeface="Times New Roman" panose="02020603050405020304" pitchFamily="18" charset="0"/>
              </a:rPr>
              <a:t>2019</a:t>
            </a:r>
            <a:r>
              <a:rPr lang="zh-CN" altLang="en-US" sz="2400" dirty="0">
                <a:latin typeface="Times New Roman" panose="02020603050405020304" pitchFamily="18" charset="0"/>
              </a:rPr>
              <a:t>年增加了</a:t>
            </a:r>
            <a:r>
              <a:rPr lang="en-US" altLang="zh-CN" sz="2400" dirty="0">
                <a:latin typeface="Times New Roman" panose="02020603050405020304" pitchFamily="18" charset="0"/>
              </a:rPr>
              <a:t>515.65</a:t>
            </a:r>
            <a:r>
              <a:rPr lang="zh-CN" altLang="en-US" sz="2400" dirty="0">
                <a:latin typeface="Times New Roman" panose="02020603050405020304" pitchFamily="18" charset="0"/>
              </a:rPr>
              <a:t>亿元，同比增长</a:t>
            </a:r>
            <a:r>
              <a:rPr lang="en-US" altLang="zh-CN" sz="2400" dirty="0">
                <a:latin typeface="Times New Roman" panose="02020603050405020304" pitchFamily="18" charset="0"/>
              </a:rPr>
              <a:t>32.61%</a:t>
            </a:r>
            <a:r>
              <a:rPr lang="zh-CN" altLang="en-US" sz="2400" dirty="0">
                <a:latin typeface="Times New Roman" panose="02020603050405020304" pitchFamily="18" charset="0"/>
              </a:rPr>
              <a:t>，占比为</a:t>
            </a:r>
            <a:r>
              <a:rPr lang="en-US" altLang="zh-CN" sz="2400" dirty="0">
                <a:latin typeface="Times New Roman" panose="02020603050405020304" pitchFamily="18" charset="0"/>
              </a:rPr>
              <a:t>75.24%</a:t>
            </a:r>
            <a:r>
              <a:rPr lang="zh-CN" altLang="en-US" sz="2400" dirty="0">
                <a:latin typeface="Times New Roman" panose="02020603050405020304" pitchFamily="18" charset="0"/>
              </a:rPr>
              <a:t>。</a:t>
            </a:r>
            <a:endParaRPr lang="en-US" altLang="zh-CN" sz="2400" dirty="0"/>
          </a:p>
        </p:txBody>
      </p:sp>
      <p:pic>
        <p:nvPicPr>
          <p:cNvPr id="1028" name="Picture 4">
            <a:extLst>
              <a:ext uri="{FF2B5EF4-FFF2-40B4-BE49-F238E27FC236}">
                <a16:creationId xmlns:a16="http://schemas.microsoft.com/office/drawing/2014/main" id="{995B9A16-93F7-4D4A-842A-BDA77E9393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8781" y="3822017"/>
            <a:ext cx="5399306" cy="328503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EA25C55-ED41-4817-9485-88D3BE20787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38781" y="713218"/>
            <a:ext cx="5399306" cy="3047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21673"/>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案例背景与目标</a:t>
            </a:r>
            <a:endParaRPr lang="en-US" altLang="en-US" sz="2400" dirty="0">
              <a:solidFill>
                <a:schemeClr val="tx1"/>
              </a:solidFill>
              <a:latin typeface="+mj-ea"/>
              <a:ea typeface="+mj-ea"/>
              <a:cs typeface="+mn-ea"/>
              <a:sym typeface="Arial" panose="02080604020202020204" pitchFamily="34" charset="0"/>
            </a:endParaRPr>
          </a:p>
        </p:txBody>
      </p:sp>
      <p:sp>
        <p:nvSpPr>
          <p:cNvPr id="6" name="灯片编号占位符 5">
            <a:extLst>
              <a:ext uri="{FF2B5EF4-FFF2-40B4-BE49-F238E27FC236}">
                <a16:creationId xmlns:a16="http://schemas.microsoft.com/office/drawing/2014/main" id="{EA57D8D4-4F8F-4DFF-A6A5-00740A54C19F}"/>
              </a:ext>
            </a:extLst>
          </p:cNvPr>
          <p:cNvSpPr>
            <a:spLocks noGrp="1"/>
          </p:cNvSpPr>
          <p:nvPr>
            <p:ph type="sldNum" sz="quarter" idx="12"/>
          </p:nvPr>
        </p:nvSpPr>
        <p:spPr/>
        <p:txBody>
          <a:bodyPr/>
          <a:lstStyle/>
          <a:p>
            <a:fld id="{37AAA611-6692-4583-86AB-5AB9B972BD46}" type="slidenum">
              <a:rPr lang="zh-CN" altLang="en-US" smtClean="0"/>
              <a:t>5</a:t>
            </a:fld>
            <a:endParaRPr lang="zh-CN" altLang="en-US"/>
          </a:p>
        </p:txBody>
      </p:sp>
      <p:sp>
        <p:nvSpPr>
          <p:cNvPr id="7" name="日期占位符 6">
            <a:extLst>
              <a:ext uri="{FF2B5EF4-FFF2-40B4-BE49-F238E27FC236}">
                <a16:creationId xmlns:a16="http://schemas.microsoft.com/office/drawing/2014/main" id="{F5F0BC8D-E0DF-4649-A9A9-1CA9BF286F33}"/>
              </a:ext>
            </a:extLst>
          </p:cNvPr>
          <p:cNvSpPr>
            <a:spLocks noGrp="1"/>
          </p:cNvSpPr>
          <p:nvPr>
            <p:ph type="dt" sz="half" idx="10"/>
          </p:nvPr>
        </p:nvSpPr>
        <p:spPr/>
        <p:txBody>
          <a:bodyPr/>
          <a:lstStyle/>
          <a:p>
            <a:fld id="{9EAEF61E-810C-4EB3-BDE6-DD063DF2EA54}" type="datetime1">
              <a:rPr lang="zh-CN" altLang="en-US" smtClean="0"/>
              <a:t>2021/6/8</a:t>
            </a:fld>
            <a:endParaRPr lang="zh-CN" altLang="en-US" dirty="0"/>
          </a:p>
        </p:txBody>
      </p:sp>
      <p:sp>
        <p:nvSpPr>
          <p:cNvPr id="8" name="文本框 7">
            <a:extLst>
              <a:ext uri="{FF2B5EF4-FFF2-40B4-BE49-F238E27FC236}">
                <a16:creationId xmlns:a16="http://schemas.microsoft.com/office/drawing/2014/main" id="{6A09E1A7-02B2-4A23-8692-36A173015ACD}"/>
              </a:ext>
            </a:extLst>
          </p:cNvPr>
          <p:cNvSpPr txBox="1"/>
          <p:nvPr/>
        </p:nvSpPr>
        <p:spPr>
          <a:xfrm>
            <a:off x="909513" y="952029"/>
            <a:ext cx="10776445" cy="2905091"/>
          </a:xfrm>
          <a:prstGeom prst="rect">
            <a:avLst/>
          </a:prstGeom>
          <a:noFill/>
        </p:spPr>
        <p:txBody>
          <a:bodyPr wrap="square" rtlCol="0">
            <a:spAutoFit/>
          </a:bodyPr>
          <a:lstStyle/>
          <a:p>
            <a:pPr>
              <a:lnSpc>
                <a:spcPct val="125000"/>
              </a:lnSpc>
            </a:pPr>
            <a:r>
              <a:rPr lang="zh-CN" altLang="en-US" sz="2800" b="1" dirty="0"/>
              <a:t>案例目标</a:t>
            </a:r>
            <a:endParaRPr lang="en-US" altLang="zh-CN" sz="2800" b="1" dirty="0"/>
          </a:p>
          <a:p>
            <a:pPr>
              <a:lnSpc>
                <a:spcPct val="125000"/>
              </a:lnSpc>
            </a:pPr>
            <a:endParaRPr lang="en-US" altLang="zh-CN" sz="2400" dirty="0"/>
          </a:p>
          <a:p>
            <a:pPr marL="342900" indent="-342900">
              <a:lnSpc>
                <a:spcPct val="125000"/>
              </a:lnSpc>
              <a:buFont typeface="Wingdings" panose="05000000000000000000" pitchFamily="2" charset="2"/>
              <a:buChar char="Ø"/>
            </a:pPr>
            <a:r>
              <a:rPr lang="zh-CN" altLang="en-US" sz="2400" dirty="0">
                <a:latin typeface="Times New Roman" panose="02020603050405020304" pitchFamily="18" charset="0"/>
              </a:rPr>
              <a:t>分析游戏的运营状况。</a:t>
            </a:r>
            <a:endParaRPr lang="en-US" altLang="zh-CN" sz="2400" dirty="0">
              <a:latin typeface="Times New Roman" panose="02020603050405020304" pitchFamily="18" charset="0"/>
            </a:endParaRPr>
          </a:p>
          <a:p>
            <a:pPr marL="342900" indent="-342900">
              <a:lnSpc>
                <a:spcPct val="125000"/>
              </a:lnSpc>
              <a:buFont typeface="Wingdings" panose="05000000000000000000" pitchFamily="2" charset="2"/>
              <a:buChar char="l"/>
            </a:pPr>
            <a:endParaRPr lang="en-US" altLang="zh-CN" sz="2400" dirty="0"/>
          </a:p>
          <a:p>
            <a:pPr marL="342900" indent="-342900">
              <a:lnSpc>
                <a:spcPct val="125000"/>
              </a:lnSpc>
              <a:buFont typeface="Wingdings" panose="05000000000000000000" pitchFamily="2" charset="2"/>
              <a:buChar char="Ø"/>
            </a:pPr>
            <a:r>
              <a:rPr lang="zh-CN" altLang="en-US" sz="2400" dirty="0"/>
              <a:t>通过用户</a:t>
            </a:r>
            <a:r>
              <a:rPr lang="zh-CN" altLang="en-US" sz="2400" dirty="0">
                <a:latin typeface="Times New Roman" panose="02020603050405020304" pitchFamily="18" charset="0"/>
              </a:rPr>
              <a:t>注册账户后</a:t>
            </a:r>
            <a:r>
              <a:rPr lang="en-US" altLang="zh-CN" sz="2400" dirty="0">
                <a:latin typeface="Times New Roman" panose="02020603050405020304" pitchFamily="18" charset="0"/>
              </a:rPr>
              <a:t>7</a:t>
            </a:r>
            <a:r>
              <a:rPr lang="zh-CN" altLang="en-US" sz="2400" dirty="0">
                <a:latin typeface="Times New Roman" panose="02020603050405020304" pitchFamily="18" charset="0"/>
              </a:rPr>
              <a:t>天之内的游戏数据，预测用户在</a:t>
            </a:r>
            <a:r>
              <a:rPr lang="en-US" altLang="zh-CN" sz="2400" dirty="0">
                <a:latin typeface="Times New Roman" panose="02020603050405020304" pitchFamily="18" charset="0"/>
              </a:rPr>
              <a:t>45</a:t>
            </a:r>
            <a:r>
              <a:rPr lang="zh-CN" altLang="en-US" sz="2400" dirty="0">
                <a:latin typeface="Times New Roman" panose="02020603050405020304" pitchFamily="18" charset="0"/>
              </a:rPr>
              <a:t>天内是否进行消费。</a:t>
            </a:r>
            <a:endParaRPr lang="en-US" altLang="zh-CN" sz="2400" dirty="0">
              <a:latin typeface="Times New Roman" panose="02020603050405020304" pitchFamily="18" charset="0"/>
            </a:endParaRPr>
          </a:p>
          <a:p>
            <a:pPr marL="342900" indent="-342900">
              <a:lnSpc>
                <a:spcPct val="125000"/>
              </a:lnSpc>
              <a:buFont typeface="Wingdings" panose="05000000000000000000" pitchFamily="2" charset="2"/>
              <a:buChar char="l"/>
            </a:pPr>
            <a:endParaRPr lang="en-US" altLang="zh-CN" sz="2400" dirty="0"/>
          </a:p>
        </p:txBody>
      </p:sp>
    </p:spTree>
    <p:extLst>
      <p:ext uri="{BB962C8B-B14F-4D97-AF65-F5344CB8AC3E}">
        <p14:creationId xmlns:p14="http://schemas.microsoft.com/office/powerpoint/2010/main" val="243273430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48"/>
          <p:cNvSpPr txBox="1"/>
          <p:nvPr/>
        </p:nvSpPr>
        <p:spPr>
          <a:xfrm>
            <a:off x="6402388" y="2721165"/>
            <a:ext cx="4635499" cy="677108"/>
          </a:xfrm>
          <a:prstGeom prst="rect">
            <a:avLst/>
          </a:prstGeom>
          <a:noFill/>
        </p:spPr>
        <p:txBody>
          <a:bodyPr wrap="square" lIns="0" tIns="0" rIns="0" bIns="0" rtlCol="0">
            <a:spAutoFit/>
          </a:bodyPr>
          <a:lstStyle/>
          <a:p>
            <a:r>
              <a:rPr lang="zh-CN" altLang="en-US" sz="4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数据探索与预处理</a:t>
            </a:r>
            <a:endParaRPr lang="en-US" sz="4400"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15" name="矩形 259"/>
          <p:cNvSpPr>
            <a:spLocks noChangeArrowheads="1"/>
          </p:cNvSpPr>
          <p:nvPr/>
        </p:nvSpPr>
        <p:spPr bwMode="auto">
          <a:xfrm>
            <a:off x="3255952" y="1951625"/>
            <a:ext cx="2196442"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8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8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8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3800" cap="all" spc="300" dirty="0">
                <a:solidFill>
                  <a:schemeClr val="accent1"/>
                </a:solidFill>
                <a:latin typeface="Impact" panose="020B0806030902050204" pitchFamily="34" charset="0"/>
                <a:cs typeface="Arial" panose="02080604020202020204" pitchFamily="34" charset="0"/>
              </a:rPr>
              <a:t>02</a:t>
            </a:r>
            <a:endParaRPr lang="zh-CN" altLang="en-US" sz="13800" cap="all" spc="300" dirty="0">
              <a:solidFill>
                <a:schemeClr val="accent1"/>
              </a:solidFill>
              <a:latin typeface="Impact" panose="020B0806030902050204" pitchFamily="34" charset="0"/>
              <a:cs typeface="Arial" panose="0208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3" name="灯片编号占位符 2">
            <a:extLst>
              <a:ext uri="{FF2B5EF4-FFF2-40B4-BE49-F238E27FC236}">
                <a16:creationId xmlns:a16="http://schemas.microsoft.com/office/drawing/2014/main" id="{9FE6A837-FA3A-4638-AD4B-B3E8B66FEAD9}"/>
              </a:ext>
            </a:extLst>
          </p:cNvPr>
          <p:cNvSpPr>
            <a:spLocks noGrp="1"/>
          </p:cNvSpPr>
          <p:nvPr>
            <p:ph type="sldNum" sz="quarter" idx="12"/>
          </p:nvPr>
        </p:nvSpPr>
        <p:spPr/>
        <p:txBody>
          <a:bodyPr/>
          <a:lstStyle/>
          <a:p>
            <a:fld id="{37AAA611-6692-4583-86AB-5AB9B972BD46}" type="slidenum">
              <a:rPr lang="zh-CN" altLang="en-US" smtClean="0"/>
              <a:t>6</a:t>
            </a:fld>
            <a:endParaRPr lang="zh-CN" altLang="en-US"/>
          </a:p>
        </p:txBody>
      </p:sp>
      <p:sp>
        <p:nvSpPr>
          <p:cNvPr id="4" name="日期占位符 3">
            <a:extLst>
              <a:ext uri="{FF2B5EF4-FFF2-40B4-BE49-F238E27FC236}">
                <a16:creationId xmlns:a16="http://schemas.microsoft.com/office/drawing/2014/main" id="{8A5C0028-12E4-4A1E-BFCF-6C39DCF66E38}"/>
              </a:ext>
            </a:extLst>
          </p:cNvPr>
          <p:cNvSpPr>
            <a:spLocks noGrp="1"/>
          </p:cNvSpPr>
          <p:nvPr>
            <p:ph type="dt" sz="half" idx="10"/>
          </p:nvPr>
        </p:nvSpPr>
        <p:spPr/>
        <p:txBody>
          <a:bodyPr/>
          <a:lstStyle/>
          <a:p>
            <a:fld id="{F2B4AC60-FB13-4DFF-BAAB-5E17E95D778C}" type="datetime1">
              <a:rPr lang="zh-CN" altLang="en-US" smtClean="0"/>
              <a:t>2021/6/8</a:t>
            </a:fld>
            <a:endParaRPr lang="zh-CN" altLang="en-US"/>
          </a:p>
        </p:txBody>
      </p:sp>
    </p:spTree>
    <p:extLst>
      <p:ext uri="{BB962C8B-B14F-4D97-AF65-F5344CB8AC3E}">
        <p14:creationId xmlns:p14="http://schemas.microsoft.com/office/powerpoint/2010/main" val="3855165922"/>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7</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sp>
        <p:nvSpPr>
          <p:cNvPr id="15" name="文本框 14">
            <a:extLst>
              <a:ext uri="{FF2B5EF4-FFF2-40B4-BE49-F238E27FC236}">
                <a16:creationId xmlns:a16="http://schemas.microsoft.com/office/drawing/2014/main" id="{2F437241-F9C0-4B0F-9B16-0AA47418206B}"/>
              </a:ext>
            </a:extLst>
          </p:cNvPr>
          <p:cNvSpPr txBox="1"/>
          <p:nvPr/>
        </p:nvSpPr>
        <p:spPr>
          <a:xfrm>
            <a:off x="682626" y="760635"/>
            <a:ext cx="2002333" cy="584071"/>
          </a:xfrm>
          <a:prstGeom prst="rect">
            <a:avLst/>
          </a:prstGeom>
          <a:noFill/>
        </p:spPr>
        <p:txBody>
          <a:bodyPr wrap="square" rtlCol="0">
            <a:spAutoFit/>
          </a:bodyPr>
          <a:lstStyle/>
          <a:p>
            <a:pPr>
              <a:lnSpc>
                <a:spcPct val="125000"/>
              </a:lnSpc>
            </a:pPr>
            <a:r>
              <a:rPr lang="zh-CN" altLang="en-US" sz="2800" b="1" dirty="0"/>
              <a:t>分析流程：</a:t>
            </a:r>
            <a:endParaRPr lang="en-US" altLang="zh-CN" sz="2800" b="1" dirty="0"/>
          </a:p>
        </p:txBody>
      </p:sp>
      <p:pic>
        <p:nvPicPr>
          <p:cNvPr id="4" name="图片 3">
            <a:extLst>
              <a:ext uri="{FF2B5EF4-FFF2-40B4-BE49-F238E27FC236}">
                <a16:creationId xmlns:a16="http://schemas.microsoft.com/office/drawing/2014/main" id="{575A443C-3676-4A58-B053-069B4F2036F9}"/>
              </a:ext>
            </a:extLst>
          </p:cNvPr>
          <p:cNvPicPr>
            <a:picLocks noChangeAspect="1"/>
          </p:cNvPicPr>
          <p:nvPr/>
        </p:nvPicPr>
        <p:blipFill>
          <a:blip r:embed="rId5"/>
          <a:stretch>
            <a:fillRect/>
          </a:stretch>
        </p:blipFill>
        <p:spPr>
          <a:xfrm>
            <a:off x="1765380" y="1368227"/>
            <a:ext cx="9327989" cy="5344442"/>
          </a:xfrm>
          <a:prstGeom prst="rect">
            <a:avLst/>
          </a:prstGeom>
        </p:spPr>
      </p:pic>
    </p:spTree>
    <p:extLst>
      <p:ext uri="{BB962C8B-B14F-4D97-AF65-F5344CB8AC3E}">
        <p14:creationId xmlns:p14="http://schemas.microsoft.com/office/powerpoint/2010/main" val="2030187361"/>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8</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sp>
        <p:nvSpPr>
          <p:cNvPr id="15" name="文本框 14">
            <a:extLst>
              <a:ext uri="{FF2B5EF4-FFF2-40B4-BE49-F238E27FC236}">
                <a16:creationId xmlns:a16="http://schemas.microsoft.com/office/drawing/2014/main" id="{2F437241-F9C0-4B0F-9B16-0AA47418206B}"/>
              </a:ext>
            </a:extLst>
          </p:cNvPr>
          <p:cNvSpPr txBox="1"/>
          <p:nvPr/>
        </p:nvSpPr>
        <p:spPr>
          <a:xfrm>
            <a:off x="682626" y="880021"/>
            <a:ext cx="7042893" cy="576055"/>
          </a:xfrm>
          <a:prstGeom prst="rect">
            <a:avLst/>
          </a:prstGeom>
          <a:noFill/>
        </p:spPr>
        <p:txBody>
          <a:bodyPr wrap="square" rtlCol="0">
            <a:spAutoFit/>
          </a:bodyPr>
          <a:lstStyle/>
          <a:p>
            <a:pPr>
              <a:lnSpc>
                <a:spcPct val="125000"/>
              </a:lnSpc>
            </a:pPr>
            <a:r>
              <a:rPr lang="en-US" altLang="zh-CN" sz="2800" dirty="0">
                <a:latin typeface="Times New Roman" panose="02020603050405020304" pitchFamily="18" charset="0"/>
              </a:rPr>
              <a:t>Tap4fun</a:t>
            </a:r>
            <a:r>
              <a:rPr lang="zh-CN" altLang="en-US" sz="2800" dirty="0">
                <a:latin typeface="Times New Roman" panose="02020603050405020304" pitchFamily="18" charset="0"/>
              </a:rPr>
              <a:t>公司</a:t>
            </a:r>
            <a:r>
              <a:rPr lang="en-US" altLang="zh-CN" sz="2800" dirty="0">
                <a:latin typeface="Times New Roman" panose="02020603050405020304" pitchFamily="18" charset="0"/>
              </a:rPr>
              <a:t>《</a:t>
            </a:r>
            <a:r>
              <a:rPr lang="zh-CN" altLang="en-US" sz="2800" dirty="0">
                <a:latin typeface="Times New Roman" panose="02020603050405020304" pitchFamily="18" charset="0"/>
              </a:rPr>
              <a:t>野蛮时代</a:t>
            </a:r>
            <a:r>
              <a:rPr lang="en-US" altLang="zh-CN" sz="2800" dirty="0">
                <a:latin typeface="Times New Roman" panose="02020603050405020304" pitchFamily="18" charset="0"/>
              </a:rPr>
              <a:t>》</a:t>
            </a:r>
          </a:p>
        </p:txBody>
      </p:sp>
      <p:pic>
        <p:nvPicPr>
          <p:cNvPr id="1026" name="Picture 2">
            <a:extLst>
              <a:ext uri="{FF2B5EF4-FFF2-40B4-BE49-F238E27FC236}">
                <a16:creationId xmlns:a16="http://schemas.microsoft.com/office/drawing/2014/main" id="{DC43FE70-25D4-4870-A62D-3858EA579E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0698" y="760635"/>
            <a:ext cx="4715426" cy="5942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553393"/>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9</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sp>
        <p:nvSpPr>
          <p:cNvPr id="15" name="文本框 14">
            <a:extLst>
              <a:ext uri="{FF2B5EF4-FFF2-40B4-BE49-F238E27FC236}">
                <a16:creationId xmlns:a16="http://schemas.microsoft.com/office/drawing/2014/main" id="{2F437241-F9C0-4B0F-9B16-0AA47418206B}"/>
              </a:ext>
            </a:extLst>
          </p:cNvPr>
          <p:cNvSpPr txBox="1"/>
          <p:nvPr/>
        </p:nvSpPr>
        <p:spPr>
          <a:xfrm>
            <a:off x="682626" y="760635"/>
            <a:ext cx="4234581" cy="2972930"/>
          </a:xfrm>
          <a:prstGeom prst="rect">
            <a:avLst/>
          </a:prstGeom>
          <a:noFill/>
        </p:spPr>
        <p:txBody>
          <a:bodyPr wrap="square" rtlCol="0">
            <a:spAutoFit/>
          </a:bodyPr>
          <a:lstStyle/>
          <a:p>
            <a:pPr>
              <a:lnSpc>
                <a:spcPct val="125000"/>
              </a:lnSpc>
            </a:pPr>
            <a:r>
              <a:rPr lang="zh-CN" altLang="en-US" sz="2800" b="1" dirty="0"/>
              <a:t>数据集</a:t>
            </a:r>
            <a:endParaRPr lang="en-US" altLang="zh-CN" sz="2800" b="1" dirty="0"/>
          </a:p>
          <a:p>
            <a:pPr>
              <a:lnSpc>
                <a:spcPct val="125000"/>
              </a:lnSpc>
            </a:pPr>
            <a:endParaRPr lang="en-US" altLang="zh-CN" sz="2800" b="1" dirty="0"/>
          </a:p>
          <a:p>
            <a:pPr marL="342900" indent="-342900">
              <a:lnSpc>
                <a:spcPct val="125000"/>
              </a:lnSpc>
              <a:buFont typeface="Wingdings" panose="05000000000000000000" pitchFamily="2" charset="2"/>
              <a:buChar char="Ø"/>
            </a:pPr>
            <a:r>
              <a:rPr lang="en-US" altLang="zh-CN" sz="2400" dirty="0">
                <a:latin typeface="Times New Roman" panose="02020603050405020304" pitchFamily="18" charset="0"/>
              </a:rPr>
              <a:t>2288007</a:t>
            </a:r>
            <a:r>
              <a:rPr lang="zh-CN" altLang="en-US" sz="2400" dirty="0">
                <a:latin typeface="Times New Roman" panose="02020603050405020304" pitchFamily="18" charset="0"/>
              </a:rPr>
              <a:t>条用户数据</a:t>
            </a:r>
            <a:endParaRPr lang="en-US" altLang="zh-CN" sz="2400" dirty="0">
              <a:latin typeface="Times New Roman" panose="02020603050405020304" pitchFamily="18" charset="0"/>
            </a:endParaRPr>
          </a:p>
          <a:p>
            <a:pPr marL="342900" indent="-342900">
              <a:lnSpc>
                <a:spcPct val="125000"/>
              </a:lnSpc>
              <a:buFont typeface="Wingdings" panose="05000000000000000000" pitchFamily="2" charset="2"/>
              <a:buChar char="Ø"/>
            </a:pPr>
            <a:r>
              <a:rPr lang="en-US" altLang="zh-CN" sz="2400" dirty="0">
                <a:latin typeface="Times New Roman" panose="02020603050405020304" pitchFamily="18" charset="0"/>
              </a:rPr>
              <a:t>109</a:t>
            </a:r>
            <a:r>
              <a:rPr lang="zh-CN" altLang="en-US" sz="2400" dirty="0">
                <a:latin typeface="Times New Roman" panose="02020603050405020304" pitchFamily="18" charset="0"/>
              </a:rPr>
              <a:t>项参数</a:t>
            </a:r>
            <a:endParaRPr lang="en-US" altLang="zh-CN" sz="2400" dirty="0">
              <a:latin typeface="Times New Roman" panose="02020603050405020304" pitchFamily="18" charset="0"/>
            </a:endParaRPr>
          </a:p>
          <a:p>
            <a:pPr marL="342900" indent="-342900">
              <a:lnSpc>
                <a:spcPct val="125000"/>
              </a:lnSpc>
              <a:buFont typeface="Wingdings" panose="05000000000000000000" pitchFamily="2" charset="2"/>
              <a:buChar char="Ø"/>
            </a:pPr>
            <a:endParaRPr lang="en-US" altLang="zh-CN" sz="2400" dirty="0">
              <a:latin typeface="Times New Roman" panose="02020603050405020304" pitchFamily="18" charset="0"/>
            </a:endParaRPr>
          </a:p>
          <a:p>
            <a:pPr>
              <a:lnSpc>
                <a:spcPct val="125000"/>
              </a:lnSpc>
            </a:pPr>
            <a:endParaRPr lang="en-US" altLang="zh-CN" sz="2400" dirty="0">
              <a:latin typeface="Times New Roman" panose="02020603050405020304" pitchFamily="18" charset="0"/>
            </a:endParaRPr>
          </a:p>
        </p:txBody>
      </p:sp>
      <p:pic>
        <p:nvPicPr>
          <p:cNvPr id="12" name="图片 11">
            <a:extLst>
              <a:ext uri="{FF2B5EF4-FFF2-40B4-BE49-F238E27FC236}">
                <a16:creationId xmlns:a16="http://schemas.microsoft.com/office/drawing/2014/main" id="{C15356B1-A61F-47B2-82FF-F0757E68359C}"/>
              </a:ext>
            </a:extLst>
          </p:cNvPr>
          <p:cNvPicPr>
            <a:picLocks noChangeAspect="1"/>
          </p:cNvPicPr>
          <p:nvPr/>
        </p:nvPicPr>
        <p:blipFill>
          <a:blip r:embed="rId5"/>
          <a:stretch>
            <a:fillRect/>
          </a:stretch>
        </p:blipFill>
        <p:spPr>
          <a:xfrm>
            <a:off x="4053112" y="1960141"/>
            <a:ext cx="8805638" cy="4156764"/>
          </a:xfrm>
          <a:prstGeom prst="rect">
            <a:avLst/>
          </a:prstGeom>
        </p:spPr>
      </p:pic>
    </p:spTree>
    <p:extLst>
      <p:ext uri="{BB962C8B-B14F-4D97-AF65-F5344CB8AC3E}">
        <p14:creationId xmlns:p14="http://schemas.microsoft.com/office/powerpoint/2010/main" val="869226375"/>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10</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pic>
        <p:nvPicPr>
          <p:cNvPr id="2050" name="Picture 2">
            <a:extLst>
              <a:ext uri="{FF2B5EF4-FFF2-40B4-BE49-F238E27FC236}">
                <a16:creationId xmlns:a16="http://schemas.microsoft.com/office/drawing/2014/main" id="{579D9411-BE80-4162-98B4-3CA66A9047A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4879" y="700953"/>
            <a:ext cx="9183806" cy="5830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290796"/>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11</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pic>
        <p:nvPicPr>
          <p:cNvPr id="1026" name="Picture 2">
            <a:extLst>
              <a:ext uri="{FF2B5EF4-FFF2-40B4-BE49-F238E27FC236}">
                <a16:creationId xmlns:a16="http://schemas.microsoft.com/office/drawing/2014/main" id="{7946CD45-95BA-4D85-8CE1-2D2A60CE7E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97313" y="905587"/>
            <a:ext cx="5664123" cy="55699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3157898"/>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12</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pic>
        <p:nvPicPr>
          <p:cNvPr id="2052" name="Picture 4">
            <a:extLst>
              <a:ext uri="{FF2B5EF4-FFF2-40B4-BE49-F238E27FC236}">
                <a16:creationId xmlns:a16="http://schemas.microsoft.com/office/drawing/2014/main" id="{8C27818A-D258-457D-A829-5694CCE721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7029" y="677564"/>
            <a:ext cx="10324692" cy="6555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4854589"/>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13</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pic>
        <p:nvPicPr>
          <p:cNvPr id="5122" name="Picture 2">
            <a:extLst>
              <a:ext uri="{FF2B5EF4-FFF2-40B4-BE49-F238E27FC236}">
                <a16:creationId xmlns:a16="http://schemas.microsoft.com/office/drawing/2014/main" id="{286BE32B-266E-4A34-99BD-5C2C4E3BF57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0109" y="708846"/>
            <a:ext cx="10136921" cy="6435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9547146"/>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14</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pic>
        <p:nvPicPr>
          <p:cNvPr id="3074" name="Picture 2">
            <a:extLst>
              <a:ext uri="{FF2B5EF4-FFF2-40B4-BE49-F238E27FC236}">
                <a16:creationId xmlns:a16="http://schemas.microsoft.com/office/drawing/2014/main" id="{3DE3856E-06DC-49E0-BC78-90F56E6E1E9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9152" y="691522"/>
            <a:ext cx="10160446" cy="6450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764285"/>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15</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pic>
        <p:nvPicPr>
          <p:cNvPr id="4098" name="Picture 2">
            <a:extLst>
              <a:ext uri="{FF2B5EF4-FFF2-40B4-BE49-F238E27FC236}">
                <a16:creationId xmlns:a16="http://schemas.microsoft.com/office/drawing/2014/main" id="{9D7CFF00-1379-46E4-AE57-DC9A38FA4F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68726" y="692507"/>
            <a:ext cx="8921298" cy="6164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936778"/>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数据探索与处理</a:t>
            </a:r>
            <a:endParaRPr lang="en-US" altLang="en-US" sz="2400" dirty="0">
              <a:solidFill>
                <a:schemeClr val="tx1"/>
              </a:solidFill>
              <a:latin typeface="+mj-ea"/>
              <a:ea typeface="+mj-ea"/>
              <a:cs typeface="+mn-ea"/>
              <a:sym typeface="Arial" panose="02080604020202020204" pitchFamily="34" charset="0"/>
            </a:endParaRPr>
          </a:p>
        </p:txBody>
      </p:sp>
      <p:sp>
        <p:nvSpPr>
          <p:cNvPr id="5" name="灯片编号占位符 4">
            <a:extLst>
              <a:ext uri="{FF2B5EF4-FFF2-40B4-BE49-F238E27FC236}">
                <a16:creationId xmlns:a16="http://schemas.microsoft.com/office/drawing/2014/main" id="{C140D0D2-66D6-4725-BD8B-C6A312666F63}"/>
              </a:ext>
            </a:extLst>
          </p:cNvPr>
          <p:cNvSpPr>
            <a:spLocks noGrp="1"/>
          </p:cNvSpPr>
          <p:nvPr>
            <p:ph type="sldNum" sz="quarter" idx="12"/>
          </p:nvPr>
        </p:nvSpPr>
        <p:spPr/>
        <p:txBody>
          <a:bodyPr/>
          <a:lstStyle/>
          <a:p>
            <a:fld id="{37AAA611-6692-4583-86AB-5AB9B972BD46}" type="slidenum">
              <a:rPr lang="zh-CN" altLang="en-US" smtClean="0"/>
              <a:t>16</a:t>
            </a:fld>
            <a:endParaRPr lang="zh-CN" altLang="en-US"/>
          </a:p>
        </p:txBody>
      </p:sp>
      <p:sp>
        <p:nvSpPr>
          <p:cNvPr id="6" name="日期占位符 5">
            <a:extLst>
              <a:ext uri="{FF2B5EF4-FFF2-40B4-BE49-F238E27FC236}">
                <a16:creationId xmlns:a16="http://schemas.microsoft.com/office/drawing/2014/main" id="{50CA0263-1E21-486C-A419-714A925DE99A}"/>
              </a:ext>
            </a:extLst>
          </p:cNvPr>
          <p:cNvSpPr>
            <a:spLocks noGrp="1"/>
          </p:cNvSpPr>
          <p:nvPr>
            <p:ph type="dt" sz="half" idx="10"/>
          </p:nvPr>
        </p:nvSpPr>
        <p:spPr/>
        <p:txBody>
          <a:bodyPr/>
          <a:lstStyle/>
          <a:p>
            <a:fld id="{10D471DD-7389-4AF6-917B-6FC5E9E8C4D2}" type="datetime1">
              <a:rPr lang="zh-CN" altLang="en-US" smtClean="0"/>
              <a:t>2021/6/8</a:t>
            </a:fld>
            <a:endParaRPr lang="zh-CN" altLang="en-US"/>
          </a:p>
        </p:txBody>
      </p:sp>
      <p:graphicFrame>
        <p:nvGraphicFramePr>
          <p:cNvPr id="9" name="表格 9">
            <a:extLst>
              <a:ext uri="{FF2B5EF4-FFF2-40B4-BE49-F238E27FC236}">
                <a16:creationId xmlns:a16="http://schemas.microsoft.com/office/drawing/2014/main" id="{ACFCE177-BE90-45F9-9EEC-D018C124904A}"/>
              </a:ext>
            </a:extLst>
          </p:cNvPr>
          <p:cNvGraphicFramePr>
            <a:graphicFrameLocks noGrp="1"/>
          </p:cNvGraphicFramePr>
          <p:nvPr>
            <p:extLst>
              <p:ext uri="{D42A27DB-BD31-4B8C-83A1-F6EECF244321}">
                <p14:modId xmlns:p14="http://schemas.microsoft.com/office/powerpoint/2010/main" val="1167447961"/>
              </p:ext>
            </p:extLst>
          </p:nvPr>
        </p:nvGraphicFramePr>
        <p:xfrm>
          <a:off x="5493271" y="1394608"/>
          <a:ext cx="6878541" cy="5191760"/>
        </p:xfrm>
        <a:graphic>
          <a:graphicData uri="http://schemas.openxmlformats.org/drawingml/2006/table">
            <a:tbl>
              <a:tblPr firstRow="1" bandRow="1">
                <a:tableStyleId>{5C22544A-7EE6-4342-B048-85BDC9FD1C3A}</a:tableStyleId>
              </a:tblPr>
              <a:tblGrid>
                <a:gridCol w="2292847">
                  <a:extLst>
                    <a:ext uri="{9D8B030D-6E8A-4147-A177-3AD203B41FA5}">
                      <a16:colId xmlns:a16="http://schemas.microsoft.com/office/drawing/2014/main" val="1958976516"/>
                    </a:ext>
                  </a:extLst>
                </a:gridCol>
                <a:gridCol w="2292847">
                  <a:extLst>
                    <a:ext uri="{9D8B030D-6E8A-4147-A177-3AD203B41FA5}">
                      <a16:colId xmlns:a16="http://schemas.microsoft.com/office/drawing/2014/main" val="330300139"/>
                    </a:ext>
                  </a:extLst>
                </a:gridCol>
                <a:gridCol w="2292847">
                  <a:extLst>
                    <a:ext uri="{9D8B030D-6E8A-4147-A177-3AD203B41FA5}">
                      <a16:colId xmlns:a16="http://schemas.microsoft.com/office/drawing/2014/main" val="1406726096"/>
                    </a:ext>
                  </a:extLst>
                </a:gridCol>
              </a:tblGrid>
              <a:tr h="370840">
                <a:tc>
                  <a:txBody>
                    <a:bodyPr/>
                    <a:lstStyle/>
                    <a:p>
                      <a:r>
                        <a:rPr lang="zh-CN" altLang="en-US" dirty="0"/>
                        <a:t>数据字段</a:t>
                      </a:r>
                    </a:p>
                  </a:txBody>
                  <a:tcPr/>
                </a:tc>
                <a:tc>
                  <a:txBody>
                    <a:bodyPr/>
                    <a:lstStyle/>
                    <a:p>
                      <a:r>
                        <a:rPr lang="zh-CN" altLang="en-US" dirty="0"/>
                        <a:t>解释</a:t>
                      </a:r>
                    </a:p>
                  </a:txBody>
                  <a:tcPr/>
                </a:tc>
                <a:tc>
                  <a:txBody>
                    <a:bodyPr/>
                    <a:lstStyle/>
                    <a:p>
                      <a:r>
                        <a:rPr lang="zh-CN" altLang="en-US" dirty="0"/>
                        <a:t>备注</a:t>
                      </a:r>
                    </a:p>
                  </a:txBody>
                  <a:tcPr/>
                </a:tc>
                <a:extLst>
                  <a:ext uri="{0D108BD9-81ED-4DB2-BD59-A6C34878D82A}">
                    <a16:rowId xmlns:a16="http://schemas.microsoft.com/office/drawing/2014/main" val="91848147"/>
                  </a:ext>
                </a:extLst>
              </a:tr>
              <a:tr h="370840">
                <a:tc>
                  <a:txBody>
                    <a:bodyPr/>
                    <a:lstStyle/>
                    <a:p>
                      <a:r>
                        <a:rPr lang="en-US" altLang="zh-CN" dirty="0" err="1"/>
                        <a:t>user_id</a:t>
                      </a:r>
                      <a:endParaRPr lang="zh-CN" altLang="en-US" dirty="0"/>
                    </a:p>
                  </a:txBody>
                  <a:tcPr/>
                </a:tc>
                <a:tc>
                  <a:txBody>
                    <a:bodyPr/>
                    <a:lstStyle/>
                    <a:p>
                      <a:r>
                        <a:rPr lang="zh-CN" altLang="en-US" dirty="0"/>
                        <a:t>玩家唯一</a:t>
                      </a:r>
                      <a:r>
                        <a:rPr lang="en-US" altLang="zh-CN" dirty="0"/>
                        <a:t>ID</a:t>
                      </a:r>
                      <a:endParaRPr lang="zh-CN" altLang="en-US" dirty="0"/>
                    </a:p>
                  </a:txBody>
                  <a:tcPr/>
                </a:tc>
                <a:tc>
                  <a:txBody>
                    <a:bodyPr/>
                    <a:lstStyle/>
                    <a:p>
                      <a:endParaRPr lang="zh-CN" altLang="en-US" dirty="0"/>
                    </a:p>
                  </a:txBody>
                  <a:tcPr/>
                </a:tc>
                <a:extLst>
                  <a:ext uri="{0D108BD9-81ED-4DB2-BD59-A6C34878D82A}">
                    <a16:rowId xmlns:a16="http://schemas.microsoft.com/office/drawing/2014/main" val="1388441864"/>
                  </a:ext>
                </a:extLst>
              </a:tr>
              <a:tr h="370840">
                <a:tc>
                  <a:txBody>
                    <a:bodyPr/>
                    <a:lstStyle/>
                    <a:p>
                      <a:r>
                        <a:rPr lang="en-US" altLang="zh-CN" dirty="0" err="1"/>
                        <a:t>register_time</a:t>
                      </a:r>
                      <a:endParaRPr lang="zh-CN" altLang="en-US" dirty="0"/>
                    </a:p>
                  </a:txBody>
                  <a:tcPr/>
                </a:tc>
                <a:tc>
                  <a:txBody>
                    <a:bodyPr/>
                    <a:lstStyle/>
                    <a:p>
                      <a:r>
                        <a:rPr lang="zh-CN" altLang="en-US" dirty="0"/>
                        <a:t>注册时间</a:t>
                      </a:r>
                    </a:p>
                  </a:txBody>
                  <a:tcPr/>
                </a:tc>
                <a:tc>
                  <a:txBody>
                    <a:bodyPr/>
                    <a:lstStyle/>
                    <a:p>
                      <a:endParaRPr lang="zh-CN" altLang="en-US" dirty="0"/>
                    </a:p>
                  </a:txBody>
                  <a:tcPr/>
                </a:tc>
                <a:extLst>
                  <a:ext uri="{0D108BD9-81ED-4DB2-BD59-A6C34878D82A}">
                    <a16:rowId xmlns:a16="http://schemas.microsoft.com/office/drawing/2014/main" val="3351255196"/>
                  </a:ext>
                </a:extLst>
              </a:tr>
              <a:tr h="370840">
                <a:tc>
                  <a:txBody>
                    <a:bodyPr/>
                    <a:lstStyle/>
                    <a:p>
                      <a:r>
                        <a:rPr lang="en-US" altLang="zh-CN" sz="1800" b="0" i="0" kern="1200" dirty="0" err="1">
                          <a:solidFill>
                            <a:schemeClr val="dk1"/>
                          </a:solidFill>
                          <a:effectLst/>
                          <a:latin typeface="+mn-lt"/>
                          <a:ea typeface="+mn-ea"/>
                          <a:cs typeface="+mn-cs"/>
                        </a:rPr>
                        <a:t>bd_stronghold_level</a:t>
                      </a:r>
                      <a:endParaRPr lang="zh-CN" altLang="en-US" dirty="0"/>
                    </a:p>
                  </a:txBody>
                  <a:tcPr/>
                </a:tc>
                <a:tc>
                  <a:txBody>
                    <a:bodyPr/>
                    <a:lstStyle/>
                    <a:p>
                      <a:r>
                        <a:rPr lang="zh-CN" altLang="en-US" sz="1800" b="0" i="0" kern="1200" dirty="0">
                          <a:solidFill>
                            <a:schemeClr val="dk1"/>
                          </a:solidFill>
                          <a:effectLst/>
                          <a:latin typeface="+mn-lt"/>
                          <a:ea typeface="+mn-ea"/>
                          <a:cs typeface="+mn-cs"/>
                        </a:rPr>
                        <a:t>要塞等级</a:t>
                      </a:r>
                      <a:endParaRPr lang="zh-CN" altLang="en-US" dirty="0"/>
                    </a:p>
                  </a:txBody>
                  <a:tcPr/>
                </a:tc>
                <a:tc>
                  <a:txBody>
                    <a:bodyPr/>
                    <a:lstStyle/>
                    <a:p>
                      <a:r>
                        <a:rPr lang="zh-CN" altLang="en-US" sz="1800" b="0" i="0" kern="1200" dirty="0">
                          <a:solidFill>
                            <a:schemeClr val="dk1"/>
                          </a:solidFill>
                          <a:effectLst/>
                          <a:latin typeface="+mn-lt"/>
                          <a:ea typeface="+mn-ea"/>
                          <a:cs typeface="+mn-cs"/>
                        </a:rPr>
                        <a:t>前</a:t>
                      </a:r>
                      <a:r>
                        <a:rPr lang="en-US" altLang="zh-CN" sz="1800" b="0" i="0" kern="1200" dirty="0">
                          <a:solidFill>
                            <a:schemeClr val="dk1"/>
                          </a:solidFill>
                          <a:effectLst/>
                          <a:latin typeface="+mn-lt"/>
                          <a:ea typeface="+mn-ea"/>
                          <a:cs typeface="+mn-cs"/>
                        </a:rPr>
                        <a:t>7</a:t>
                      </a:r>
                      <a:r>
                        <a:rPr lang="zh-CN" altLang="en-US" sz="1800" b="0" i="0" kern="1200" dirty="0">
                          <a:solidFill>
                            <a:schemeClr val="dk1"/>
                          </a:solidFill>
                          <a:effectLst/>
                          <a:latin typeface="+mn-lt"/>
                          <a:ea typeface="+mn-ea"/>
                          <a:cs typeface="+mn-cs"/>
                        </a:rPr>
                        <a:t>日</a:t>
                      </a:r>
                      <a:endParaRPr lang="zh-CN" altLang="en-US" dirty="0"/>
                    </a:p>
                  </a:txBody>
                  <a:tcPr/>
                </a:tc>
                <a:extLst>
                  <a:ext uri="{0D108BD9-81ED-4DB2-BD59-A6C34878D82A}">
                    <a16:rowId xmlns:a16="http://schemas.microsoft.com/office/drawing/2014/main" val="2552384298"/>
                  </a:ext>
                </a:extLst>
              </a:tr>
              <a:tr h="370840">
                <a:tc>
                  <a:txBody>
                    <a:bodyPr/>
                    <a:lstStyle/>
                    <a:p>
                      <a:r>
                        <a:rPr lang="en-US" altLang="zh-CN" sz="1800" b="0" i="0" kern="1200" dirty="0" err="1">
                          <a:solidFill>
                            <a:schemeClr val="dk1"/>
                          </a:solidFill>
                          <a:effectLst/>
                          <a:latin typeface="+mn-lt"/>
                          <a:ea typeface="+mn-ea"/>
                          <a:cs typeface="+mn-cs"/>
                        </a:rPr>
                        <a:t>pvp_battle_count</a:t>
                      </a:r>
                      <a:endParaRPr lang="zh-CN" altLang="en-US" dirty="0"/>
                    </a:p>
                  </a:txBody>
                  <a:tcPr/>
                </a:tc>
                <a:tc>
                  <a:txBody>
                    <a:bodyPr/>
                    <a:lstStyle/>
                    <a:p>
                      <a:r>
                        <a:rPr lang="en-US" altLang="zh-CN" sz="1800" b="0" i="0" kern="1200" dirty="0">
                          <a:solidFill>
                            <a:schemeClr val="dk1"/>
                          </a:solidFill>
                          <a:effectLst/>
                          <a:latin typeface="+mn-lt"/>
                          <a:ea typeface="+mn-ea"/>
                          <a:cs typeface="+mn-cs"/>
                        </a:rPr>
                        <a:t>PVP</a:t>
                      </a:r>
                      <a:r>
                        <a:rPr lang="zh-CN" altLang="en-US" sz="1800" b="0" i="0" kern="1200" dirty="0">
                          <a:solidFill>
                            <a:schemeClr val="dk1"/>
                          </a:solidFill>
                          <a:effectLst/>
                          <a:latin typeface="+mn-lt"/>
                          <a:ea typeface="+mn-ea"/>
                          <a:cs typeface="+mn-cs"/>
                        </a:rPr>
                        <a:t>次数</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kern="1200" dirty="0">
                          <a:solidFill>
                            <a:schemeClr val="dk1"/>
                          </a:solidFill>
                          <a:effectLst/>
                          <a:latin typeface="+mn-lt"/>
                          <a:ea typeface="+mn-ea"/>
                          <a:cs typeface="+mn-cs"/>
                        </a:rPr>
                        <a:t>前</a:t>
                      </a:r>
                      <a:r>
                        <a:rPr lang="en-US" altLang="zh-CN" sz="1800" b="0" i="0" kern="1200" dirty="0">
                          <a:solidFill>
                            <a:schemeClr val="dk1"/>
                          </a:solidFill>
                          <a:effectLst/>
                          <a:latin typeface="+mn-lt"/>
                          <a:ea typeface="+mn-ea"/>
                          <a:cs typeface="+mn-cs"/>
                        </a:rPr>
                        <a:t>7</a:t>
                      </a:r>
                      <a:r>
                        <a:rPr lang="zh-CN" altLang="en-US" sz="1800" b="0" i="0" kern="1200" dirty="0">
                          <a:solidFill>
                            <a:schemeClr val="dk1"/>
                          </a:solidFill>
                          <a:effectLst/>
                          <a:latin typeface="+mn-lt"/>
                          <a:ea typeface="+mn-ea"/>
                          <a:cs typeface="+mn-cs"/>
                        </a:rPr>
                        <a:t>日</a:t>
                      </a:r>
                      <a:endParaRPr lang="zh-CN" altLang="en-US" dirty="0"/>
                    </a:p>
                  </a:txBody>
                  <a:tcPr/>
                </a:tc>
                <a:extLst>
                  <a:ext uri="{0D108BD9-81ED-4DB2-BD59-A6C34878D82A}">
                    <a16:rowId xmlns:a16="http://schemas.microsoft.com/office/drawing/2014/main" val="2633745318"/>
                  </a:ext>
                </a:extLst>
              </a:tr>
              <a:tr h="370840">
                <a:tc>
                  <a:txBody>
                    <a:bodyPr/>
                    <a:lstStyle/>
                    <a:p>
                      <a:r>
                        <a:rPr lang="en-US" altLang="zh-CN" sz="1800" b="0" i="0" kern="1200" dirty="0" err="1">
                          <a:solidFill>
                            <a:schemeClr val="dk1"/>
                          </a:solidFill>
                          <a:effectLst/>
                          <a:latin typeface="+mn-lt"/>
                          <a:ea typeface="+mn-ea"/>
                          <a:cs typeface="+mn-cs"/>
                        </a:rPr>
                        <a:t>pvp_lanch_count</a:t>
                      </a:r>
                      <a:endParaRPr lang="zh-CN" altLang="en-US" dirty="0"/>
                    </a:p>
                  </a:txBody>
                  <a:tcPr/>
                </a:tc>
                <a:tc>
                  <a:txBody>
                    <a:bodyPr/>
                    <a:lstStyle/>
                    <a:p>
                      <a:r>
                        <a:rPr lang="zh-CN" altLang="en-US" sz="1800" b="0" i="0" kern="1200" dirty="0">
                          <a:solidFill>
                            <a:schemeClr val="dk1"/>
                          </a:solidFill>
                          <a:effectLst/>
                          <a:latin typeface="+mn-lt"/>
                          <a:ea typeface="+mn-ea"/>
                          <a:cs typeface="+mn-cs"/>
                        </a:rPr>
                        <a:t>主动发起</a:t>
                      </a:r>
                      <a:r>
                        <a:rPr lang="en-US" altLang="zh-CN" sz="1800" b="0" i="0" kern="1200" dirty="0">
                          <a:solidFill>
                            <a:schemeClr val="dk1"/>
                          </a:solidFill>
                          <a:effectLst/>
                          <a:latin typeface="+mn-lt"/>
                          <a:ea typeface="+mn-ea"/>
                          <a:cs typeface="+mn-cs"/>
                        </a:rPr>
                        <a:t>PVP</a:t>
                      </a:r>
                      <a:r>
                        <a:rPr lang="zh-CN" altLang="en-US" sz="1800" b="0" i="0" kern="1200" dirty="0">
                          <a:solidFill>
                            <a:schemeClr val="dk1"/>
                          </a:solidFill>
                          <a:effectLst/>
                          <a:latin typeface="+mn-lt"/>
                          <a:ea typeface="+mn-ea"/>
                          <a:cs typeface="+mn-cs"/>
                        </a:rPr>
                        <a:t>次数</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kern="1200" dirty="0">
                          <a:solidFill>
                            <a:schemeClr val="dk1"/>
                          </a:solidFill>
                          <a:effectLst/>
                          <a:latin typeface="+mn-lt"/>
                          <a:ea typeface="+mn-ea"/>
                          <a:cs typeface="+mn-cs"/>
                        </a:rPr>
                        <a:t>前</a:t>
                      </a:r>
                      <a:r>
                        <a:rPr lang="en-US" altLang="zh-CN" sz="1800" b="0" i="0" kern="1200" dirty="0">
                          <a:solidFill>
                            <a:schemeClr val="dk1"/>
                          </a:solidFill>
                          <a:effectLst/>
                          <a:latin typeface="+mn-lt"/>
                          <a:ea typeface="+mn-ea"/>
                          <a:cs typeface="+mn-cs"/>
                        </a:rPr>
                        <a:t>7</a:t>
                      </a:r>
                      <a:r>
                        <a:rPr lang="zh-CN" altLang="en-US" sz="1800" b="0" i="0" kern="1200" dirty="0">
                          <a:solidFill>
                            <a:schemeClr val="dk1"/>
                          </a:solidFill>
                          <a:effectLst/>
                          <a:latin typeface="+mn-lt"/>
                          <a:ea typeface="+mn-ea"/>
                          <a:cs typeface="+mn-cs"/>
                        </a:rPr>
                        <a:t>日</a:t>
                      </a:r>
                      <a:endParaRPr lang="zh-CN" altLang="en-US" dirty="0"/>
                    </a:p>
                  </a:txBody>
                  <a:tcPr/>
                </a:tc>
                <a:extLst>
                  <a:ext uri="{0D108BD9-81ED-4DB2-BD59-A6C34878D82A}">
                    <a16:rowId xmlns:a16="http://schemas.microsoft.com/office/drawing/2014/main" val="55262314"/>
                  </a:ext>
                </a:extLst>
              </a:tr>
              <a:tr h="370840">
                <a:tc>
                  <a:txBody>
                    <a:bodyPr/>
                    <a:lstStyle/>
                    <a:p>
                      <a:r>
                        <a:rPr lang="en-US" altLang="zh-CN" sz="1800" b="0" i="0" kern="1200" dirty="0" err="1">
                          <a:solidFill>
                            <a:schemeClr val="dk1"/>
                          </a:solidFill>
                          <a:effectLst/>
                          <a:latin typeface="+mn-lt"/>
                          <a:ea typeface="+mn-ea"/>
                          <a:cs typeface="+mn-cs"/>
                        </a:rPr>
                        <a:t>pvp_win_count</a:t>
                      </a:r>
                      <a:endParaRPr lang="zh-CN" altLang="en-US" dirty="0"/>
                    </a:p>
                  </a:txBody>
                  <a:tcPr/>
                </a:tc>
                <a:tc>
                  <a:txBody>
                    <a:bodyPr/>
                    <a:lstStyle/>
                    <a:p>
                      <a:r>
                        <a:rPr lang="en-US" altLang="zh-CN" sz="1800" b="0" i="0" kern="1200" dirty="0">
                          <a:solidFill>
                            <a:schemeClr val="dk1"/>
                          </a:solidFill>
                          <a:effectLst/>
                          <a:latin typeface="+mn-lt"/>
                          <a:ea typeface="+mn-ea"/>
                          <a:cs typeface="+mn-cs"/>
                        </a:rPr>
                        <a:t>PVP</a:t>
                      </a:r>
                      <a:r>
                        <a:rPr lang="zh-CN" altLang="en-US" sz="1800" b="0" i="0" kern="1200" dirty="0">
                          <a:solidFill>
                            <a:schemeClr val="dk1"/>
                          </a:solidFill>
                          <a:effectLst/>
                          <a:latin typeface="+mn-lt"/>
                          <a:ea typeface="+mn-ea"/>
                          <a:cs typeface="+mn-cs"/>
                        </a:rPr>
                        <a:t>胜利次数</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kern="1200" dirty="0">
                          <a:solidFill>
                            <a:schemeClr val="dk1"/>
                          </a:solidFill>
                          <a:effectLst/>
                          <a:latin typeface="+mn-lt"/>
                          <a:ea typeface="+mn-ea"/>
                          <a:cs typeface="+mn-cs"/>
                        </a:rPr>
                        <a:t>前</a:t>
                      </a:r>
                      <a:r>
                        <a:rPr lang="en-US" altLang="zh-CN" sz="1800" b="0" i="0" kern="1200" dirty="0">
                          <a:solidFill>
                            <a:schemeClr val="dk1"/>
                          </a:solidFill>
                          <a:effectLst/>
                          <a:latin typeface="+mn-lt"/>
                          <a:ea typeface="+mn-ea"/>
                          <a:cs typeface="+mn-cs"/>
                        </a:rPr>
                        <a:t>7</a:t>
                      </a:r>
                      <a:r>
                        <a:rPr lang="zh-CN" altLang="en-US" sz="1800" b="0" i="0" kern="1200" dirty="0">
                          <a:solidFill>
                            <a:schemeClr val="dk1"/>
                          </a:solidFill>
                          <a:effectLst/>
                          <a:latin typeface="+mn-lt"/>
                          <a:ea typeface="+mn-ea"/>
                          <a:cs typeface="+mn-cs"/>
                        </a:rPr>
                        <a:t>日</a:t>
                      </a:r>
                      <a:endParaRPr lang="zh-CN" altLang="en-US" dirty="0"/>
                    </a:p>
                  </a:txBody>
                  <a:tcPr/>
                </a:tc>
                <a:extLst>
                  <a:ext uri="{0D108BD9-81ED-4DB2-BD59-A6C34878D82A}">
                    <a16:rowId xmlns:a16="http://schemas.microsoft.com/office/drawing/2014/main" val="4278086704"/>
                  </a:ext>
                </a:extLst>
              </a:tr>
              <a:tr h="370840">
                <a:tc>
                  <a:txBody>
                    <a:bodyPr/>
                    <a:lstStyle/>
                    <a:p>
                      <a:r>
                        <a:rPr lang="en-US" altLang="zh-CN" sz="1800" b="0" i="0" kern="1200" dirty="0" err="1">
                          <a:solidFill>
                            <a:schemeClr val="dk1"/>
                          </a:solidFill>
                          <a:effectLst/>
                          <a:latin typeface="+mn-lt"/>
                          <a:ea typeface="+mn-ea"/>
                          <a:cs typeface="+mn-cs"/>
                        </a:rPr>
                        <a:t>pve_battle_count</a:t>
                      </a:r>
                      <a:endParaRPr lang="zh-CN" altLang="en-US" dirty="0"/>
                    </a:p>
                  </a:txBody>
                  <a:tcPr/>
                </a:tc>
                <a:tc>
                  <a:txBody>
                    <a:bodyPr/>
                    <a:lstStyle/>
                    <a:p>
                      <a:r>
                        <a:rPr lang="en-US" altLang="zh-CN" sz="1800" b="0" i="0" kern="1200" dirty="0">
                          <a:solidFill>
                            <a:schemeClr val="dk1"/>
                          </a:solidFill>
                          <a:effectLst/>
                          <a:latin typeface="+mn-lt"/>
                          <a:ea typeface="+mn-ea"/>
                          <a:cs typeface="+mn-cs"/>
                        </a:rPr>
                        <a:t>PVE</a:t>
                      </a:r>
                      <a:r>
                        <a:rPr lang="zh-CN" altLang="en-US" sz="1800" b="0" i="0" kern="1200" dirty="0">
                          <a:solidFill>
                            <a:schemeClr val="dk1"/>
                          </a:solidFill>
                          <a:effectLst/>
                          <a:latin typeface="+mn-lt"/>
                          <a:ea typeface="+mn-ea"/>
                          <a:cs typeface="+mn-cs"/>
                        </a:rPr>
                        <a:t>次数</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kern="1200" dirty="0">
                          <a:solidFill>
                            <a:schemeClr val="dk1"/>
                          </a:solidFill>
                          <a:effectLst/>
                          <a:latin typeface="+mn-lt"/>
                          <a:ea typeface="+mn-ea"/>
                          <a:cs typeface="+mn-cs"/>
                        </a:rPr>
                        <a:t>前</a:t>
                      </a:r>
                      <a:r>
                        <a:rPr lang="en-US" altLang="zh-CN" sz="1800" b="0" i="0" kern="1200" dirty="0">
                          <a:solidFill>
                            <a:schemeClr val="dk1"/>
                          </a:solidFill>
                          <a:effectLst/>
                          <a:latin typeface="+mn-lt"/>
                          <a:ea typeface="+mn-ea"/>
                          <a:cs typeface="+mn-cs"/>
                        </a:rPr>
                        <a:t>7</a:t>
                      </a:r>
                      <a:r>
                        <a:rPr lang="zh-CN" altLang="en-US" sz="1800" b="0" i="0" kern="1200" dirty="0">
                          <a:solidFill>
                            <a:schemeClr val="dk1"/>
                          </a:solidFill>
                          <a:effectLst/>
                          <a:latin typeface="+mn-lt"/>
                          <a:ea typeface="+mn-ea"/>
                          <a:cs typeface="+mn-cs"/>
                        </a:rPr>
                        <a:t>日</a:t>
                      </a:r>
                      <a:endParaRPr lang="zh-CN" altLang="en-US" dirty="0"/>
                    </a:p>
                  </a:txBody>
                  <a:tcPr/>
                </a:tc>
                <a:extLst>
                  <a:ext uri="{0D108BD9-81ED-4DB2-BD59-A6C34878D82A}">
                    <a16:rowId xmlns:a16="http://schemas.microsoft.com/office/drawing/2014/main" val="1036074507"/>
                  </a:ext>
                </a:extLst>
              </a:tr>
              <a:tr h="370840">
                <a:tc>
                  <a:txBody>
                    <a:bodyPr/>
                    <a:lstStyle/>
                    <a:p>
                      <a:r>
                        <a:rPr lang="en-US" altLang="zh-CN" sz="1800" b="0" i="0" kern="1200" dirty="0" err="1">
                          <a:solidFill>
                            <a:schemeClr val="dk1"/>
                          </a:solidFill>
                          <a:effectLst/>
                          <a:latin typeface="+mn-lt"/>
                          <a:ea typeface="+mn-ea"/>
                          <a:cs typeface="+mn-cs"/>
                        </a:rPr>
                        <a:t>pve_lanch_count</a:t>
                      </a:r>
                      <a:endParaRPr lang="zh-CN" altLang="en-US" dirty="0"/>
                    </a:p>
                  </a:txBody>
                  <a:tcPr/>
                </a:tc>
                <a:tc>
                  <a:txBody>
                    <a:bodyPr/>
                    <a:lstStyle/>
                    <a:p>
                      <a:r>
                        <a:rPr lang="zh-CN" altLang="en-US" sz="1800" b="0" i="0" kern="1200" dirty="0">
                          <a:solidFill>
                            <a:schemeClr val="dk1"/>
                          </a:solidFill>
                          <a:effectLst/>
                          <a:latin typeface="+mn-lt"/>
                          <a:ea typeface="+mn-ea"/>
                          <a:cs typeface="+mn-cs"/>
                        </a:rPr>
                        <a:t>主动发起</a:t>
                      </a:r>
                      <a:r>
                        <a:rPr lang="en-US" altLang="zh-CN" sz="1800" b="0" i="0" kern="1200" dirty="0">
                          <a:solidFill>
                            <a:schemeClr val="dk1"/>
                          </a:solidFill>
                          <a:effectLst/>
                          <a:latin typeface="+mn-lt"/>
                          <a:ea typeface="+mn-ea"/>
                          <a:cs typeface="+mn-cs"/>
                        </a:rPr>
                        <a:t>PVE</a:t>
                      </a:r>
                      <a:r>
                        <a:rPr lang="zh-CN" altLang="en-US" sz="1800" b="0" i="0" kern="1200" dirty="0">
                          <a:solidFill>
                            <a:schemeClr val="dk1"/>
                          </a:solidFill>
                          <a:effectLst/>
                          <a:latin typeface="+mn-lt"/>
                          <a:ea typeface="+mn-ea"/>
                          <a:cs typeface="+mn-cs"/>
                        </a:rPr>
                        <a:t>次数</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kern="1200" dirty="0">
                          <a:solidFill>
                            <a:schemeClr val="dk1"/>
                          </a:solidFill>
                          <a:effectLst/>
                          <a:latin typeface="+mn-lt"/>
                          <a:ea typeface="+mn-ea"/>
                          <a:cs typeface="+mn-cs"/>
                        </a:rPr>
                        <a:t>前</a:t>
                      </a:r>
                      <a:r>
                        <a:rPr lang="en-US" altLang="zh-CN" sz="1800" b="0" i="0" kern="1200" dirty="0">
                          <a:solidFill>
                            <a:schemeClr val="dk1"/>
                          </a:solidFill>
                          <a:effectLst/>
                          <a:latin typeface="+mn-lt"/>
                          <a:ea typeface="+mn-ea"/>
                          <a:cs typeface="+mn-cs"/>
                        </a:rPr>
                        <a:t>7</a:t>
                      </a:r>
                      <a:r>
                        <a:rPr lang="zh-CN" altLang="en-US" sz="1800" b="0" i="0" kern="1200" dirty="0">
                          <a:solidFill>
                            <a:schemeClr val="dk1"/>
                          </a:solidFill>
                          <a:effectLst/>
                          <a:latin typeface="+mn-lt"/>
                          <a:ea typeface="+mn-ea"/>
                          <a:cs typeface="+mn-cs"/>
                        </a:rPr>
                        <a:t>日</a:t>
                      </a:r>
                      <a:endParaRPr lang="zh-CN" altLang="en-US" dirty="0"/>
                    </a:p>
                  </a:txBody>
                  <a:tcPr/>
                </a:tc>
                <a:extLst>
                  <a:ext uri="{0D108BD9-81ED-4DB2-BD59-A6C34878D82A}">
                    <a16:rowId xmlns:a16="http://schemas.microsoft.com/office/drawing/2014/main" val="1703366153"/>
                  </a:ext>
                </a:extLst>
              </a:tr>
              <a:tr h="370840">
                <a:tc>
                  <a:txBody>
                    <a:bodyPr/>
                    <a:lstStyle/>
                    <a:p>
                      <a:r>
                        <a:rPr lang="en-US" altLang="zh-CN" sz="1800" b="0" i="0" kern="1200" dirty="0" err="1">
                          <a:solidFill>
                            <a:schemeClr val="dk1"/>
                          </a:solidFill>
                          <a:effectLst/>
                          <a:latin typeface="+mn-lt"/>
                          <a:ea typeface="+mn-ea"/>
                          <a:cs typeface="+mn-cs"/>
                        </a:rPr>
                        <a:t>pve_win_count</a:t>
                      </a:r>
                      <a:endParaRPr lang="zh-CN" altLang="en-US" dirty="0"/>
                    </a:p>
                  </a:txBody>
                  <a:tcPr/>
                </a:tc>
                <a:tc>
                  <a:txBody>
                    <a:bodyPr/>
                    <a:lstStyle/>
                    <a:p>
                      <a:r>
                        <a:rPr lang="en-US" altLang="zh-CN" sz="1800" b="0" i="0" kern="1200" dirty="0">
                          <a:solidFill>
                            <a:schemeClr val="dk1"/>
                          </a:solidFill>
                          <a:effectLst/>
                          <a:latin typeface="+mn-lt"/>
                          <a:ea typeface="+mn-ea"/>
                          <a:cs typeface="+mn-cs"/>
                        </a:rPr>
                        <a:t>PVE</a:t>
                      </a:r>
                      <a:r>
                        <a:rPr lang="zh-CN" altLang="en-US" sz="1800" b="0" i="0" kern="1200" dirty="0">
                          <a:solidFill>
                            <a:schemeClr val="dk1"/>
                          </a:solidFill>
                          <a:effectLst/>
                          <a:latin typeface="+mn-lt"/>
                          <a:ea typeface="+mn-ea"/>
                          <a:cs typeface="+mn-cs"/>
                        </a:rPr>
                        <a:t>胜利次数</a:t>
                      </a:r>
                      <a:endParaRPr lang="zh-CN" altLang="en-US" dirty="0"/>
                    </a:p>
                  </a:txBody>
                  <a:tcPr/>
                </a:tc>
                <a:tc>
                  <a:txBody>
                    <a:bodyPr/>
                    <a:lstStyle/>
                    <a:p>
                      <a:r>
                        <a:rPr lang="zh-CN" altLang="en-US" dirty="0"/>
                        <a:t>前</a:t>
                      </a:r>
                      <a:r>
                        <a:rPr lang="en-US" altLang="zh-CN" dirty="0"/>
                        <a:t>7</a:t>
                      </a:r>
                      <a:r>
                        <a:rPr lang="zh-CN" altLang="en-US" dirty="0"/>
                        <a:t>日</a:t>
                      </a:r>
                    </a:p>
                  </a:txBody>
                  <a:tcPr/>
                </a:tc>
                <a:extLst>
                  <a:ext uri="{0D108BD9-81ED-4DB2-BD59-A6C34878D82A}">
                    <a16:rowId xmlns:a16="http://schemas.microsoft.com/office/drawing/2014/main" val="3027561582"/>
                  </a:ext>
                </a:extLst>
              </a:tr>
              <a:tr h="370840">
                <a:tc>
                  <a:txBody>
                    <a:bodyPr/>
                    <a:lstStyle/>
                    <a:p>
                      <a:r>
                        <a:rPr lang="en-US" altLang="zh-CN" sz="1800" b="0" i="0" kern="1200" dirty="0" err="1">
                          <a:solidFill>
                            <a:schemeClr val="dk1"/>
                          </a:solidFill>
                          <a:effectLst/>
                          <a:latin typeface="+mn-lt"/>
                          <a:ea typeface="+mn-ea"/>
                          <a:cs typeface="+mn-cs"/>
                        </a:rPr>
                        <a:t>avg_online_minutes</a:t>
                      </a:r>
                      <a:endParaRPr lang="zh-CN" altLang="en-US" dirty="0"/>
                    </a:p>
                  </a:txBody>
                  <a:tcPr/>
                </a:tc>
                <a:tc>
                  <a:txBody>
                    <a:bodyPr/>
                    <a:lstStyle/>
                    <a:p>
                      <a:r>
                        <a:rPr lang="zh-CN" altLang="en-US" dirty="0"/>
                        <a:t>日均在线时间</a:t>
                      </a:r>
                    </a:p>
                  </a:txBody>
                  <a:tcPr/>
                </a:tc>
                <a:tc>
                  <a:txBody>
                    <a:bodyPr/>
                    <a:lstStyle/>
                    <a:p>
                      <a:r>
                        <a:rPr lang="zh-CN" altLang="en-US" dirty="0"/>
                        <a:t>前</a:t>
                      </a:r>
                      <a:r>
                        <a:rPr lang="en-US" altLang="zh-CN" dirty="0"/>
                        <a:t>7</a:t>
                      </a:r>
                      <a:r>
                        <a:rPr lang="zh-CN" altLang="en-US" dirty="0"/>
                        <a:t>日</a:t>
                      </a:r>
                    </a:p>
                  </a:txBody>
                  <a:tcPr/>
                </a:tc>
                <a:extLst>
                  <a:ext uri="{0D108BD9-81ED-4DB2-BD59-A6C34878D82A}">
                    <a16:rowId xmlns:a16="http://schemas.microsoft.com/office/drawing/2014/main" val="3949875485"/>
                  </a:ext>
                </a:extLst>
              </a:tr>
              <a:tr h="370840">
                <a:tc>
                  <a:txBody>
                    <a:bodyPr/>
                    <a:lstStyle/>
                    <a:p>
                      <a:r>
                        <a:rPr lang="en-US" altLang="zh-CN" sz="1800" b="0" i="0" kern="1200" dirty="0" err="1">
                          <a:solidFill>
                            <a:schemeClr val="dk1"/>
                          </a:solidFill>
                          <a:effectLst/>
                          <a:latin typeface="+mn-lt"/>
                          <a:ea typeface="+mn-ea"/>
                          <a:cs typeface="+mn-cs"/>
                        </a:rPr>
                        <a:t>pay_price</a:t>
                      </a:r>
                      <a:endParaRPr lang="zh-CN" altLang="en-US" dirty="0"/>
                    </a:p>
                  </a:txBody>
                  <a:tcPr/>
                </a:tc>
                <a:tc>
                  <a:txBody>
                    <a:bodyPr/>
                    <a:lstStyle/>
                    <a:p>
                      <a:r>
                        <a:rPr lang="zh-CN" altLang="en-US" sz="1800" b="0" i="0" kern="1200" dirty="0">
                          <a:solidFill>
                            <a:schemeClr val="dk1"/>
                          </a:solidFill>
                          <a:effectLst/>
                          <a:latin typeface="+mn-lt"/>
                          <a:ea typeface="+mn-ea"/>
                          <a:cs typeface="+mn-cs"/>
                        </a:rPr>
                        <a:t>付费总金额</a:t>
                      </a:r>
                      <a:endParaRPr lang="zh-CN" altLang="en-US" dirty="0"/>
                    </a:p>
                  </a:txBody>
                  <a:tcPr/>
                </a:tc>
                <a:tc>
                  <a:txBody>
                    <a:bodyPr/>
                    <a:lstStyle/>
                    <a:p>
                      <a:r>
                        <a:rPr lang="zh-CN" altLang="en-US" dirty="0"/>
                        <a:t>前</a:t>
                      </a:r>
                      <a:r>
                        <a:rPr lang="en-US" altLang="zh-CN" dirty="0"/>
                        <a:t>7</a:t>
                      </a:r>
                      <a:r>
                        <a:rPr lang="zh-CN" altLang="en-US" dirty="0"/>
                        <a:t>日</a:t>
                      </a:r>
                    </a:p>
                  </a:txBody>
                  <a:tcPr/>
                </a:tc>
                <a:extLst>
                  <a:ext uri="{0D108BD9-81ED-4DB2-BD59-A6C34878D82A}">
                    <a16:rowId xmlns:a16="http://schemas.microsoft.com/office/drawing/2014/main" val="2999066315"/>
                  </a:ext>
                </a:extLst>
              </a:tr>
              <a:tr h="370840">
                <a:tc>
                  <a:txBody>
                    <a:bodyPr/>
                    <a:lstStyle/>
                    <a:p>
                      <a:r>
                        <a:rPr lang="en-US" altLang="zh-CN" sz="1800" b="0" i="0" kern="1200" dirty="0" err="1">
                          <a:solidFill>
                            <a:schemeClr val="dk1"/>
                          </a:solidFill>
                          <a:effectLst/>
                          <a:latin typeface="+mn-lt"/>
                          <a:ea typeface="+mn-ea"/>
                          <a:cs typeface="+mn-cs"/>
                        </a:rPr>
                        <a:t>pay_count</a:t>
                      </a:r>
                      <a:endParaRPr lang="zh-CN" altLang="en-US" dirty="0"/>
                    </a:p>
                  </a:txBody>
                  <a:tcPr/>
                </a:tc>
                <a:tc>
                  <a:txBody>
                    <a:bodyPr/>
                    <a:lstStyle/>
                    <a:p>
                      <a:r>
                        <a:rPr lang="zh-CN" altLang="en-US" sz="1800" b="0" i="0" kern="1200" dirty="0">
                          <a:solidFill>
                            <a:schemeClr val="dk1"/>
                          </a:solidFill>
                          <a:effectLst/>
                          <a:latin typeface="+mn-lt"/>
                          <a:ea typeface="+mn-ea"/>
                          <a:cs typeface="+mn-cs"/>
                        </a:rPr>
                        <a:t>付费次数</a:t>
                      </a:r>
                      <a:endParaRPr lang="zh-CN" altLang="en-US" dirty="0"/>
                    </a:p>
                  </a:txBody>
                  <a:tcPr/>
                </a:tc>
                <a:tc>
                  <a:txBody>
                    <a:bodyPr/>
                    <a:lstStyle/>
                    <a:p>
                      <a:r>
                        <a:rPr lang="zh-CN" altLang="en-US" dirty="0"/>
                        <a:t>前</a:t>
                      </a:r>
                      <a:r>
                        <a:rPr lang="en-US" altLang="zh-CN" dirty="0"/>
                        <a:t>7</a:t>
                      </a:r>
                      <a:r>
                        <a:rPr lang="zh-CN" altLang="en-US" dirty="0"/>
                        <a:t>日</a:t>
                      </a:r>
                    </a:p>
                  </a:txBody>
                  <a:tcPr/>
                </a:tc>
                <a:extLst>
                  <a:ext uri="{0D108BD9-81ED-4DB2-BD59-A6C34878D82A}">
                    <a16:rowId xmlns:a16="http://schemas.microsoft.com/office/drawing/2014/main" val="3417194545"/>
                  </a:ext>
                </a:extLst>
              </a:tr>
              <a:tr h="370840">
                <a:tc>
                  <a:txBody>
                    <a:bodyPr/>
                    <a:lstStyle/>
                    <a:p>
                      <a:r>
                        <a:rPr lang="en-US" altLang="zh-CN" sz="1800" b="0" i="0" kern="1200" dirty="0" err="1">
                          <a:solidFill>
                            <a:schemeClr val="dk1"/>
                          </a:solidFill>
                          <a:effectLst/>
                          <a:latin typeface="+mn-lt"/>
                          <a:ea typeface="+mn-ea"/>
                          <a:cs typeface="+mn-cs"/>
                        </a:rPr>
                        <a:t>prediction_pay_price</a:t>
                      </a:r>
                      <a:endParaRPr lang="zh-CN" altLang="en-US" dirty="0"/>
                    </a:p>
                  </a:txBody>
                  <a:tcPr/>
                </a:tc>
                <a:tc>
                  <a:txBody>
                    <a:bodyPr/>
                    <a:lstStyle/>
                    <a:p>
                      <a:r>
                        <a:rPr lang="en-US" altLang="zh-CN" sz="1800" b="0" i="0" kern="1200" dirty="0">
                          <a:solidFill>
                            <a:schemeClr val="dk1"/>
                          </a:solidFill>
                          <a:effectLst/>
                          <a:latin typeface="+mn-lt"/>
                          <a:ea typeface="+mn-ea"/>
                          <a:cs typeface="+mn-cs"/>
                        </a:rPr>
                        <a:t>45</a:t>
                      </a:r>
                      <a:r>
                        <a:rPr lang="zh-CN" altLang="en-US" sz="1800" b="0" i="0" kern="1200" dirty="0">
                          <a:solidFill>
                            <a:schemeClr val="dk1"/>
                          </a:solidFill>
                          <a:effectLst/>
                          <a:latin typeface="+mn-lt"/>
                          <a:ea typeface="+mn-ea"/>
                          <a:cs typeface="+mn-cs"/>
                        </a:rPr>
                        <a:t>日付费金额</a:t>
                      </a:r>
                      <a:endParaRPr lang="zh-CN" altLang="en-US" dirty="0"/>
                    </a:p>
                  </a:txBody>
                  <a:tcPr/>
                </a:tc>
                <a:tc>
                  <a:txBody>
                    <a:bodyPr/>
                    <a:lstStyle/>
                    <a:p>
                      <a:r>
                        <a:rPr lang="zh-CN" altLang="en-US" dirty="0"/>
                        <a:t>前</a:t>
                      </a:r>
                      <a:r>
                        <a:rPr lang="en-US" altLang="zh-CN" dirty="0"/>
                        <a:t>45</a:t>
                      </a:r>
                      <a:r>
                        <a:rPr lang="zh-CN" altLang="en-US" dirty="0"/>
                        <a:t>日</a:t>
                      </a:r>
                    </a:p>
                  </a:txBody>
                  <a:tcPr/>
                </a:tc>
                <a:extLst>
                  <a:ext uri="{0D108BD9-81ED-4DB2-BD59-A6C34878D82A}">
                    <a16:rowId xmlns:a16="http://schemas.microsoft.com/office/drawing/2014/main" val="2110288501"/>
                  </a:ext>
                </a:extLst>
              </a:tr>
            </a:tbl>
          </a:graphicData>
        </a:graphic>
      </p:graphicFrame>
      <p:sp>
        <p:nvSpPr>
          <p:cNvPr id="8" name="文本框 7">
            <a:extLst>
              <a:ext uri="{FF2B5EF4-FFF2-40B4-BE49-F238E27FC236}">
                <a16:creationId xmlns:a16="http://schemas.microsoft.com/office/drawing/2014/main" id="{0BE883AA-4340-4C58-B8CB-5C7367C97560}"/>
              </a:ext>
            </a:extLst>
          </p:cNvPr>
          <p:cNvSpPr txBox="1"/>
          <p:nvPr/>
        </p:nvSpPr>
        <p:spPr>
          <a:xfrm>
            <a:off x="682626" y="760635"/>
            <a:ext cx="4666629" cy="3437736"/>
          </a:xfrm>
          <a:prstGeom prst="rect">
            <a:avLst/>
          </a:prstGeom>
          <a:noFill/>
        </p:spPr>
        <p:txBody>
          <a:bodyPr wrap="square" rtlCol="0">
            <a:spAutoFit/>
          </a:bodyPr>
          <a:lstStyle/>
          <a:p>
            <a:pPr>
              <a:lnSpc>
                <a:spcPct val="125000"/>
              </a:lnSpc>
            </a:pPr>
            <a:r>
              <a:rPr lang="zh-CN" altLang="en-US" sz="2800" b="1" dirty="0"/>
              <a:t>数据预处理</a:t>
            </a:r>
            <a:endParaRPr lang="en-US" altLang="zh-CN" sz="2800" b="1" dirty="0"/>
          </a:p>
          <a:p>
            <a:pPr>
              <a:lnSpc>
                <a:spcPct val="125000"/>
              </a:lnSpc>
            </a:pPr>
            <a:endParaRPr lang="en-US" altLang="zh-CN" sz="2800" b="1" dirty="0"/>
          </a:p>
          <a:p>
            <a:pPr marL="342900" indent="-342900">
              <a:lnSpc>
                <a:spcPct val="125000"/>
              </a:lnSpc>
              <a:buFont typeface="Wingdings" panose="05000000000000000000" pitchFamily="2" charset="2"/>
              <a:buChar char="l"/>
            </a:pPr>
            <a:r>
              <a:rPr lang="zh-CN" altLang="en-US" sz="2400" dirty="0"/>
              <a:t>数据清洗：剔除非活跃用户</a:t>
            </a:r>
            <a:endParaRPr lang="en-US" altLang="zh-CN" sz="2400" dirty="0"/>
          </a:p>
          <a:p>
            <a:pPr marL="342900" indent="-342900">
              <a:lnSpc>
                <a:spcPct val="125000"/>
              </a:lnSpc>
              <a:buFont typeface="Wingdings" panose="05000000000000000000" pitchFamily="2" charset="2"/>
              <a:buChar char="l"/>
            </a:pPr>
            <a:endParaRPr lang="en-US" altLang="zh-CN" sz="2400" dirty="0"/>
          </a:p>
          <a:p>
            <a:pPr marL="342900" indent="-342900">
              <a:lnSpc>
                <a:spcPct val="125000"/>
              </a:lnSpc>
              <a:buFont typeface="Wingdings" panose="05000000000000000000" pitchFamily="2" charset="2"/>
              <a:buChar char="l"/>
            </a:pPr>
            <a:r>
              <a:rPr lang="zh-CN" altLang="en-US" sz="2400" dirty="0"/>
              <a:t>属性规约：去除冗余属性</a:t>
            </a:r>
            <a:endParaRPr lang="en-US" altLang="zh-CN" sz="2400" dirty="0"/>
          </a:p>
          <a:p>
            <a:pPr marL="342900" indent="-342900">
              <a:lnSpc>
                <a:spcPct val="125000"/>
              </a:lnSpc>
              <a:buFont typeface="Wingdings" panose="05000000000000000000" pitchFamily="2" charset="2"/>
              <a:buChar char="l"/>
            </a:pPr>
            <a:endParaRPr lang="en-US" altLang="zh-CN" sz="2400" dirty="0"/>
          </a:p>
          <a:p>
            <a:pPr marL="342900" indent="-342900">
              <a:lnSpc>
                <a:spcPct val="125000"/>
              </a:lnSpc>
              <a:buFont typeface="Wingdings" panose="05000000000000000000" pitchFamily="2" charset="2"/>
              <a:buChar char="l"/>
            </a:pPr>
            <a:r>
              <a:rPr lang="zh-CN" altLang="en-US" sz="2400" dirty="0"/>
              <a:t>数据变换：得到玩家在线时长</a:t>
            </a:r>
            <a:endParaRPr lang="en-US" altLang="zh-CN" sz="2400" dirty="0"/>
          </a:p>
        </p:txBody>
      </p:sp>
    </p:spTree>
    <p:extLst>
      <p:ext uri="{BB962C8B-B14F-4D97-AF65-F5344CB8AC3E}">
        <p14:creationId xmlns:p14="http://schemas.microsoft.com/office/powerpoint/2010/main" val="117563525"/>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48"/>
          <p:cNvSpPr txBox="1"/>
          <p:nvPr/>
        </p:nvSpPr>
        <p:spPr>
          <a:xfrm>
            <a:off x="6402388" y="2721165"/>
            <a:ext cx="5211563" cy="677108"/>
          </a:xfrm>
          <a:prstGeom prst="rect">
            <a:avLst/>
          </a:prstGeom>
          <a:noFill/>
        </p:spPr>
        <p:txBody>
          <a:bodyPr wrap="square" lIns="0" tIns="0" rIns="0" bIns="0" rtlCol="0">
            <a:spAutoFit/>
          </a:bodyPr>
          <a:lstStyle/>
          <a:p>
            <a:r>
              <a:rPr lang="zh-CN" altLang="en-US" sz="4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模型构建与评价</a:t>
            </a:r>
            <a:endParaRPr lang="en-US" sz="4400"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15" name="矩形 259"/>
          <p:cNvSpPr>
            <a:spLocks noChangeArrowheads="1"/>
          </p:cNvSpPr>
          <p:nvPr/>
        </p:nvSpPr>
        <p:spPr bwMode="auto">
          <a:xfrm>
            <a:off x="3255952" y="1951625"/>
            <a:ext cx="2196442"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8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8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8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3800" cap="all" spc="300" dirty="0">
                <a:solidFill>
                  <a:schemeClr val="accent1"/>
                </a:solidFill>
                <a:latin typeface="Impact" panose="020B0806030902050204" pitchFamily="34" charset="0"/>
                <a:cs typeface="Arial" panose="02080604020202020204" pitchFamily="34" charset="0"/>
              </a:rPr>
              <a:t>03</a:t>
            </a:r>
            <a:endParaRPr lang="zh-CN" altLang="en-US" sz="13800" cap="all" spc="300" dirty="0">
              <a:solidFill>
                <a:schemeClr val="accent1"/>
              </a:solidFill>
              <a:latin typeface="Impact" panose="020B0806030902050204" pitchFamily="34" charset="0"/>
              <a:cs typeface="Arial" panose="0208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3" name="灯片编号占位符 2">
            <a:extLst>
              <a:ext uri="{FF2B5EF4-FFF2-40B4-BE49-F238E27FC236}">
                <a16:creationId xmlns:a16="http://schemas.microsoft.com/office/drawing/2014/main" id="{DC6A071B-EF4C-4336-87B7-2666DC95EFA1}"/>
              </a:ext>
            </a:extLst>
          </p:cNvPr>
          <p:cNvSpPr>
            <a:spLocks noGrp="1"/>
          </p:cNvSpPr>
          <p:nvPr>
            <p:ph type="sldNum" sz="quarter" idx="12"/>
          </p:nvPr>
        </p:nvSpPr>
        <p:spPr/>
        <p:txBody>
          <a:bodyPr/>
          <a:lstStyle/>
          <a:p>
            <a:fld id="{37AAA611-6692-4583-86AB-5AB9B972BD46}" type="slidenum">
              <a:rPr lang="zh-CN" altLang="en-US" smtClean="0"/>
              <a:t>17</a:t>
            </a:fld>
            <a:endParaRPr lang="zh-CN" altLang="en-US"/>
          </a:p>
        </p:txBody>
      </p:sp>
      <p:sp>
        <p:nvSpPr>
          <p:cNvPr id="4" name="日期占位符 3">
            <a:extLst>
              <a:ext uri="{FF2B5EF4-FFF2-40B4-BE49-F238E27FC236}">
                <a16:creationId xmlns:a16="http://schemas.microsoft.com/office/drawing/2014/main" id="{02E0C021-97CB-400A-9A18-394CAEBB3CCF}"/>
              </a:ext>
            </a:extLst>
          </p:cNvPr>
          <p:cNvSpPr>
            <a:spLocks noGrp="1"/>
          </p:cNvSpPr>
          <p:nvPr>
            <p:ph type="dt" sz="half" idx="10"/>
          </p:nvPr>
        </p:nvSpPr>
        <p:spPr/>
        <p:txBody>
          <a:bodyPr/>
          <a:lstStyle/>
          <a:p>
            <a:fld id="{9174C7DE-DEC8-4532-9BAE-45C0B855BAB4}" type="datetime1">
              <a:rPr lang="zh-CN" altLang="en-US" smtClean="0"/>
              <a:t>2021/6/8</a:t>
            </a:fld>
            <a:endParaRPr lang="zh-CN" altLang="en-US"/>
          </a:p>
        </p:txBody>
      </p:sp>
    </p:spTree>
    <p:extLst>
      <p:ext uri="{BB962C8B-B14F-4D97-AF65-F5344CB8AC3E}">
        <p14:creationId xmlns:p14="http://schemas.microsoft.com/office/powerpoint/2010/main" val="1963818426"/>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模型构建与评价</a:t>
            </a:r>
            <a:endParaRPr lang="en-US" altLang="zh-CN" sz="2400"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3" name="灯片编号占位符 2">
            <a:extLst>
              <a:ext uri="{FF2B5EF4-FFF2-40B4-BE49-F238E27FC236}">
                <a16:creationId xmlns:a16="http://schemas.microsoft.com/office/drawing/2014/main" id="{3CAA3FCD-87D2-465A-BEB4-02FC5E6E51B7}"/>
              </a:ext>
            </a:extLst>
          </p:cNvPr>
          <p:cNvSpPr>
            <a:spLocks noGrp="1"/>
          </p:cNvSpPr>
          <p:nvPr>
            <p:ph type="sldNum" sz="quarter" idx="12"/>
          </p:nvPr>
        </p:nvSpPr>
        <p:spPr/>
        <p:txBody>
          <a:bodyPr/>
          <a:lstStyle/>
          <a:p>
            <a:fld id="{37AAA611-6692-4583-86AB-5AB9B972BD46}" type="slidenum">
              <a:rPr lang="zh-CN" altLang="en-US" smtClean="0"/>
              <a:t>18</a:t>
            </a:fld>
            <a:endParaRPr lang="zh-CN" altLang="en-US"/>
          </a:p>
        </p:txBody>
      </p:sp>
      <p:sp>
        <p:nvSpPr>
          <p:cNvPr id="4" name="日期占位符 3">
            <a:extLst>
              <a:ext uri="{FF2B5EF4-FFF2-40B4-BE49-F238E27FC236}">
                <a16:creationId xmlns:a16="http://schemas.microsoft.com/office/drawing/2014/main" id="{A2DEF261-FB79-4CD8-B7AA-321026746E4C}"/>
              </a:ext>
            </a:extLst>
          </p:cNvPr>
          <p:cNvSpPr>
            <a:spLocks noGrp="1"/>
          </p:cNvSpPr>
          <p:nvPr>
            <p:ph type="dt" sz="half" idx="10"/>
          </p:nvPr>
        </p:nvSpPr>
        <p:spPr/>
        <p:txBody>
          <a:bodyPr/>
          <a:lstStyle/>
          <a:p>
            <a:fld id="{843997D2-0967-4542-A0B1-DA1BF784CE57}" type="datetime1">
              <a:rPr lang="zh-CN" altLang="en-US" smtClean="0"/>
              <a:t>2021/6/8</a:t>
            </a:fld>
            <a:endParaRPr lang="zh-CN" altLang="en-US"/>
          </a:p>
        </p:txBody>
      </p:sp>
      <p:sp>
        <p:nvSpPr>
          <p:cNvPr id="8" name="文本框 7">
            <a:extLst>
              <a:ext uri="{FF2B5EF4-FFF2-40B4-BE49-F238E27FC236}">
                <a16:creationId xmlns:a16="http://schemas.microsoft.com/office/drawing/2014/main" id="{80445876-AE3B-4EBC-8830-64B091C3F596}"/>
              </a:ext>
            </a:extLst>
          </p:cNvPr>
          <p:cNvSpPr txBox="1"/>
          <p:nvPr/>
        </p:nvSpPr>
        <p:spPr>
          <a:xfrm>
            <a:off x="452710" y="788228"/>
            <a:ext cx="12406039" cy="513859"/>
          </a:xfrm>
          <a:prstGeom prst="rect">
            <a:avLst/>
          </a:prstGeom>
          <a:noFill/>
        </p:spPr>
        <p:txBody>
          <a:bodyPr wrap="square" rtlCol="0">
            <a:spAutoFit/>
          </a:bodyPr>
          <a:lstStyle/>
          <a:p>
            <a:pPr marL="628650" indent="-285750" fontAlgn="auto">
              <a:lnSpc>
                <a:spcPct val="125000"/>
              </a:lnSpc>
              <a:spcAft>
                <a:spcPts val="0"/>
              </a:spcAft>
              <a:buFont typeface="Wingdings" panose="05000000000000000000" pitchFamily="2" charset="2"/>
              <a:buChar char="l"/>
            </a:pPr>
            <a:r>
              <a:rPr lang="zh-CN" altLang="en-US" sz="2400" b="1" dirty="0">
                <a:latin typeface="Times New Roman" panose="02020603050405020304" pitchFamily="18" charset="0"/>
                <a:cs typeface="+mj-ea"/>
                <a:sym typeface="+mn-ea"/>
              </a:rPr>
              <a:t>问题：</a:t>
            </a:r>
            <a:r>
              <a:rPr lang="zh-CN" altLang="en-US" sz="2400" b="1" dirty="0"/>
              <a:t>通过用户注册账户后</a:t>
            </a:r>
            <a:r>
              <a:rPr lang="en-US" altLang="zh-CN" sz="2400" b="1" dirty="0"/>
              <a:t>7</a:t>
            </a:r>
            <a:r>
              <a:rPr lang="zh-CN" altLang="en-US" sz="2400" b="1" dirty="0"/>
              <a:t>天之内的游戏数据，预测用户在</a:t>
            </a:r>
            <a:r>
              <a:rPr lang="en-US" altLang="zh-CN" sz="2400" b="1" dirty="0"/>
              <a:t>45</a:t>
            </a:r>
            <a:r>
              <a:rPr lang="zh-CN" altLang="en-US" sz="2400" b="1" dirty="0"/>
              <a:t>天内是否进行消费</a:t>
            </a:r>
            <a:r>
              <a:rPr lang="en-US" altLang="zh-CN" sz="2400" dirty="0">
                <a:latin typeface="Times New Roman" panose="02020603050405020304" pitchFamily="18" charset="0"/>
                <a:cs typeface="+mj-ea"/>
                <a:sym typeface="+mn-ea"/>
              </a:rPr>
              <a:t>	</a:t>
            </a:r>
          </a:p>
        </p:txBody>
      </p:sp>
      <p:sp>
        <p:nvSpPr>
          <p:cNvPr id="6" name="文本框 5">
            <a:extLst>
              <a:ext uri="{FF2B5EF4-FFF2-40B4-BE49-F238E27FC236}">
                <a16:creationId xmlns:a16="http://schemas.microsoft.com/office/drawing/2014/main" id="{3A191737-8E6E-4492-892F-D0ADD362C7CC}"/>
              </a:ext>
            </a:extLst>
          </p:cNvPr>
          <p:cNvSpPr txBox="1"/>
          <p:nvPr/>
        </p:nvSpPr>
        <p:spPr>
          <a:xfrm>
            <a:off x="733423" y="2024630"/>
            <a:ext cx="5695952" cy="506998"/>
          </a:xfrm>
          <a:prstGeom prst="rect">
            <a:avLst/>
          </a:prstGeom>
          <a:noFill/>
        </p:spPr>
        <p:txBody>
          <a:bodyPr wrap="square" rtlCol="0">
            <a:spAutoFit/>
          </a:bodyPr>
          <a:lstStyle/>
          <a:p>
            <a:pPr>
              <a:lnSpc>
                <a:spcPct val="125000"/>
              </a:lnSpc>
            </a:pPr>
            <a:r>
              <a:rPr lang="zh-CN" altLang="en-US" sz="2400" dirty="0">
                <a:latin typeface="Times New Roman" panose="02020603050405020304" pitchFamily="18" charset="0"/>
                <a:sym typeface="+mn-ea"/>
              </a:rPr>
              <a:t>使用决策树和支持向量机进行预测分类</a:t>
            </a:r>
            <a:endParaRPr lang="en-US" altLang="zh-CN" sz="2400" dirty="0">
              <a:latin typeface="Times New Roman" panose="02020603050405020304" pitchFamily="18" charset="0"/>
              <a:sym typeface="+mn-ea"/>
            </a:endParaRPr>
          </a:p>
        </p:txBody>
      </p:sp>
      <p:sp>
        <p:nvSpPr>
          <p:cNvPr id="7" name="文本框 6">
            <a:extLst>
              <a:ext uri="{FF2B5EF4-FFF2-40B4-BE49-F238E27FC236}">
                <a16:creationId xmlns:a16="http://schemas.microsoft.com/office/drawing/2014/main" id="{0F3707B3-E359-48D1-B906-A1F7B1A376F1}"/>
              </a:ext>
            </a:extLst>
          </p:cNvPr>
          <p:cNvSpPr txBox="1"/>
          <p:nvPr/>
        </p:nvSpPr>
        <p:spPr>
          <a:xfrm>
            <a:off x="733423" y="3112269"/>
            <a:ext cx="5676926" cy="830997"/>
          </a:xfrm>
          <a:prstGeom prst="rect">
            <a:avLst/>
          </a:prstGeom>
          <a:noFill/>
        </p:spPr>
        <p:txBody>
          <a:bodyPr wrap="square" rtlCol="0">
            <a:spAutoFit/>
          </a:bodyPr>
          <a:lstStyle/>
          <a:p>
            <a:r>
              <a:rPr lang="zh-CN" altLang="en-US" sz="2400" dirty="0">
                <a:latin typeface="Times New Roman" panose="02020603050405020304" pitchFamily="18" charset="0"/>
              </a:rPr>
              <a:t>对于整个数据集，取</a:t>
            </a:r>
            <a:r>
              <a:rPr lang="en-US" altLang="zh-CN" sz="2400" dirty="0">
                <a:latin typeface="Times New Roman" panose="02020603050405020304" pitchFamily="18" charset="0"/>
              </a:rPr>
              <a:t>80%</a:t>
            </a:r>
            <a:r>
              <a:rPr lang="zh-CN" altLang="en-US" sz="2400" dirty="0">
                <a:latin typeface="Times New Roman" panose="02020603050405020304" pitchFamily="18" charset="0"/>
              </a:rPr>
              <a:t>作为训练集，</a:t>
            </a:r>
            <a:r>
              <a:rPr lang="en-US" altLang="zh-CN" sz="2400" dirty="0">
                <a:latin typeface="Times New Roman" panose="02020603050405020304" pitchFamily="18" charset="0"/>
              </a:rPr>
              <a:t>20%</a:t>
            </a:r>
            <a:r>
              <a:rPr lang="zh-CN" altLang="en-US" sz="2400" dirty="0">
                <a:latin typeface="Times New Roman" panose="02020603050405020304" pitchFamily="18" charset="0"/>
              </a:rPr>
              <a:t>作为测试集。</a:t>
            </a:r>
          </a:p>
        </p:txBody>
      </p:sp>
      <p:graphicFrame>
        <p:nvGraphicFramePr>
          <p:cNvPr id="2" name="表格 1"/>
          <p:cNvGraphicFramePr>
            <a:graphicFrameLocks noGrp="1"/>
          </p:cNvGraphicFramePr>
          <p:nvPr>
            <p:extLst>
              <p:ext uri="{D42A27DB-BD31-4B8C-83A1-F6EECF244321}">
                <p14:modId xmlns:p14="http://schemas.microsoft.com/office/powerpoint/2010/main" val="2679078955"/>
              </p:ext>
            </p:extLst>
          </p:nvPr>
        </p:nvGraphicFramePr>
        <p:xfrm>
          <a:off x="7509495" y="2184772"/>
          <a:ext cx="4209448" cy="3687732"/>
        </p:xfrm>
        <a:graphic>
          <a:graphicData uri="http://schemas.openxmlformats.org/drawingml/2006/table">
            <a:tbl>
              <a:tblPr firstRow="1" bandRow="1">
                <a:tableStyleId>{5C22544A-7EE6-4342-B048-85BDC9FD1C3A}</a:tableStyleId>
              </a:tblPr>
              <a:tblGrid>
                <a:gridCol w="4209448">
                  <a:extLst>
                    <a:ext uri="{9D8B030D-6E8A-4147-A177-3AD203B41FA5}">
                      <a16:colId xmlns:a16="http://schemas.microsoft.com/office/drawing/2014/main" val="3687106113"/>
                    </a:ext>
                  </a:extLst>
                </a:gridCol>
              </a:tblGrid>
              <a:tr h="409748">
                <a:tc>
                  <a:txBody>
                    <a:bodyPr/>
                    <a:lstStyle/>
                    <a:p>
                      <a:pPr algn="ctr"/>
                      <a:r>
                        <a:rPr lang="zh-CN" altLang="en-US" dirty="0"/>
                        <a:t>输入属性</a:t>
                      </a:r>
                    </a:p>
                  </a:txBody>
                  <a:tcPr/>
                </a:tc>
                <a:extLst>
                  <a:ext uri="{0D108BD9-81ED-4DB2-BD59-A6C34878D82A}">
                    <a16:rowId xmlns:a16="http://schemas.microsoft.com/office/drawing/2014/main" val="931633832"/>
                  </a:ext>
                </a:extLst>
              </a:tr>
              <a:tr h="40974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800" b="0" i="0" kern="1200" dirty="0">
                          <a:solidFill>
                            <a:schemeClr val="dk1"/>
                          </a:solidFill>
                          <a:effectLst/>
                          <a:latin typeface="+mn-lt"/>
                          <a:ea typeface="+mn-ea"/>
                          <a:cs typeface="+mn-cs"/>
                        </a:rPr>
                        <a:t>要塞等级</a:t>
                      </a:r>
                      <a:endParaRPr lang="zh-CN" altLang="en-US" dirty="0"/>
                    </a:p>
                  </a:txBody>
                  <a:tcPr/>
                </a:tc>
                <a:extLst>
                  <a:ext uri="{0D108BD9-81ED-4DB2-BD59-A6C34878D82A}">
                    <a16:rowId xmlns:a16="http://schemas.microsoft.com/office/drawing/2014/main" val="985688391"/>
                  </a:ext>
                </a:extLst>
              </a:tr>
              <a:tr h="40974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i="0" kern="1200" dirty="0">
                          <a:solidFill>
                            <a:schemeClr val="dk1"/>
                          </a:solidFill>
                          <a:effectLst/>
                          <a:latin typeface="+mn-lt"/>
                          <a:ea typeface="+mn-ea"/>
                          <a:cs typeface="+mn-cs"/>
                        </a:rPr>
                        <a:t>PVP</a:t>
                      </a:r>
                      <a:r>
                        <a:rPr lang="zh-CN" altLang="en-US" sz="1800" b="0" i="0" kern="1200" dirty="0">
                          <a:solidFill>
                            <a:schemeClr val="dk1"/>
                          </a:solidFill>
                          <a:effectLst/>
                          <a:latin typeface="+mn-lt"/>
                          <a:ea typeface="+mn-ea"/>
                          <a:cs typeface="+mn-cs"/>
                        </a:rPr>
                        <a:t>次数</a:t>
                      </a:r>
                      <a:endParaRPr lang="zh-CN" altLang="en-US" dirty="0"/>
                    </a:p>
                  </a:txBody>
                  <a:tcPr/>
                </a:tc>
                <a:extLst>
                  <a:ext uri="{0D108BD9-81ED-4DB2-BD59-A6C34878D82A}">
                    <a16:rowId xmlns:a16="http://schemas.microsoft.com/office/drawing/2014/main" val="23997141"/>
                  </a:ext>
                </a:extLst>
              </a:tr>
              <a:tr h="40974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i="0" kern="1200" dirty="0">
                          <a:solidFill>
                            <a:schemeClr val="dk1"/>
                          </a:solidFill>
                          <a:effectLst/>
                          <a:latin typeface="+mn-lt"/>
                          <a:ea typeface="+mn-ea"/>
                          <a:cs typeface="+mn-cs"/>
                        </a:rPr>
                        <a:t>PVE</a:t>
                      </a:r>
                      <a:r>
                        <a:rPr lang="zh-CN" altLang="en-US" sz="1800" b="0" i="0" kern="1200" dirty="0">
                          <a:solidFill>
                            <a:schemeClr val="dk1"/>
                          </a:solidFill>
                          <a:effectLst/>
                          <a:latin typeface="+mn-lt"/>
                          <a:ea typeface="+mn-ea"/>
                          <a:cs typeface="+mn-cs"/>
                        </a:rPr>
                        <a:t>次数</a:t>
                      </a:r>
                      <a:endParaRPr lang="zh-CN" altLang="en-US" dirty="0"/>
                    </a:p>
                  </a:txBody>
                  <a:tcPr/>
                </a:tc>
                <a:extLst>
                  <a:ext uri="{0D108BD9-81ED-4DB2-BD59-A6C34878D82A}">
                    <a16:rowId xmlns:a16="http://schemas.microsoft.com/office/drawing/2014/main" val="759577739"/>
                  </a:ext>
                </a:extLst>
              </a:tr>
              <a:tr h="40974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a:t>日均在线时间</a:t>
                      </a:r>
                    </a:p>
                  </a:txBody>
                  <a:tcPr/>
                </a:tc>
                <a:extLst>
                  <a:ext uri="{0D108BD9-81ED-4DB2-BD59-A6C34878D82A}">
                    <a16:rowId xmlns:a16="http://schemas.microsoft.com/office/drawing/2014/main" val="1281252738"/>
                  </a:ext>
                </a:extLst>
              </a:tr>
              <a:tr h="40974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a:t>注册时间</a:t>
                      </a:r>
                    </a:p>
                  </a:txBody>
                  <a:tcPr/>
                </a:tc>
                <a:extLst>
                  <a:ext uri="{0D108BD9-81ED-4DB2-BD59-A6C34878D82A}">
                    <a16:rowId xmlns:a16="http://schemas.microsoft.com/office/drawing/2014/main" val="3619779677"/>
                  </a:ext>
                </a:extLst>
              </a:tr>
              <a:tr h="40974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i="0" kern="1200" dirty="0">
                          <a:solidFill>
                            <a:schemeClr val="dk1"/>
                          </a:solidFill>
                          <a:effectLst/>
                          <a:latin typeface="+mn-lt"/>
                          <a:ea typeface="+mn-ea"/>
                          <a:cs typeface="+mn-cs"/>
                        </a:rPr>
                        <a:t>PVP</a:t>
                      </a:r>
                      <a:r>
                        <a:rPr lang="zh-CN" altLang="en-US" sz="1800" b="0" i="0" kern="1200" dirty="0">
                          <a:solidFill>
                            <a:schemeClr val="dk1"/>
                          </a:solidFill>
                          <a:effectLst/>
                          <a:latin typeface="+mn-lt"/>
                          <a:ea typeface="+mn-ea"/>
                          <a:cs typeface="+mn-cs"/>
                        </a:rPr>
                        <a:t>胜利次数</a:t>
                      </a:r>
                      <a:endParaRPr lang="zh-CN" altLang="en-US" dirty="0"/>
                    </a:p>
                  </a:txBody>
                  <a:tcPr/>
                </a:tc>
                <a:extLst>
                  <a:ext uri="{0D108BD9-81ED-4DB2-BD59-A6C34878D82A}">
                    <a16:rowId xmlns:a16="http://schemas.microsoft.com/office/drawing/2014/main" val="2697345097"/>
                  </a:ext>
                </a:extLst>
              </a:tr>
              <a:tr h="40974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0" i="0" kern="1200" dirty="0">
                          <a:solidFill>
                            <a:schemeClr val="dk1"/>
                          </a:solidFill>
                          <a:effectLst/>
                          <a:latin typeface="+mn-lt"/>
                          <a:ea typeface="+mn-ea"/>
                          <a:cs typeface="+mn-cs"/>
                        </a:rPr>
                        <a:t>PVE</a:t>
                      </a:r>
                      <a:r>
                        <a:rPr lang="zh-CN" altLang="en-US" sz="1800" b="0" i="0" kern="1200" dirty="0">
                          <a:solidFill>
                            <a:schemeClr val="dk1"/>
                          </a:solidFill>
                          <a:effectLst/>
                          <a:latin typeface="+mn-lt"/>
                          <a:ea typeface="+mn-ea"/>
                          <a:cs typeface="+mn-cs"/>
                        </a:rPr>
                        <a:t>胜利次数</a:t>
                      </a:r>
                      <a:endParaRPr lang="zh-CN" altLang="en-US" dirty="0"/>
                    </a:p>
                  </a:txBody>
                  <a:tcPr/>
                </a:tc>
                <a:extLst>
                  <a:ext uri="{0D108BD9-81ED-4DB2-BD59-A6C34878D82A}">
                    <a16:rowId xmlns:a16="http://schemas.microsoft.com/office/drawing/2014/main" val="1396793255"/>
                  </a:ext>
                </a:extLst>
              </a:tr>
              <a:tr h="40974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b="1" i="0" kern="1200" dirty="0">
                          <a:solidFill>
                            <a:srgbClr val="FF0000"/>
                          </a:solidFill>
                          <a:effectLst/>
                          <a:latin typeface="+mn-lt"/>
                          <a:ea typeface="+mn-ea"/>
                          <a:cs typeface="+mn-cs"/>
                        </a:rPr>
                        <a:t>45</a:t>
                      </a:r>
                      <a:r>
                        <a:rPr lang="zh-CN" altLang="en-US" sz="1800" b="1" i="0" kern="1200" dirty="0">
                          <a:solidFill>
                            <a:srgbClr val="FF0000"/>
                          </a:solidFill>
                          <a:effectLst/>
                          <a:latin typeface="+mn-lt"/>
                          <a:ea typeface="+mn-ea"/>
                          <a:cs typeface="+mn-cs"/>
                        </a:rPr>
                        <a:t>日是否付费</a:t>
                      </a:r>
                      <a:endParaRPr lang="zh-CN" altLang="en-US" b="1" dirty="0">
                        <a:solidFill>
                          <a:srgbClr val="FF0000"/>
                        </a:solidFill>
                      </a:endParaRPr>
                    </a:p>
                  </a:txBody>
                  <a:tcPr/>
                </a:tc>
                <a:extLst>
                  <a:ext uri="{0D108BD9-81ED-4DB2-BD59-A6C34878D82A}">
                    <a16:rowId xmlns:a16="http://schemas.microsoft.com/office/drawing/2014/main" val="4131562407"/>
                  </a:ext>
                </a:extLst>
              </a:tr>
            </a:tbl>
          </a:graphicData>
        </a:graphic>
      </p:graphicFrame>
    </p:spTree>
    <p:extLst>
      <p:ext uri="{BB962C8B-B14F-4D97-AF65-F5344CB8AC3E}">
        <p14:creationId xmlns:p14="http://schemas.microsoft.com/office/powerpoint/2010/main" val="2291640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模型构建与评价</a:t>
            </a:r>
            <a:endParaRPr lang="en-US" altLang="zh-CN" sz="2400"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3" name="灯片编号占位符 2">
            <a:extLst>
              <a:ext uri="{FF2B5EF4-FFF2-40B4-BE49-F238E27FC236}">
                <a16:creationId xmlns:a16="http://schemas.microsoft.com/office/drawing/2014/main" id="{3CAA3FCD-87D2-465A-BEB4-02FC5E6E51B7}"/>
              </a:ext>
            </a:extLst>
          </p:cNvPr>
          <p:cNvSpPr>
            <a:spLocks noGrp="1"/>
          </p:cNvSpPr>
          <p:nvPr>
            <p:ph type="sldNum" sz="quarter" idx="12"/>
          </p:nvPr>
        </p:nvSpPr>
        <p:spPr/>
        <p:txBody>
          <a:bodyPr/>
          <a:lstStyle/>
          <a:p>
            <a:fld id="{37AAA611-6692-4583-86AB-5AB9B972BD46}" type="slidenum">
              <a:rPr lang="zh-CN" altLang="en-US" smtClean="0"/>
              <a:t>19</a:t>
            </a:fld>
            <a:endParaRPr lang="zh-CN" altLang="en-US"/>
          </a:p>
        </p:txBody>
      </p:sp>
      <p:sp>
        <p:nvSpPr>
          <p:cNvPr id="4" name="日期占位符 3">
            <a:extLst>
              <a:ext uri="{FF2B5EF4-FFF2-40B4-BE49-F238E27FC236}">
                <a16:creationId xmlns:a16="http://schemas.microsoft.com/office/drawing/2014/main" id="{A2DEF261-FB79-4CD8-B7AA-321026746E4C}"/>
              </a:ext>
            </a:extLst>
          </p:cNvPr>
          <p:cNvSpPr>
            <a:spLocks noGrp="1"/>
          </p:cNvSpPr>
          <p:nvPr>
            <p:ph type="dt" sz="half" idx="10"/>
          </p:nvPr>
        </p:nvSpPr>
        <p:spPr/>
        <p:txBody>
          <a:bodyPr/>
          <a:lstStyle/>
          <a:p>
            <a:fld id="{843997D2-0967-4542-A0B1-DA1BF784CE57}" type="datetime1">
              <a:rPr lang="zh-CN" altLang="en-US" smtClean="0"/>
              <a:t>2021/6/8</a:t>
            </a:fld>
            <a:endParaRPr lang="zh-CN" altLang="en-US"/>
          </a:p>
        </p:txBody>
      </p:sp>
      <p:sp>
        <p:nvSpPr>
          <p:cNvPr id="11" name="文本框 10">
            <a:extLst>
              <a:ext uri="{FF2B5EF4-FFF2-40B4-BE49-F238E27FC236}">
                <a16:creationId xmlns:a16="http://schemas.microsoft.com/office/drawing/2014/main" id="{345C5736-F9FC-44B4-90C6-1BACA2A9B499}"/>
              </a:ext>
            </a:extLst>
          </p:cNvPr>
          <p:cNvSpPr txBox="1"/>
          <p:nvPr/>
        </p:nvSpPr>
        <p:spPr>
          <a:xfrm>
            <a:off x="452710" y="788228"/>
            <a:ext cx="12406039" cy="1434047"/>
          </a:xfrm>
          <a:prstGeom prst="rect">
            <a:avLst/>
          </a:prstGeom>
          <a:noFill/>
        </p:spPr>
        <p:txBody>
          <a:bodyPr wrap="square" rtlCol="0">
            <a:spAutoFit/>
          </a:bodyPr>
          <a:lstStyle/>
          <a:p>
            <a:pPr marL="628650" indent="-285750" fontAlgn="auto">
              <a:lnSpc>
                <a:spcPct val="125000"/>
              </a:lnSpc>
              <a:spcAft>
                <a:spcPts val="0"/>
              </a:spcAft>
              <a:buFont typeface="Wingdings" panose="05000000000000000000" pitchFamily="2" charset="2"/>
              <a:buChar char="l"/>
            </a:pPr>
            <a:r>
              <a:rPr lang="zh-CN" altLang="en-US" sz="2400" b="1" dirty="0">
                <a:latin typeface="Times New Roman" panose="02020603050405020304" pitchFamily="18" charset="0"/>
                <a:cs typeface="+mj-ea"/>
                <a:sym typeface="+mn-ea"/>
              </a:rPr>
              <a:t>分类结果：决策树</a:t>
            </a:r>
            <a:r>
              <a:rPr lang="en-US" altLang="zh-CN" sz="2400" b="1" dirty="0">
                <a:latin typeface="Times New Roman" panose="02020603050405020304" pitchFamily="18" charset="0"/>
                <a:cs typeface="+mj-ea"/>
                <a:sym typeface="+mn-ea"/>
              </a:rPr>
              <a:t>VS</a:t>
            </a:r>
            <a:r>
              <a:rPr lang="zh-CN" altLang="en-US" sz="2400" b="1" dirty="0">
                <a:latin typeface="Times New Roman" panose="02020603050405020304" pitchFamily="18" charset="0"/>
                <a:cs typeface="+mj-ea"/>
                <a:sym typeface="+mn-ea"/>
              </a:rPr>
              <a:t>支持向量机</a:t>
            </a:r>
            <a:endParaRPr lang="en-US" altLang="zh-CN" sz="2400" dirty="0">
              <a:latin typeface="Times New Roman" panose="02020603050405020304" pitchFamily="18" charset="0"/>
              <a:cs typeface="+mj-ea"/>
              <a:sym typeface="+mn-ea"/>
            </a:endParaRPr>
          </a:p>
          <a:p>
            <a:pPr marL="342900" fontAlgn="auto">
              <a:lnSpc>
                <a:spcPct val="125000"/>
              </a:lnSpc>
              <a:spcAft>
                <a:spcPts val="0"/>
              </a:spcAft>
            </a:pPr>
            <a:r>
              <a:rPr lang="zh-CN" altLang="en-US" sz="2400" dirty="0">
                <a:latin typeface="Times New Roman" panose="02020603050405020304" pitchFamily="18" charset="0"/>
                <a:cs typeface="+mj-ea"/>
                <a:sym typeface="+mn-ea"/>
              </a:rPr>
              <a:t>评价指标：</a:t>
            </a:r>
            <a:r>
              <a:rPr lang="en-US" altLang="zh-CN" sz="2400" dirty="0">
                <a:latin typeface="Times New Roman" panose="02020603050405020304" pitchFamily="18" charset="0"/>
                <a:cs typeface="+mj-ea"/>
                <a:sym typeface="+mn-ea"/>
              </a:rPr>
              <a:t>	</a:t>
            </a:r>
          </a:p>
          <a:p>
            <a:pPr marL="685800" indent="-342900" fontAlgn="auto">
              <a:lnSpc>
                <a:spcPct val="125000"/>
              </a:lnSpc>
              <a:spcAft>
                <a:spcPts val="0"/>
              </a:spcAft>
              <a:buFont typeface="Wingdings" panose="05000000000000000000" pitchFamily="2" charset="2"/>
              <a:buChar char="Ø"/>
            </a:pPr>
            <a:endParaRPr lang="en-US" altLang="zh-CN" sz="2400" dirty="0">
              <a:latin typeface="Times New Roman" panose="02020603050405020304" pitchFamily="18" charset="0"/>
              <a:cs typeface="+mj-ea"/>
              <a:sym typeface="+mn-ea"/>
            </a:endParaRPr>
          </a:p>
        </p:txBody>
      </p:sp>
      <p:pic>
        <p:nvPicPr>
          <p:cNvPr id="12" name="图片 11">
            <a:extLst>
              <a:ext uri="{FF2B5EF4-FFF2-40B4-BE49-F238E27FC236}">
                <a16:creationId xmlns:a16="http://schemas.microsoft.com/office/drawing/2014/main" id="{A23C7B07-19CC-4224-96D9-34339C8D8687}"/>
              </a:ext>
            </a:extLst>
          </p:cNvPr>
          <p:cNvPicPr>
            <a:picLocks noChangeAspect="1"/>
          </p:cNvPicPr>
          <p:nvPr/>
        </p:nvPicPr>
        <p:blipFill rotWithShape="1">
          <a:blip r:embed="rId5">
            <a:extLst>
              <a:ext uri="{28A0092B-C50C-407E-A947-70E740481C1C}">
                <a14:useLocalDpi xmlns:a14="http://schemas.microsoft.com/office/drawing/2010/main" val="0"/>
              </a:ext>
            </a:extLst>
          </a:blip>
          <a:srcRect r="21884"/>
          <a:stretch/>
        </p:blipFill>
        <p:spPr>
          <a:xfrm>
            <a:off x="855886" y="4408413"/>
            <a:ext cx="5113288" cy="1485038"/>
          </a:xfrm>
          <a:prstGeom prst="rect">
            <a:avLst/>
          </a:prstGeom>
        </p:spPr>
      </p:pic>
      <p:pic>
        <p:nvPicPr>
          <p:cNvPr id="14" name="图片 13">
            <a:extLst>
              <a:ext uri="{FF2B5EF4-FFF2-40B4-BE49-F238E27FC236}">
                <a16:creationId xmlns:a16="http://schemas.microsoft.com/office/drawing/2014/main" id="{ED65EA46-D6E6-4653-9B50-538FE566903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277561" y="2296593"/>
            <a:ext cx="4683738" cy="1839242"/>
          </a:xfrm>
          <a:prstGeom prst="rect">
            <a:avLst/>
          </a:prstGeom>
        </p:spPr>
      </p:pic>
      <p:pic>
        <p:nvPicPr>
          <p:cNvPr id="15" name="图片 14">
            <a:extLst>
              <a:ext uri="{FF2B5EF4-FFF2-40B4-BE49-F238E27FC236}">
                <a16:creationId xmlns:a16="http://schemas.microsoft.com/office/drawing/2014/main" id="{53FF11D4-AC78-4B9B-AF7D-0071A57E32E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9374" y="2058603"/>
            <a:ext cx="3039959" cy="1250674"/>
          </a:xfrm>
          <a:prstGeom prst="rect">
            <a:avLst/>
          </a:prstGeom>
        </p:spPr>
      </p:pic>
      <p:pic>
        <p:nvPicPr>
          <p:cNvPr id="16" name="图片 15">
            <a:extLst>
              <a:ext uri="{FF2B5EF4-FFF2-40B4-BE49-F238E27FC236}">
                <a16:creationId xmlns:a16="http://schemas.microsoft.com/office/drawing/2014/main" id="{E195AB76-4914-43A1-9B10-BCA049B8FBB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08982" y="3079718"/>
            <a:ext cx="2800741" cy="1190791"/>
          </a:xfrm>
          <a:prstGeom prst="rect">
            <a:avLst/>
          </a:prstGeom>
        </p:spPr>
      </p:pic>
      <p:sp>
        <p:nvSpPr>
          <p:cNvPr id="17" name="文本框 16">
            <a:extLst>
              <a:ext uri="{FF2B5EF4-FFF2-40B4-BE49-F238E27FC236}">
                <a16:creationId xmlns:a16="http://schemas.microsoft.com/office/drawing/2014/main" id="{6F102BEB-F673-4712-BF8E-2FDB2A42FF23}"/>
              </a:ext>
            </a:extLst>
          </p:cNvPr>
          <p:cNvSpPr txBox="1"/>
          <p:nvPr/>
        </p:nvSpPr>
        <p:spPr>
          <a:xfrm>
            <a:off x="2475075" y="6124703"/>
            <a:ext cx="2604365" cy="461665"/>
          </a:xfrm>
          <a:prstGeom prst="rect">
            <a:avLst/>
          </a:prstGeom>
          <a:noFill/>
        </p:spPr>
        <p:txBody>
          <a:bodyPr wrap="square" rtlCol="0">
            <a:spAutoFit/>
          </a:bodyPr>
          <a:lstStyle/>
          <a:p>
            <a:r>
              <a:rPr lang="zh-CN" altLang="en-US" sz="2400" dirty="0">
                <a:latin typeface="Times New Roman" panose="02020603050405020304" pitchFamily="18" charset="0"/>
              </a:rPr>
              <a:t>支持向量机</a:t>
            </a:r>
          </a:p>
        </p:txBody>
      </p:sp>
      <p:sp>
        <p:nvSpPr>
          <p:cNvPr id="18" name="文本框 17">
            <a:extLst>
              <a:ext uri="{FF2B5EF4-FFF2-40B4-BE49-F238E27FC236}">
                <a16:creationId xmlns:a16="http://schemas.microsoft.com/office/drawing/2014/main" id="{7B43CC38-D2F7-419C-B61D-3DFD80451CDE}"/>
              </a:ext>
            </a:extLst>
          </p:cNvPr>
          <p:cNvSpPr txBox="1"/>
          <p:nvPr/>
        </p:nvSpPr>
        <p:spPr>
          <a:xfrm>
            <a:off x="9046173" y="6124703"/>
            <a:ext cx="2129966" cy="461665"/>
          </a:xfrm>
          <a:prstGeom prst="rect">
            <a:avLst/>
          </a:prstGeom>
          <a:noFill/>
        </p:spPr>
        <p:txBody>
          <a:bodyPr wrap="square" rtlCol="0">
            <a:spAutoFit/>
          </a:bodyPr>
          <a:lstStyle/>
          <a:p>
            <a:r>
              <a:rPr lang="zh-CN" altLang="en-US" sz="2400" dirty="0">
                <a:latin typeface="Times New Roman" panose="02020603050405020304" pitchFamily="18" charset="0"/>
              </a:rPr>
              <a:t>决策树</a:t>
            </a:r>
          </a:p>
        </p:txBody>
      </p:sp>
      <p:pic>
        <p:nvPicPr>
          <p:cNvPr id="5" name="图片 4" descr="手机屏幕的截图&#10;&#10;描述已自动生成">
            <a:extLst>
              <a:ext uri="{FF2B5EF4-FFF2-40B4-BE49-F238E27FC236}">
                <a16:creationId xmlns:a16="http://schemas.microsoft.com/office/drawing/2014/main" id="{C2C95FF6-EA1A-4EB7-A2F0-B75BEA47896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347228" y="4386869"/>
            <a:ext cx="4655636" cy="1486800"/>
          </a:xfrm>
          <a:prstGeom prst="rect">
            <a:avLst/>
          </a:prstGeom>
        </p:spPr>
      </p:pic>
    </p:spTree>
    <p:extLst>
      <p:ext uri="{BB962C8B-B14F-4D97-AF65-F5344CB8AC3E}">
        <p14:creationId xmlns:p14="http://schemas.microsoft.com/office/powerpoint/2010/main" val="29044151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179" y="193879"/>
            <a:ext cx="3067050" cy="369332"/>
          </a:xfrm>
          <a:prstGeom prst="rect">
            <a:avLst/>
          </a:prstGeom>
        </p:spPr>
        <p:txBody>
          <a:bodyPr vert="horz"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zh-CN" altLang="en-US" sz="2400" dirty="0">
                <a:solidFill>
                  <a:schemeClr val="accent1"/>
                </a:solidFill>
                <a:latin typeface="Arial" panose="02080604020202020204" pitchFamily="34" charset="0"/>
                <a:ea typeface="微软雅黑" panose="020B0503020204020204" pitchFamily="34" charset="-122"/>
                <a:sym typeface="Arial" panose="02080604020202020204" pitchFamily="34" charset="0"/>
              </a:rPr>
              <a:t>模型构建与评价</a:t>
            </a:r>
            <a:endParaRPr lang="en-US" altLang="zh-CN" sz="2400"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3" name="灯片编号占位符 2">
            <a:extLst>
              <a:ext uri="{FF2B5EF4-FFF2-40B4-BE49-F238E27FC236}">
                <a16:creationId xmlns:a16="http://schemas.microsoft.com/office/drawing/2014/main" id="{3CAA3FCD-87D2-465A-BEB4-02FC5E6E51B7}"/>
              </a:ext>
            </a:extLst>
          </p:cNvPr>
          <p:cNvSpPr>
            <a:spLocks noGrp="1"/>
          </p:cNvSpPr>
          <p:nvPr>
            <p:ph type="sldNum" sz="quarter" idx="12"/>
          </p:nvPr>
        </p:nvSpPr>
        <p:spPr/>
        <p:txBody>
          <a:bodyPr/>
          <a:lstStyle/>
          <a:p>
            <a:fld id="{37AAA611-6692-4583-86AB-5AB9B972BD46}" type="slidenum">
              <a:rPr lang="zh-CN" altLang="en-US" smtClean="0"/>
              <a:t>20</a:t>
            </a:fld>
            <a:endParaRPr lang="zh-CN" altLang="en-US" dirty="0"/>
          </a:p>
        </p:txBody>
      </p:sp>
      <p:sp>
        <p:nvSpPr>
          <p:cNvPr id="4" name="日期占位符 3">
            <a:extLst>
              <a:ext uri="{FF2B5EF4-FFF2-40B4-BE49-F238E27FC236}">
                <a16:creationId xmlns:a16="http://schemas.microsoft.com/office/drawing/2014/main" id="{A2DEF261-FB79-4CD8-B7AA-321026746E4C}"/>
              </a:ext>
            </a:extLst>
          </p:cNvPr>
          <p:cNvSpPr>
            <a:spLocks noGrp="1"/>
          </p:cNvSpPr>
          <p:nvPr>
            <p:ph type="dt" sz="half" idx="10"/>
          </p:nvPr>
        </p:nvSpPr>
        <p:spPr/>
        <p:txBody>
          <a:bodyPr/>
          <a:lstStyle/>
          <a:p>
            <a:fld id="{843997D2-0967-4542-A0B1-DA1BF784CE57}" type="datetime1">
              <a:rPr lang="zh-CN" altLang="en-US" smtClean="0"/>
              <a:t>2021/6/8</a:t>
            </a:fld>
            <a:endParaRPr lang="zh-CN" altLang="en-US"/>
          </a:p>
        </p:txBody>
      </p:sp>
      <p:sp>
        <p:nvSpPr>
          <p:cNvPr id="8" name="文本框 7">
            <a:extLst>
              <a:ext uri="{FF2B5EF4-FFF2-40B4-BE49-F238E27FC236}">
                <a16:creationId xmlns:a16="http://schemas.microsoft.com/office/drawing/2014/main" id="{CE25B4A6-26DE-44AC-9311-FF8202C6C3C3}"/>
              </a:ext>
            </a:extLst>
          </p:cNvPr>
          <p:cNvSpPr txBox="1"/>
          <p:nvPr/>
        </p:nvSpPr>
        <p:spPr>
          <a:xfrm>
            <a:off x="296561" y="847012"/>
            <a:ext cx="12406039" cy="1895712"/>
          </a:xfrm>
          <a:prstGeom prst="rect">
            <a:avLst/>
          </a:prstGeom>
          <a:noFill/>
        </p:spPr>
        <p:txBody>
          <a:bodyPr wrap="square" rtlCol="0">
            <a:spAutoFit/>
          </a:bodyPr>
          <a:lstStyle/>
          <a:p>
            <a:pPr marL="628650" indent="-285750" fontAlgn="auto">
              <a:lnSpc>
                <a:spcPct val="125000"/>
              </a:lnSpc>
              <a:spcAft>
                <a:spcPts val="0"/>
              </a:spcAft>
              <a:buFont typeface="Wingdings" panose="05000000000000000000" pitchFamily="2" charset="2"/>
              <a:buChar char="l"/>
            </a:pPr>
            <a:r>
              <a:rPr lang="zh-CN" altLang="en-US" sz="2400" b="1" dirty="0">
                <a:latin typeface="Times New Roman" panose="02020603050405020304" pitchFamily="18" charset="0"/>
                <a:cs typeface="+mj-ea"/>
                <a:sym typeface="+mn-ea"/>
              </a:rPr>
              <a:t>分类结果：决策树</a:t>
            </a:r>
            <a:r>
              <a:rPr lang="en-US" altLang="zh-CN" sz="2400" b="1" dirty="0">
                <a:latin typeface="Times New Roman" panose="02020603050405020304" pitchFamily="18" charset="0"/>
                <a:cs typeface="+mj-ea"/>
                <a:sym typeface="+mn-ea"/>
              </a:rPr>
              <a:t>VS</a:t>
            </a:r>
            <a:r>
              <a:rPr lang="zh-CN" altLang="en-US" sz="2400" b="1" dirty="0">
                <a:latin typeface="Times New Roman" panose="02020603050405020304" pitchFamily="18" charset="0"/>
                <a:cs typeface="+mj-ea"/>
                <a:sym typeface="+mn-ea"/>
              </a:rPr>
              <a:t>支持向量机</a:t>
            </a:r>
            <a:endParaRPr lang="en-US" altLang="zh-CN" sz="2400" dirty="0">
              <a:latin typeface="Times New Roman" panose="02020603050405020304" pitchFamily="18" charset="0"/>
              <a:cs typeface="+mj-ea"/>
              <a:sym typeface="+mn-ea"/>
            </a:endParaRPr>
          </a:p>
          <a:p>
            <a:pPr marL="342900" fontAlgn="auto">
              <a:lnSpc>
                <a:spcPct val="125000"/>
              </a:lnSpc>
              <a:spcAft>
                <a:spcPts val="0"/>
              </a:spcAft>
            </a:pPr>
            <a:r>
              <a:rPr lang="en-US" altLang="zh-CN" sz="2400" dirty="0">
                <a:latin typeface="Times New Roman" panose="02020603050405020304" pitchFamily="18" charset="0"/>
                <a:cs typeface="+mj-ea"/>
                <a:sym typeface="+mn-ea"/>
              </a:rPr>
              <a:t>ROC</a:t>
            </a:r>
            <a:r>
              <a:rPr lang="zh-CN" altLang="en-US" sz="2400" dirty="0">
                <a:latin typeface="Times New Roman" panose="02020603050405020304" pitchFamily="18" charset="0"/>
                <a:cs typeface="+mj-ea"/>
                <a:sym typeface="+mn-ea"/>
              </a:rPr>
              <a:t>曲线：</a:t>
            </a:r>
            <a:r>
              <a:rPr lang="en-US" altLang="zh-CN" sz="2400" dirty="0">
                <a:latin typeface="Times New Roman" panose="02020603050405020304" pitchFamily="18" charset="0"/>
                <a:cs typeface="+mj-ea"/>
                <a:sym typeface="+mn-ea"/>
              </a:rPr>
              <a:t>	</a:t>
            </a:r>
          </a:p>
          <a:p>
            <a:pPr marL="342900" fontAlgn="auto">
              <a:lnSpc>
                <a:spcPct val="125000"/>
              </a:lnSpc>
              <a:spcAft>
                <a:spcPts val="0"/>
              </a:spcAft>
            </a:pPr>
            <a:endParaRPr lang="en-US" altLang="zh-CN" sz="2400" dirty="0">
              <a:latin typeface="Times New Roman" panose="02020603050405020304" pitchFamily="18" charset="0"/>
              <a:cs typeface="+mj-ea"/>
              <a:sym typeface="+mn-ea"/>
            </a:endParaRPr>
          </a:p>
          <a:p>
            <a:pPr marL="685800" indent="-342900" fontAlgn="auto">
              <a:lnSpc>
                <a:spcPct val="125000"/>
              </a:lnSpc>
              <a:spcAft>
                <a:spcPts val="0"/>
              </a:spcAft>
              <a:buFont typeface="Wingdings" panose="05000000000000000000" pitchFamily="2" charset="2"/>
              <a:buChar char="Ø"/>
            </a:pPr>
            <a:endParaRPr lang="en-US" altLang="zh-CN" sz="2400" dirty="0">
              <a:latin typeface="Times New Roman" panose="02020603050405020304" pitchFamily="18" charset="0"/>
              <a:cs typeface="+mj-ea"/>
              <a:sym typeface="+mn-ea"/>
            </a:endParaRPr>
          </a:p>
        </p:txBody>
      </p:sp>
      <p:sp>
        <p:nvSpPr>
          <p:cNvPr id="11" name="文本框 10">
            <a:extLst>
              <a:ext uri="{FF2B5EF4-FFF2-40B4-BE49-F238E27FC236}">
                <a16:creationId xmlns:a16="http://schemas.microsoft.com/office/drawing/2014/main" id="{59A662BB-E190-4AF6-9E3D-2FB91FE19228}"/>
              </a:ext>
            </a:extLst>
          </p:cNvPr>
          <p:cNvSpPr txBox="1"/>
          <p:nvPr/>
        </p:nvSpPr>
        <p:spPr>
          <a:xfrm>
            <a:off x="2382821" y="6238852"/>
            <a:ext cx="2604365" cy="461665"/>
          </a:xfrm>
          <a:prstGeom prst="rect">
            <a:avLst/>
          </a:prstGeom>
          <a:noFill/>
        </p:spPr>
        <p:txBody>
          <a:bodyPr wrap="square" rtlCol="0">
            <a:spAutoFit/>
          </a:bodyPr>
          <a:lstStyle/>
          <a:p>
            <a:r>
              <a:rPr lang="zh-CN" altLang="en-US" sz="2400" dirty="0">
                <a:latin typeface="Times New Roman" panose="02020603050405020304" pitchFamily="18" charset="0"/>
              </a:rPr>
              <a:t>支持向量机：</a:t>
            </a:r>
            <a:r>
              <a:rPr lang="en-US" altLang="zh-CN" sz="2400" dirty="0">
                <a:latin typeface="Times New Roman" panose="02020603050405020304" pitchFamily="18" charset="0"/>
              </a:rPr>
              <a:t>0.93</a:t>
            </a:r>
            <a:endParaRPr lang="zh-CN" altLang="en-US" sz="2400" dirty="0">
              <a:latin typeface="Times New Roman" panose="02020603050405020304" pitchFamily="18" charset="0"/>
            </a:endParaRPr>
          </a:p>
        </p:txBody>
      </p:sp>
      <p:sp>
        <p:nvSpPr>
          <p:cNvPr id="12" name="文本框 11">
            <a:extLst>
              <a:ext uri="{FF2B5EF4-FFF2-40B4-BE49-F238E27FC236}">
                <a16:creationId xmlns:a16="http://schemas.microsoft.com/office/drawing/2014/main" id="{77C01857-F1BB-4FDA-A026-E3698E32F004}"/>
              </a:ext>
            </a:extLst>
          </p:cNvPr>
          <p:cNvSpPr txBox="1"/>
          <p:nvPr/>
        </p:nvSpPr>
        <p:spPr>
          <a:xfrm>
            <a:off x="8517607" y="6238852"/>
            <a:ext cx="2129966" cy="461665"/>
          </a:xfrm>
          <a:prstGeom prst="rect">
            <a:avLst/>
          </a:prstGeom>
          <a:noFill/>
        </p:spPr>
        <p:txBody>
          <a:bodyPr wrap="square" rtlCol="0">
            <a:spAutoFit/>
          </a:bodyPr>
          <a:lstStyle/>
          <a:p>
            <a:r>
              <a:rPr lang="zh-CN" altLang="en-US" sz="2400" dirty="0">
                <a:latin typeface="Times New Roman" panose="02020603050405020304" pitchFamily="18" charset="0"/>
              </a:rPr>
              <a:t>决策树：</a:t>
            </a:r>
            <a:r>
              <a:rPr lang="en-US" altLang="zh-CN" sz="2400" dirty="0">
                <a:latin typeface="Times New Roman" panose="02020603050405020304" pitchFamily="18" charset="0"/>
              </a:rPr>
              <a:t>0.95</a:t>
            </a:r>
            <a:endParaRPr lang="zh-CN" altLang="en-US" sz="2400" dirty="0">
              <a:latin typeface="Times New Roman" panose="02020603050405020304" pitchFamily="18" charset="0"/>
            </a:endParaRPr>
          </a:p>
        </p:txBody>
      </p:sp>
      <p:pic>
        <p:nvPicPr>
          <p:cNvPr id="14" name="图片 13">
            <a:extLst>
              <a:ext uri="{FF2B5EF4-FFF2-40B4-BE49-F238E27FC236}">
                <a16:creationId xmlns:a16="http://schemas.microsoft.com/office/drawing/2014/main" id="{E67FE2D3-93C0-48F0-AE98-58E8EFE2AC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6175" y="1795021"/>
            <a:ext cx="5788779" cy="4341584"/>
          </a:xfrm>
          <a:prstGeom prst="rect">
            <a:avLst/>
          </a:prstGeom>
        </p:spPr>
      </p:pic>
      <p:pic>
        <p:nvPicPr>
          <p:cNvPr id="5" name="图片 4" descr="图表&#10;&#10;描述已自动生成">
            <a:extLst>
              <a:ext uri="{FF2B5EF4-FFF2-40B4-BE49-F238E27FC236}">
                <a16:creationId xmlns:a16="http://schemas.microsoft.com/office/drawing/2014/main" id="{D93690D2-C11D-4609-A192-571DF370FF8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29375" y="1784052"/>
            <a:ext cx="5852172" cy="4352553"/>
          </a:xfrm>
          <a:prstGeom prst="rect">
            <a:avLst/>
          </a:prstGeom>
        </p:spPr>
      </p:pic>
    </p:spTree>
    <p:extLst>
      <p:ext uri="{BB962C8B-B14F-4D97-AF65-F5344CB8AC3E}">
        <p14:creationId xmlns:p14="http://schemas.microsoft.com/office/powerpoint/2010/main" val="17712073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48"/>
          <p:cNvSpPr txBox="1"/>
          <p:nvPr/>
        </p:nvSpPr>
        <p:spPr>
          <a:xfrm>
            <a:off x="6402388" y="2721165"/>
            <a:ext cx="3960439" cy="677108"/>
          </a:xfrm>
          <a:prstGeom prst="rect">
            <a:avLst/>
          </a:prstGeom>
          <a:noFill/>
        </p:spPr>
        <p:txBody>
          <a:bodyPr wrap="square" lIns="0" tIns="0" rIns="0" bIns="0" rtlCol="0">
            <a:spAutoFit/>
          </a:bodyPr>
          <a:lstStyle/>
          <a:p>
            <a:r>
              <a:rPr lang="zh-CN" altLang="en-US" sz="4400" dirty="0">
                <a:solidFill>
                  <a:schemeClr val="accent1"/>
                </a:solidFill>
                <a:latin typeface="微软雅黑" panose="020B0503020204020204" pitchFamily="34" charset="-122"/>
                <a:ea typeface="微软雅黑" panose="020B0503020204020204" pitchFamily="34" charset="-122"/>
                <a:cs typeface="+mn-ea"/>
                <a:sym typeface="+mn-lt"/>
              </a:rPr>
              <a:t>总结</a:t>
            </a:r>
            <a:endParaRPr lang="en-US" sz="4400" dirty="0">
              <a:solidFill>
                <a:schemeClr val="accent1"/>
              </a:solidFill>
              <a:latin typeface="微软雅黑" panose="020B0503020204020204" pitchFamily="34" charset="-122"/>
              <a:ea typeface="微软雅黑" panose="020B0503020204020204" pitchFamily="34" charset="-122"/>
              <a:cs typeface="+mn-ea"/>
              <a:sym typeface="+mn-lt"/>
            </a:endParaRPr>
          </a:p>
        </p:txBody>
      </p:sp>
      <p:sp>
        <p:nvSpPr>
          <p:cNvPr id="15" name="矩形 259"/>
          <p:cNvSpPr>
            <a:spLocks noChangeArrowheads="1"/>
          </p:cNvSpPr>
          <p:nvPr/>
        </p:nvSpPr>
        <p:spPr bwMode="auto">
          <a:xfrm>
            <a:off x="3255952" y="1951625"/>
            <a:ext cx="2196442" cy="2215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8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8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8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altLang="zh-CN" sz="13800" cap="all" spc="300" dirty="0">
                <a:solidFill>
                  <a:schemeClr val="accent1"/>
                </a:solidFill>
                <a:latin typeface="Impact" panose="020B0806030902050204" pitchFamily="34" charset="0"/>
                <a:cs typeface="Arial" panose="02080604020202020204" pitchFamily="34" charset="0"/>
              </a:rPr>
              <a:t>04</a:t>
            </a:r>
            <a:endParaRPr lang="zh-CN" altLang="en-US" sz="13800" cap="all" spc="300" dirty="0">
              <a:solidFill>
                <a:schemeClr val="accent1"/>
              </a:solidFill>
              <a:latin typeface="Impact" panose="020B0806030902050204" pitchFamily="34" charset="0"/>
              <a:cs typeface="Arial" panose="02080604020202020204" pitchFamily="34" charset="0"/>
            </a:endParaRPr>
          </a:p>
        </p:txBody>
      </p:sp>
      <p:sp>
        <p:nvSpPr>
          <p:cNvPr id="6"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7"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3" name="灯片编号占位符 2">
            <a:extLst>
              <a:ext uri="{FF2B5EF4-FFF2-40B4-BE49-F238E27FC236}">
                <a16:creationId xmlns:a16="http://schemas.microsoft.com/office/drawing/2014/main" id="{77933F74-C972-4F02-827A-328065BB44F4}"/>
              </a:ext>
            </a:extLst>
          </p:cNvPr>
          <p:cNvSpPr>
            <a:spLocks noGrp="1"/>
          </p:cNvSpPr>
          <p:nvPr>
            <p:ph type="sldNum" sz="quarter" idx="12"/>
          </p:nvPr>
        </p:nvSpPr>
        <p:spPr/>
        <p:txBody>
          <a:bodyPr/>
          <a:lstStyle/>
          <a:p>
            <a:fld id="{37AAA611-6692-4583-86AB-5AB9B972BD46}" type="slidenum">
              <a:rPr lang="zh-CN" altLang="en-US" smtClean="0"/>
              <a:t>21</a:t>
            </a:fld>
            <a:endParaRPr lang="zh-CN" altLang="en-US"/>
          </a:p>
        </p:txBody>
      </p:sp>
      <p:sp>
        <p:nvSpPr>
          <p:cNvPr id="4" name="日期占位符 3">
            <a:extLst>
              <a:ext uri="{FF2B5EF4-FFF2-40B4-BE49-F238E27FC236}">
                <a16:creationId xmlns:a16="http://schemas.microsoft.com/office/drawing/2014/main" id="{F8D9B3B7-3257-4612-AE51-016E76AE3BB0}"/>
              </a:ext>
            </a:extLst>
          </p:cNvPr>
          <p:cNvSpPr>
            <a:spLocks noGrp="1"/>
          </p:cNvSpPr>
          <p:nvPr>
            <p:ph type="dt" sz="half" idx="10"/>
          </p:nvPr>
        </p:nvSpPr>
        <p:spPr/>
        <p:txBody>
          <a:bodyPr/>
          <a:lstStyle/>
          <a:p>
            <a:fld id="{E8343F93-7849-4E9A-9848-7F281DBC4353}" type="datetime1">
              <a:rPr lang="zh-CN" altLang="en-US" smtClean="0"/>
              <a:t>2021/6/8</a:t>
            </a:fld>
            <a:endParaRPr lang="zh-CN" altLang="en-US"/>
          </a:p>
        </p:txBody>
      </p:sp>
    </p:spTree>
    <p:extLst>
      <p:ext uri="{BB962C8B-B14F-4D97-AF65-F5344CB8AC3E}">
        <p14:creationId xmlns:p14="http://schemas.microsoft.com/office/powerpoint/2010/main" val="1188355707"/>
      </p:ext>
    </p:extLst>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任意多边形 30"/>
          <p:cNvSpPr/>
          <p:nvPr>
            <p:custDataLst>
              <p:tags r:id="rId1"/>
            </p:custDataLst>
          </p:nvPr>
        </p:nvSpPr>
        <p:spPr>
          <a:xfrm>
            <a:off x="733423" y="646282"/>
            <a:ext cx="12125327" cy="31282"/>
          </a:xfrm>
          <a:custGeom>
            <a:avLst/>
            <a:gdLst>
              <a:gd name="connsiteX0" fmla="*/ 0 w 12125327"/>
              <a:gd name="connsiteY0" fmla="*/ 0 h 31282"/>
              <a:gd name="connsiteX1" fmla="*/ 12125327 w 12125327"/>
              <a:gd name="connsiteY1" fmla="*/ 0 h 31282"/>
              <a:gd name="connsiteX2" fmla="*/ 12125327 w 12125327"/>
              <a:gd name="connsiteY2" fmla="*/ 31282 h 31282"/>
              <a:gd name="connsiteX3" fmla="*/ 17139 w 12125327"/>
              <a:gd name="connsiteY3" fmla="*/ 31282 h 31282"/>
            </a:gdLst>
            <a:ahLst/>
            <a:cxnLst>
              <a:cxn ang="0">
                <a:pos x="connsiteX0" y="connsiteY0"/>
              </a:cxn>
              <a:cxn ang="0">
                <a:pos x="connsiteX1" y="connsiteY1"/>
              </a:cxn>
              <a:cxn ang="0">
                <a:pos x="connsiteX2" y="connsiteY2"/>
              </a:cxn>
              <a:cxn ang="0">
                <a:pos x="connsiteX3" y="connsiteY3"/>
              </a:cxn>
            </a:cxnLst>
            <a:rect l="l" t="t" r="r" b="b"/>
            <a:pathLst>
              <a:path w="12125327" h="31282">
                <a:moveTo>
                  <a:pt x="0" y="0"/>
                </a:moveTo>
                <a:lnTo>
                  <a:pt x="12125327" y="0"/>
                </a:lnTo>
                <a:lnTo>
                  <a:pt x="12125327" y="31282"/>
                </a:lnTo>
                <a:lnTo>
                  <a:pt x="17139" y="3128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a:latin typeface="Arial" panose="02080604020202020204" pitchFamily="34" charset="0"/>
              <a:ea typeface="微软雅黑" panose="020B0503020204020204" pitchFamily="34" charset="-122"/>
              <a:sym typeface="Arial" panose="02080604020202020204" pitchFamily="34" charset="0"/>
            </a:endParaRPr>
          </a:p>
        </p:txBody>
      </p:sp>
      <p:sp>
        <p:nvSpPr>
          <p:cNvPr id="32" name="任意多边形 31"/>
          <p:cNvSpPr/>
          <p:nvPr>
            <p:custDataLst>
              <p:tags r:id="rId2"/>
            </p:custDataLst>
          </p:nvPr>
        </p:nvSpPr>
        <p:spPr>
          <a:xfrm>
            <a:off x="1" y="140732"/>
            <a:ext cx="577217" cy="536832"/>
          </a:xfrm>
          <a:custGeom>
            <a:avLst/>
            <a:gdLst>
              <a:gd name="connsiteX0" fmla="*/ 284734 w 577217"/>
              <a:gd name="connsiteY0" fmla="*/ 0 h 536832"/>
              <a:gd name="connsiteX1" fmla="*/ 577217 w 577217"/>
              <a:gd name="connsiteY1" fmla="*/ 536832 h 536832"/>
              <a:gd name="connsiteX2" fmla="*/ 0 w 577217"/>
              <a:gd name="connsiteY2" fmla="*/ 536832 h 536832"/>
              <a:gd name="connsiteX3" fmla="*/ 0 w 577217"/>
              <a:gd name="connsiteY3" fmla="*/ 184 h 536832"/>
            </a:gdLst>
            <a:ahLst/>
            <a:cxnLst>
              <a:cxn ang="0">
                <a:pos x="connsiteX0" y="connsiteY0"/>
              </a:cxn>
              <a:cxn ang="0">
                <a:pos x="connsiteX1" y="connsiteY1"/>
              </a:cxn>
              <a:cxn ang="0">
                <a:pos x="connsiteX2" y="connsiteY2"/>
              </a:cxn>
              <a:cxn ang="0">
                <a:pos x="connsiteX3" y="connsiteY3"/>
              </a:cxn>
            </a:cxnLst>
            <a:rect l="l" t="t" r="r" b="b"/>
            <a:pathLst>
              <a:path w="577217" h="536832">
                <a:moveTo>
                  <a:pt x="284734" y="0"/>
                </a:moveTo>
                <a:lnTo>
                  <a:pt x="577217" y="536832"/>
                </a:lnTo>
                <a:lnTo>
                  <a:pt x="0" y="536832"/>
                </a:lnTo>
                <a:lnTo>
                  <a:pt x="0" y="184"/>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6435" tIns="48218" rIns="96435" bIns="48218" numCol="1" spcCol="0" rtlCol="0" fromWordArt="0" anchor="ctr" anchorCtr="0" forceAA="0" compatLnSpc="1">
            <a:noAutofit/>
          </a:bodyPr>
          <a:lstStyle/>
          <a:p>
            <a:pPr algn="ctr"/>
            <a:endParaRPr lang="zh-CN" altLang="en-US" sz="2000" dirty="0">
              <a:solidFill>
                <a:srgbClr val="7EC234"/>
              </a:solidFill>
              <a:latin typeface="Arial" panose="02080604020202020204" pitchFamily="34" charset="0"/>
              <a:ea typeface="微软雅黑" panose="020B0503020204020204" pitchFamily="34" charset="-122"/>
              <a:sym typeface="Arial" panose="02080604020202020204" pitchFamily="34" charset="0"/>
            </a:endParaRPr>
          </a:p>
        </p:txBody>
      </p:sp>
      <p:sp>
        <p:nvSpPr>
          <p:cNvPr id="33" name="Content Placeholder 2"/>
          <p:cNvSpPr txBox="1"/>
          <p:nvPr/>
        </p:nvSpPr>
        <p:spPr>
          <a:xfrm>
            <a:off x="577215" y="193675"/>
            <a:ext cx="4136390" cy="369332"/>
          </a:xfrm>
          <a:prstGeom prst="rect">
            <a:avLst/>
          </a:prstGeom>
        </p:spPr>
        <p:txBody>
          <a:bodyPr vert="horz" wrap="square" lIns="0" tIns="0" rIns="0" bIns="0" rtlCol="0" anchor="t">
            <a:sp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l"/>
            <a:r>
              <a:rPr lang="en-US" altLang="zh-CN" sz="2400" dirty="0" err="1">
                <a:solidFill>
                  <a:schemeClr val="accent1"/>
                </a:solidFill>
                <a:latin typeface="Arial" panose="02080604020202020204" pitchFamily="34" charset="0"/>
                <a:ea typeface="微软雅黑" panose="020B0503020204020204" pitchFamily="34" charset="-122"/>
                <a:sym typeface="Arial" panose="02080604020202020204" pitchFamily="34" charset="0"/>
              </a:rPr>
              <a:t>总结</a:t>
            </a:r>
            <a:endParaRPr lang="en-US" altLang="en-US" sz="2400" dirty="0">
              <a:solidFill>
                <a:schemeClr val="tx1"/>
              </a:solidFill>
              <a:latin typeface="+mj-ea"/>
              <a:ea typeface="+mj-ea"/>
              <a:cs typeface="+mn-ea"/>
              <a:sym typeface="Arial" panose="02080604020202020204" pitchFamily="34" charset="0"/>
            </a:endParaRPr>
          </a:p>
        </p:txBody>
      </p:sp>
      <p:sp>
        <p:nvSpPr>
          <p:cNvPr id="10" name="灯片编号占位符 9">
            <a:extLst>
              <a:ext uri="{FF2B5EF4-FFF2-40B4-BE49-F238E27FC236}">
                <a16:creationId xmlns:a16="http://schemas.microsoft.com/office/drawing/2014/main" id="{FEDD4185-D17C-4111-AD96-2E32D26EA14A}"/>
              </a:ext>
            </a:extLst>
          </p:cNvPr>
          <p:cNvSpPr>
            <a:spLocks noGrp="1"/>
          </p:cNvSpPr>
          <p:nvPr>
            <p:ph type="sldNum" sz="quarter" idx="12"/>
          </p:nvPr>
        </p:nvSpPr>
        <p:spPr/>
        <p:txBody>
          <a:bodyPr/>
          <a:lstStyle/>
          <a:p>
            <a:fld id="{37AAA611-6692-4583-86AB-5AB9B972BD46}" type="slidenum">
              <a:rPr lang="zh-CN" altLang="en-US" smtClean="0"/>
              <a:t>22</a:t>
            </a:fld>
            <a:endParaRPr lang="zh-CN" altLang="en-US"/>
          </a:p>
        </p:txBody>
      </p:sp>
      <p:sp>
        <p:nvSpPr>
          <p:cNvPr id="13" name="日期占位符 12">
            <a:extLst>
              <a:ext uri="{FF2B5EF4-FFF2-40B4-BE49-F238E27FC236}">
                <a16:creationId xmlns:a16="http://schemas.microsoft.com/office/drawing/2014/main" id="{9A0EBF46-D285-4103-8714-9C54964E24FF}"/>
              </a:ext>
            </a:extLst>
          </p:cNvPr>
          <p:cNvSpPr>
            <a:spLocks noGrp="1"/>
          </p:cNvSpPr>
          <p:nvPr>
            <p:ph type="dt" sz="half" idx="10"/>
          </p:nvPr>
        </p:nvSpPr>
        <p:spPr/>
        <p:txBody>
          <a:bodyPr/>
          <a:lstStyle/>
          <a:p>
            <a:fld id="{B2FCB3F0-3ECE-41AC-8FE3-BB866D3E7DEF}" type="datetime1">
              <a:rPr lang="zh-CN" altLang="en-US" smtClean="0"/>
              <a:t>2021/6/8</a:t>
            </a:fld>
            <a:endParaRPr lang="zh-CN" altLang="en-US"/>
          </a:p>
        </p:txBody>
      </p:sp>
      <p:sp>
        <p:nvSpPr>
          <p:cNvPr id="9" name="文本框 8">
            <a:extLst>
              <a:ext uri="{FF2B5EF4-FFF2-40B4-BE49-F238E27FC236}">
                <a16:creationId xmlns:a16="http://schemas.microsoft.com/office/drawing/2014/main" id="{51B24A48-19EA-4032-996B-3FC56CB55D08}"/>
              </a:ext>
            </a:extLst>
          </p:cNvPr>
          <p:cNvSpPr txBox="1"/>
          <p:nvPr/>
        </p:nvSpPr>
        <p:spPr>
          <a:xfrm>
            <a:off x="577216" y="1096045"/>
            <a:ext cx="11397496" cy="3738652"/>
          </a:xfrm>
          <a:prstGeom prst="rect">
            <a:avLst/>
          </a:prstGeom>
          <a:noFill/>
        </p:spPr>
        <p:txBody>
          <a:bodyPr wrap="square" rtlCol="0">
            <a:spAutoFit/>
          </a:bodyPr>
          <a:lstStyle/>
          <a:p>
            <a:pPr marL="628650" indent="-285750" fontAlgn="auto">
              <a:lnSpc>
                <a:spcPct val="125000"/>
              </a:lnSpc>
              <a:spcAft>
                <a:spcPts val="0"/>
              </a:spcAft>
              <a:buFont typeface="Wingdings" panose="05000000000000000000" pitchFamily="2" charset="2"/>
              <a:buChar char="l"/>
            </a:pPr>
            <a:r>
              <a:rPr lang="zh-CN" altLang="en-US" sz="2400" b="1" dirty="0">
                <a:latin typeface="Times New Roman" panose="02020603050405020304" pitchFamily="18" charset="0"/>
                <a:cs typeface="+mj-ea"/>
                <a:sym typeface="+mn-ea"/>
              </a:rPr>
              <a:t>分析对策</a:t>
            </a:r>
            <a:endParaRPr lang="en-US" altLang="zh-CN" sz="2400" b="1" dirty="0">
              <a:latin typeface="Times New Roman" panose="02020603050405020304" pitchFamily="18" charset="0"/>
              <a:cs typeface="+mj-ea"/>
              <a:sym typeface="+mn-ea"/>
            </a:endParaRPr>
          </a:p>
          <a:p>
            <a:pPr marL="628650" indent="-285750" fontAlgn="auto">
              <a:lnSpc>
                <a:spcPct val="125000"/>
              </a:lnSpc>
              <a:spcAft>
                <a:spcPts val="0"/>
              </a:spcAft>
              <a:buFont typeface="Wingdings" panose="05000000000000000000" pitchFamily="2" charset="2"/>
              <a:buChar char="l"/>
            </a:pPr>
            <a:endParaRPr lang="en-US" altLang="zh-CN" sz="2400" b="1" dirty="0">
              <a:latin typeface="Times New Roman" panose="02020603050405020304" pitchFamily="18" charset="0"/>
              <a:cs typeface="+mj-ea"/>
              <a:sym typeface="+mn-ea"/>
            </a:endParaRPr>
          </a:p>
          <a:p>
            <a:pPr marL="982980" lvl="1" indent="-342900">
              <a:lnSpc>
                <a:spcPct val="125000"/>
              </a:lnSpc>
              <a:buFont typeface="Wingdings" panose="05000000000000000000" pitchFamily="2" charset="2"/>
              <a:buChar char="Ø"/>
            </a:pPr>
            <a:r>
              <a:rPr lang="zh-CN" altLang="en-US" sz="2400" dirty="0"/>
              <a:t>可以再次进行一系列优惠的推广，吸引大量新用户注册；</a:t>
            </a:r>
            <a:endParaRPr lang="en-US" altLang="zh-CN" sz="2400" dirty="0"/>
          </a:p>
          <a:p>
            <a:pPr marL="982980" lvl="1" indent="-342900">
              <a:lnSpc>
                <a:spcPct val="125000"/>
              </a:lnSpc>
              <a:buFont typeface="Wingdings" panose="05000000000000000000" pitchFamily="2" charset="2"/>
              <a:buChar char="Ø"/>
            </a:pPr>
            <a:r>
              <a:rPr lang="zh-CN" altLang="en-US" sz="2400" dirty="0">
                <a:latin typeface="Times New Roman" panose="02020603050405020304" pitchFamily="18" charset="0"/>
                <a:sym typeface="+mn-ea"/>
              </a:rPr>
              <a:t>完善新手教程，保障用户通过新手关卡；</a:t>
            </a:r>
            <a:endParaRPr lang="en-US" altLang="zh-CN" sz="2400" dirty="0">
              <a:latin typeface="Times New Roman" panose="02020603050405020304" pitchFamily="18" charset="0"/>
              <a:sym typeface="+mn-ea"/>
            </a:endParaRPr>
          </a:p>
          <a:p>
            <a:pPr marL="982980" lvl="1" indent="-342900">
              <a:lnSpc>
                <a:spcPct val="125000"/>
              </a:lnSpc>
              <a:buFont typeface="Wingdings" panose="05000000000000000000" pitchFamily="2" charset="2"/>
              <a:buChar char="Ø"/>
            </a:pPr>
            <a:r>
              <a:rPr lang="zh-CN" altLang="en-US" sz="2400" dirty="0">
                <a:latin typeface="Times New Roman" panose="02020603050405020304" pitchFamily="18" charset="0"/>
                <a:sym typeface="+mn-ea"/>
              </a:rPr>
              <a:t>运营过程中丰富游戏活动内容，提高用户留存率；</a:t>
            </a:r>
            <a:endParaRPr lang="en-US" altLang="zh-CN" sz="2400" dirty="0">
              <a:latin typeface="Times New Roman" panose="02020603050405020304" pitchFamily="18" charset="0"/>
              <a:sym typeface="+mn-ea"/>
            </a:endParaRPr>
          </a:p>
          <a:p>
            <a:pPr marL="982980" lvl="1" indent="-342900">
              <a:lnSpc>
                <a:spcPct val="125000"/>
              </a:lnSpc>
              <a:buFont typeface="Wingdings" panose="05000000000000000000" pitchFamily="2" charset="2"/>
              <a:buChar char="Ø"/>
            </a:pPr>
            <a:r>
              <a:rPr lang="zh-CN" altLang="en-US" sz="2400" dirty="0">
                <a:latin typeface="Times New Roman" panose="02020603050405020304" pitchFamily="18" charset="0"/>
                <a:sym typeface="+mn-ea"/>
              </a:rPr>
              <a:t>对于高等级用户予以重点关照（设立</a:t>
            </a:r>
            <a:r>
              <a:rPr lang="en-US" altLang="zh-CN" sz="2400" dirty="0">
                <a:latin typeface="Times New Roman" panose="02020603050405020304" pitchFamily="18" charset="0"/>
                <a:sym typeface="+mn-ea"/>
              </a:rPr>
              <a:t>VIP</a:t>
            </a:r>
            <a:r>
              <a:rPr lang="zh-CN" altLang="en-US" sz="2400" dirty="0">
                <a:latin typeface="Times New Roman" panose="02020603050405020304" pitchFamily="18" charset="0"/>
                <a:sym typeface="+mn-ea"/>
              </a:rPr>
              <a:t>客服等）；</a:t>
            </a:r>
            <a:endParaRPr lang="en-US" altLang="zh-CN" sz="2400" dirty="0">
              <a:latin typeface="Times New Roman" panose="02020603050405020304" pitchFamily="18" charset="0"/>
              <a:sym typeface="+mn-ea"/>
            </a:endParaRPr>
          </a:p>
          <a:p>
            <a:pPr marL="982980" lvl="1" indent="-342900">
              <a:lnSpc>
                <a:spcPct val="125000"/>
              </a:lnSpc>
              <a:buFont typeface="Wingdings" panose="05000000000000000000" pitchFamily="2" charset="2"/>
              <a:buChar char="Ø"/>
            </a:pPr>
            <a:r>
              <a:rPr lang="zh-CN" altLang="en-US" sz="2400" dirty="0">
                <a:latin typeface="Times New Roman" panose="02020603050405020304" pitchFamily="18" charset="0"/>
                <a:sym typeface="+mn-ea"/>
              </a:rPr>
              <a:t>为预测可能付费的玩家，引导其尝试充值（随机发放充值大礼包、提高抽卡中签率等）。</a:t>
            </a:r>
            <a:endParaRPr lang="en-US" altLang="zh-CN" sz="2400" dirty="0">
              <a:latin typeface="Times New Roman" panose="02020603050405020304" pitchFamily="18" charset="0"/>
              <a:sym typeface="+mn-ea"/>
            </a:endParaRPr>
          </a:p>
        </p:txBody>
      </p:sp>
    </p:spTree>
    <p:extLst>
      <p:ext uri="{BB962C8B-B14F-4D97-AF65-F5344CB8AC3E}">
        <p14:creationId xmlns:p14="http://schemas.microsoft.com/office/powerpoint/2010/main" val="529534101"/>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259"/>
          <p:cNvSpPr>
            <a:spLocks noChangeArrowheads="1"/>
          </p:cNvSpPr>
          <p:nvPr/>
        </p:nvSpPr>
        <p:spPr bwMode="auto">
          <a:xfrm>
            <a:off x="333375" y="1941830"/>
            <a:ext cx="11445875" cy="1181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Font typeface="Arial" panose="0208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8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8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8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gn="ctr">
              <a:buNone/>
            </a:pPr>
            <a:r>
              <a:rPr lang="en-US" sz="4800" b="1" cap="all" dirty="0">
                <a:solidFill>
                  <a:schemeClr val="accent1"/>
                </a:solidFill>
                <a:cs typeface="Arial" panose="02080604020202020204" pitchFamily="34" charset="0"/>
              </a:rPr>
              <a:t>感谢聆听！</a:t>
            </a:r>
          </a:p>
          <a:p>
            <a:pPr algn="ctr">
              <a:buNone/>
            </a:pPr>
            <a:r>
              <a:rPr lang="en-US" sz="2400" dirty="0">
                <a:solidFill>
                  <a:schemeClr val="accent1"/>
                </a:solidFill>
                <a:uFillTx/>
                <a:latin typeface="微软雅黑" charset="0"/>
                <a:cs typeface="Arial" panose="02080604020202020204" pitchFamily="34" charset="0"/>
              </a:rPr>
              <a:t>T</a:t>
            </a:r>
            <a:r>
              <a:rPr lang="" altLang="en-US" sz="2400" dirty="0">
                <a:solidFill>
                  <a:schemeClr val="accent1"/>
                </a:solidFill>
                <a:uFillTx/>
                <a:latin typeface="微软雅黑" charset="0"/>
                <a:cs typeface="Arial" panose="02080604020202020204" pitchFamily="34" charset="0"/>
              </a:rPr>
              <a:t>h</a:t>
            </a:r>
            <a:r>
              <a:rPr lang="en-US" sz="2400" dirty="0">
                <a:solidFill>
                  <a:schemeClr val="accent1"/>
                </a:solidFill>
                <a:uFillTx/>
                <a:latin typeface="微软雅黑" charset="0"/>
                <a:cs typeface="Arial" panose="02080604020202020204" pitchFamily="34" charset="0"/>
              </a:rPr>
              <a:t>anks for your attention！</a:t>
            </a:r>
          </a:p>
        </p:txBody>
      </p:sp>
      <p:sp>
        <p:nvSpPr>
          <p:cNvPr id="9" name="Freeform 6"/>
          <p:cNvSpPr/>
          <p:nvPr/>
        </p:nvSpPr>
        <p:spPr bwMode="auto">
          <a:xfrm>
            <a:off x="354" y="5397910"/>
            <a:ext cx="12858044" cy="1834739"/>
          </a:xfrm>
          <a:custGeom>
            <a:avLst/>
            <a:gdLst>
              <a:gd name="T0" fmla="*/ 1115 w 5702"/>
              <a:gd name="T1" fmla="*/ 0 h 1219"/>
              <a:gd name="T2" fmla="*/ 1277 w 5702"/>
              <a:gd name="T3" fmla="*/ 0 h 1219"/>
              <a:gd name="T4" fmla="*/ 1428 w 5702"/>
              <a:gd name="T5" fmla="*/ 2 h 1219"/>
              <a:gd name="T6" fmla="*/ 1569 w 5702"/>
              <a:gd name="T7" fmla="*/ 2 h 1219"/>
              <a:gd name="T8" fmla="*/ 1698 w 5702"/>
              <a:gd name="T9" fmla="*/ 4 h 1219"/>
              <a:gd name="T10" fmla="*/ 1816 w 5702"/>
              <a:gd name="T11" fmla="*/ 6 h 1219"/>
              <a:gd name="T12" fmla="*/ 1922 w 5702"/>
              <a:gd name="T13" fmla="*/ 7 h 1219"/>
              <a:gd name="T14" fmla="*/ 2018 w 5702"/>
              <a:gd name="T15" fmla="*/ 11 h 1219"/>
              <a:gd name="T16" fmla="*/ 2102 w 5702"/>
              <a:gd name="T17" fmla="*/ 14 h 1219"/>
              <a:gd name="T18" fmla="*/ 2201 w 5702"/>
              <a:gd name="T19" fmla="*/ 20 h 1219"/>
              <a:gd name="T20" fmla="*/ 2293 w 5702"/>
              <a:gd name="T21" fmla="*/ 32 h 1219"/>
              <a:gd name="T22" fmla="*/ 2375 w 5702"/>
              <a:gd name="T23" fmla="*/ 46 h 1219"/>
              <a:gd name="T24" fmla="*/ 2452 w 5702"/>
              <a:gd name="T25" fmla="*/ 63 h 1219"/>
              <a:gd name="T26" fmla="*/ 2518 w 5702"/>
              <a:gd name="T27" fmla="*/ 84 h 1219"/>
              <a:gd name="T28" fmla="*/ 2579 w 5702"/>
              <a:gd name="T29" fmla="*/ 107 h 1219"/>
              <a:gd name="T30" fmla="*/ 2633 w 5702"/>
              <a:gd name="T31" fmla="*/ 131 h 1219"/>
              <a:gd name="T32" fmla="*/ 2680 w 5702"/>
              <a:gd name="T33" fmla="*/ 157 h 1219"/>
              <a:gd name="T34" fmla="*/ 2722 w 5702"/>
              <a:gd name="T35" fmla="*/ 185 h 1219"/>
              <a:gd name="T36" fmla="*/ 2756 w 5702"/>
              <a:gd name="T37" fmla="*/ 213 h 1219"/>
              <a:gd name="T38" fmla="*/ 2788 w 5702"/>
              <a:gd name="T39" fmla="*/ 241 h 1219"/>
              <a:gd name="T40" fmla="*/ 2812 w 5702"/>
              <a:gd name="T41" fmla="*/ 269 h 1219"/>
              <a:gd name="T42" fmla="*/ 2835 w 5702"/>
              <a:gd name="T43" fmla="*/ 295 h 1219"/>
              <a:gd name="T44" fmla="*/ 2852 w 5702"/>
              <a:gd name="T45" fmla="*/ 319 h 1219"/>
              <a:gd name="T46" fmla="*/ 2868 w 5702"/>
              <a:gd name="T47" fmla="*/ 295 h 1219"/>
              <a:gd name="T48" fmla="*/ 2891 w 5702"/>
              <a:gd name="T49" fmla="*/ 269 h 1219"/>
              <a:gd name="T50" fmla="*/ 2915 w 5702"/>
              <a:gd name="T51" fmla="*/ 241 h 1219"/>
              <a:gd name="T52" fmla="*/ 2946 w 5702"/>
              <a:gd name="T53" fmla="*/ 213 h 1219"/>
              <a:gd name="T54" fmla="*/ 2981 w 5702"/>
              <a:gd name="T55" fmla="*/ 185 h 1219"/>
              <a:gd name="T56" fmla="*/ 3023 w 5702"/>
              <a:gd name="T57" fmla="*/ 157 h 1219"/>
              <a:gd name="T58" fmla="*/ 3070 w 5702"/>
              <a:gd name="T59" fmla="*/ 131 h 1219"/>
              <a:gd name="T60" fmla="*/ 3124 w 5702"/>
              <a:gd name="T61" fmla="*/ 107 h 1219"/>
              <a:gd name="T62" fmla="*/ 3185 w 5702"/>
              <a:gd name="T63" fmla="*/ 84 h 1219"/>
              <a:gd name="T64" fmla="*/ 3253 w 5702"/>
              <a:gd name="T65" fmla="*/ 63 h 1219"/>
              <a:gd name="T66" fmla="*/ 3328 w 5702"/>
              <a:gd name="T67" fmla="*/ 46 h 1219"/>
              <a:gd name="T68" fmla="*/ 3409 w 5702"/>
              <a:gd name="T69" fmla="*/ 32 h 1219"/>
              <a:gd name="T70" fmla="*/ 3502 w 5702"/>
              <a:gd name="T71" fmla="*/ 20 h 1219"/>
              <a:gd name="T72" fmla="*/ 3601 w 5702"/>
              <a:gd name="T73" fmla="*/ 14 h 1219"/>
              <a:gd name="T74" fmla="*/ 3684 w 5702"/>
              <a:gd name="T75" fmla="*/ 11 h 1219"/>
              <a:gd name="T76" fmla="*/ 3780 w 5702"/>
              <a:gd name="T77" fmla="*/ 7 h 1219"/>
              <a:gd name="T78" fmla="*/ 3886 w 5702"/>
              <a:gd name="T79" fmla="*/ 6 h 1219"/>
              <a:gd name="T80" fmla="*/ 4005 w 5702"/>
              <a:gd name="T81" fmla="*/ 4 h 1219"/>
              <a:gd name="T82" fmla="*/ 4134 w 5702"/>
              <a:gd name="T83" fmla="*/ 2 h 1219"/>
              <a:gd name="T84" fmla="*/ 4275 w 5702"/>
              <a:gd name="T85" fmla="*/ 2 h 1219"/>
              <a:gd name="T86" fmla="*/ 4426 w 5702"/>
              <a:gd name="T87" fmla="*/ 0 h 1219"/>
              <a:gd name="T88" fmla="*/ 4588 w 5702"/>
              <a:gd name="T89" fmla="*/ 0 h 1219"/>
              <a:gd name="T90" fmla="*/ 4799 w 5702"/>
              <a:gd name="T91" fmla="*/ 0 h 1219"/>
              <a:gd name="T92" fmla="*/ 4999 w 5702"/>
              <a:gd name="T93" fmla="*/ 2 h 1219"/>
              <a:gd name="T94" fmla="*/ 5189 w 5702"/>
              <a:gd name="T95" fmla="*/ 4 h 1219"/>
              <a:gd name="T96" fmla="*/ 5368 w 5702"/>
              <a:gd name="T97" fmla="*/ 6 h 1219"/>
              <a:gd name="T98" fmla="*/ 5541 w 5702"/>
              <a:gd name="T99" fmla="*/ 7 h 1219"/>
              <a:gd name="T100" fmla="*/ 5702 w 5702"/>
              <a:gd name="T101" fmla="*/ 9 h 1219"/>
              <a:gd name="T102" fmla="*/ 5702 w 5702"/>
              <a:gd name="T103" fmla="*/ 1219 h 1219"/>
              <a:gd name="T104" fmla="*/ 0 w 5702"/>
              <a:gd name="T105" fmla="*/ 1219 h 1219"/>
              <a:gd name="T106" fmla="*/ 0 w 5702"/>
              <a:gd name="T107" fmla="*/ 9 h 1219"/>
              <a:gd name="T108" fmla="*/ 164 w 5702"/>
              <a:gd name="T109" fmla="*/ 7 h 1219"/>
              <a:gd name="T110" fmla="*/ 335 w 5702"/>
              <a:gd name="T111" fmla="*/ 6 h 1219"/>
              <a:gd name="T112" fmla="*/ 514 w 5702"/>
              <a:gd name="T113" fmla="*/ 4 h 1219"/>
              <a:gd name="T114" fmla="*/ 704 w 5702"/>
              <a:gd name="T115" fmla="*/ 2 h 1219"/>
              <a:gd name="T116" fmla="*/ 904 w 5702"/>
              <a:gd name="T117" fmla="*/ 0 h 1219"/>
              <a:gd name="T118" fmla="*/ 1115 w 5702"/>
              <a:gd name="T11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02" h="1219">
                <a:moveTo>
                  <a:pt x="1115" y="0"/>
                </a:moveTo>
                <a:lnTo>
                  <a:pt x="1277" y="0"/>
                </a:lnTo>
                <a:lnTo>
                  <a:pt x="1428" y="2"/>
                </a:lnTo>
                <a:lnTo>
                  <a:pt x="1569" y="2"/>
                </a:lnTo>
                <a:lnTo>
                  <a:pt x="1698" y="4"/>
                </a:lnTo>
                <a:lnTo>
                  <a:pt x="1816" y="6"/>
                </a:lnTo>
                <a:lnTo>
                  <a:pt x="1922" y="7"/>
                </a:lnTo>
                <a:lnTo>
                  <a:pt x="2018" y="11"/>
                </a:lnTo>
                <a:lnTo>
                  <a:pt x="2102" y="14"/>
                </a:lnTo>
                <a:lnTo>
                  <a:pt x="2201" y="20"/>
                </a:lnTo>
                <a:lnTo>
                  <a:pt x="2293" y="32"/>
                </a:lnTo>
                <a:lnTo>
                  <a:pt x="2375" y="46"/>
                </a:lnTo>
                <a:lnTo>
                  <a:pt x="2452" y="63"/>
                </a:lnTo>
                <a:lnTo>
                  <a:pt x="2518" y="84"/>
                </a:lnTo>
                <a:lnTo>
                  <a:pt x="2579" y="107"/>
                </a:lnTo>
                <a:lnTo>
                  <a:pt x="2633" y="131"/>
                </a:lnTo>
                <a:lnTo>
                  <a:pt x="2680" y="157"/>
                </a:lnTo>
                <a:lnTo>
                  <a:pt x="2722" y="185"/>
                </a:lnTo>
                <a:lnTo>
                  <a:pt x="2756" y="213"/>
                </a:lnTo>
                <a:lnTo>
                  <a:pt x="2788" y="241"/>
                </a:lnTo>
                <a:lnTo>
                  <a:pt x="2812" y="269"/>
                </a:lnTo>
                <a:lnTo>
                  <a:pt x="2835" y="295"/>
                </a:lnTo>
                <a:lnTo>
                  <a:pt x="2852" y="319"/>
                </a:lnTo>
                <a:lnTo>
                  <a:pt x="2868" y="295"/>
                </a:lnTo>
                <a:lnTo>
                  <a:pt x="2891" y="269"/>
                </a:lnTo>
                <a:lnTo>
                  <a:pt x="2915" y="241"/>
                </a:lnTo>
                <a:lnTo>
                  <a:pt x="2946" y="213"/>
                </a:lnTo>
                <a:lnTo>
                  <a:pt x="2981" y="185"/>
                </a:lnTo>
                <a:lnTo>
                  <a:pt x="3023" y="157"/>
                </a:lnTo>
                <a:lnTo>
                  <a:pt x="3070" y="131"/>
                </a:lnTo>
                <a:lnTo>
                  <a:pt x="3124" y="107"/>
                </a:lnTo>
                <a:lnTo>
                  <a:pt x="3185" y="84"/>
                </a:lnTo>
                <a:lnTo>
                  <a:pt x="3253" y="63"/>
                </a:lnTo>
                <a:lnTo>
                  <a:pt x="3328" y="46"/>
                </a:lnTo>
                <a:lnTo>
                  <a:pt x="3409" y="32"/>
                </a:lnTo>
                <a:lnTo>
                  <a:pt x="3502" y="20"/>
                </a:lnTo>
                <a:lnTo>
                  <a:pt x="3601" y="14"/>
                </a:lnTo>
                <a:lnTo>
                  <a:pt x="3684" y="11"/>
                </a:lnTo>
                <a:lnTo>
                  <a:pt x="3780" y="7"/>
                </a:lnTo>
                <a:lnTo>
                  <a:pt x="3886" y="6"/>
                </a:lnTo>
                <a:lnTo>
                  <a:pt x="4005" y="4"/>
                </a:lnTo>
                <a:lnTo>
                  <a:pt x="4134" y="2"/>
                </a:lnTo>
                <a:lnTo>
                  <a:pt x="4275" y="2"/>
                </a:lnTo>
                <a:lnTo>
                  <a:pt x="4426" y="0"/>
                </a:lnTo>
                <a:lnTo>
                  <a:pt x="4588" y="0"/>
                </a:lnTo>
                <a:lnTo>
                  <a:pt x="4799" y="0"/>
                </a:lnTo>
                <a:lnTo>
                  <a:pt x="4999" y="2"/>
                </a:lnTo>
                <a:lnTo>
                  <a:pt x="5189" y="4"/>
                </a:lnTo>
                <a:lnTo>
                  <a:pt x="5368" y="6"/>
                </a:lnTo>
                <a:lnTo>
                  <a:pt x="5541" y="7"/>
                </a:lnTo>
                <a:lnTo>
                  <a:pt x="5702" y="9"/>
                </a:lnTo>
                <a:lnTo>
                  <a:pt x="5702" y="1219"/>
                </a:lnTo>
                <a:lnTo>
                  <a:pt x="0" y="1219"/>
                </a:lnTo>
                <a:lnTo>
                  <a:pt x="0" y="9"/>
                </a:lnTo>
                <a:lnTo>
                  <a:pt x="164" y="7"/>
                </a:lnTo>
                <a:lnTo>
                  <a:pt x="335" y="6"/>
                </a:lnTo>
                <a:lnTo>
                  <a:pt x="514" y="4"/>
                </a:lnTo>
                <a:lnTo>
                  <a:pt x="704" y="2"/>
                </a:lnTo>
                <a:lnTo>
                  <a:pt x="904" y="0"/>
                </a:lnTo>
                <a:lnTo>
                  <a:pt x="1115"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10" name="Freeform 7"/>
          <p:cNvSpPr/>
          <p:nvPr/>
        </p:nvSpPr>
        <p:spPr bwMode="auto">
          <a:xfrm>
            <a:off x="354" y="5128493"/>
            <a:ext cx="12858044" cy="593017"/>
          </a:xfrm>
          <a:custGeom>
            <a:avLst/>
            <a:gdLst>
              <a:gd name="T0" fmla="*/ 1184 w 5702"/>
              <a:gd name="T1" fmla="*/ 0 h 394"/>
              <a:gd name="T2" fmla="*/ 1492 w 5702"/>
              <a:gd name="T3" fmla="*/ 2 h 394"/>
              <a:gd name="T4" fmla="*/ 1754 w 5702"/>
              <a:gd name="T5" fmla="*/ 5 h 394"/>
              <a:gd name="T6" fmla="*/ 1968 w 5702"/>
              <a:gd name="T7" fmla="*/ 11 h 394"/>
              <a:gd name="T8" fmla="*/ 2156 w 5702"/>
              <a:gd name="T9" fmla="*/ 19 h 394"/>
              <a:gd name="T10" fmla="*/ 2333 w 5702"/>
              <a:gd name="T11" fmla="*/ 42 h 394"/>
              <a:gd name="T12" fmla="*/ 2480 w 5702"/>
              <a:gd name="T13" fmla="*/ 78 h 394"/>
              <a:gd name="T14" fmla="*/ 2598 w 5702"/>
              <a:gd name="T15" fmla="*/ 122 h 394"/>
              <a:gd name="T16" fmla="*/ 2690 w 5702"/>
              <a:gd name="T17" fmla="*/ 172 h 394"/>
              <a:gd name="T18" fmla="*/ 2763 w 5702"/>
              <a:gd name="T19" fmla="*/ 225 h 394"/>
              <a:gd name="T20" fmla="*/ 2816 w 5702"/>
              <a:gd name="T21" fmla="*/ 277 h 394"/>
              <a:gd name="T22" fmla="*/ 2852 w 5702"/>
              <a:gd name="T23" fmla="*/ 326 h 394"/>
              <a:gd name="T24" fmla="*/ 2887 w 5702"/>
              <a:gd name="T25" fmla="*/ 277 h 394"/>
              <a:gd name="T26" fmla="*/ 2939 w 5702"/>
              <a:gd name="T27" fmla="*/ 225 h 394"/>
              <a:gd name="T28" fmla="*/ 3012 w 5702"/>
              <a:gd name="T29" fmla="*/ 172 h 394"/>
              <a:gd name="T30" fmla="*/ 3105 w 5702"/>
              <a:gd name="T31" fmla="*/ 122 h 394"/>
              <a:gd name="T32" fmla="*/ 3223 w 5702"/>
              <a:gd name="T33" fmla="*/ 78 h 394"/>
              <a:gd name="T34" fmla="*/ 3369 w 5702"/>
              <a:gd name="T35" fmla="*/ 42 h 394"/>
              <a:gd name="T36" fmla="*/ 3547 w 5702"/>
              <a:gd name="T37" fmla="*/ 19 h 394"/>
              <a:gd name="T38" fmla="*/ 3735 w 5702"/>
              <a:gd name="T39" fmla="*/ 11 h 394"/>
              <a:gd name="T40" fmla="*/ 3949 w 5702"/>
              <a:gd name="T41" fmla="*/ 5 h 394"/>
              <a:gd name="T42" fmla="*/ 4210 w 5702"/>
              <a:gd name="T43" fmla="*/ 2 h 394"/>
              <a:gd name="T44" fmla="*/ 4519 w 5702"/>
              <a:gd name="T45" fmla="*/ 0 h 394"/>
              <a:gd name="T46" fmla="*/ 4907 w 5702"/>
              <a:gd name="T47" fmla="*/ 0 h 394"/>
              <a:gd name="T48" fmla="*/ 5318 w 5702"/>
              <a:gd name="T49" fmla="*/ 2 h 394"/>
              <a:gd name="T50" fmla="*/ 5702 w 5702"/>
              <a:gd name="T51" fmla="*/ 5 h 394"/>
              <a:gd name="T52" fmla="*/ 5513 w 5702"/>
              <a:gd name="T53" fmla="*/ 72 h 394"/>
              <a:gd name="T54" fmla="*/ 5116 w 5702"/>
              <a:gd name="T55" fmla="*/ 70 h 394"/>
              <a:gd name="T56" fmla="*/ 4689 w 5702"/>
              <a:gd name="T57" fmla="*/ 68 h 394"/>
              <a:gd name="T58" fmla="*/ 4358 w 5702"/>
              <a:gd name="T59" fmla="*/ 70 h 394"/>
              <a:gd name="T60" fmla="*/ 4073 w 5702"/>
              <a:gd name="T61" fmla="*/ 72 h 394"/>
              <a:gd name="T62" fmla="*/ 3836 w 5702"/>
              <a:gd name="T63" fmla="*/ 75 h 394"/>
              <a:gd name="T64" fmla="*/ 3648 w 5702"/>
              <a:gd name="T65" fmla="*/ 80 h 394"/>
              <a:gd name="T66" fmla="*/ 3455 w 5702"/>
              <a:gd name="T67" fmla="*/ 98 h 394"/>
              <a:gd name="T68" fmla="*/ 3293 w 5702"/>
              <a:gd name="T69" fmla="*/ 127 h 394"/>
              <a:gd name="T70" fmla="*/ 3162 w 5702"/>
              <a:gd name="T71" fmla="*/ 167 h 394"/>
              <a:gd name="T72" fmla="*/ 3056 w 5702"/>
              <a:gd name="T73" fmla="*/ 214 h 394"/>
              <a:gd name="T74" fmla="*/ 2974 w 5702"/>
              <a:gd name="T75" fmla="*/ 266 h 394"/>
              <a:gd name="T76" fmla="*/ 2911 w 5702"/>
              <a:gd name="T77" fmla="*/ 320 h 394"/>
              <a:gd name="T78" fmla="*/ 2868 w 5702"/>
              <a:gd name="T79" fmla="*/ 371 h 394"/>
              <a:gd name="T80" fmla="*/ 2835 w 5702"/>
              <a:gd name="T81" fmla="*/ 371 h 394"/>
              <a:gd name="T82" fmla="*/ 2791 w 5702"/>
              <a:gd name="T83" fmla="*/ 320 h 394"/>
              <a:gd name="T84" fmla="*/ 2730 w 5702"/>
              <a:gd name="T85" fmla="*/ 266 h 394"/>
              <a:gd name="T86" fmla="*/ 2647 w 5702"/>
              <a:gd name="T87" fmla="*/ 214 h 394"/>
              <a:gd name="T88" fmla="*/ 2542 w 5702"/>
              <a:gd name="T89" fmla="*/ 167 h 394"/>
              <a:gd name="T90" fmla="*/ 2410 w 5702"/>
              <a:gd name="T91" fmla="*/ 127 h 394"/>
              <a:gd name="T92" fmla="*/ 2248 w 5702"/>
              <a:gd name="T93" fmla="*/ 98 h 394"/>
              <a:gd name="T94" fmla="*/ 2055 w 5702"/>
              <a:gd name="T95" fmla="*/ 80 h 394"/>
              <a:gd name="T96" fmla="*/ 1867 w 5702"/>
              <a:gd name="T97" fmla="*/ 75 h 394"/>
              <a:gd name="T98" fmla="*/ 1630 w 5702"/>
              <a:gd name="T99" fmla="*/ 72 h 394"/>
              <a:gd name="T100" fmla="*/ 1344 w 5702"/>
              <a:gd name="T101" fmla="*/ 70 h 394"/>
              <a:gd name="T102" fmla="*/ 1014 w 5702"/>
              <a:gd name="T103" fmla="*/ 68 h 394"/>
              <a:gd name="T104" fmla="*/ 587 w 5702"/>
              <a:gd name="T105" fmla="*/ 70 h 394"/>
              <a:gd name="T106" fmla="*/ 190 w 5702"/>
              <a:gd name="T107" fmla="*/ 72 h 394"/>
              <a:gd name="T108" fmla="*/ 0 w 5702"/>
              <a:gd name="T109" fmla="*/ 5 h 394"/>
              <a:gd name="T110" fmla="*/ 385 w 5702"/>
              <a:gd name="T111" fmla="*/ 2 h 394"/>
              <a:gd name="T112" fmla="*/ 796 w 5702"/>
              <a:gd name="T113" fmla="*/ 0 h 3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702" h="394">
                <a:moveTo>
                  <a:pt x="1014" y="0"/>
                </a:moveTo>
                <a:lnTo>
                  <a:pt x="1184" y="0"/>
                </a:lnTo>
                <a:lnTo>
                  <a:pt x="1344" y="0"/>
                </a:lnTo>
                <a:lnTo>
                  <a:pt x="1492" y="2"/>
                </a:lnTo>
                <a:lnTo>
                  <a:pt x="1630" y="4"/>
                </a:lnTo>
                <a:lnTo>
                  <a:pt x="1754" y="5"/>
                </a:lnTo>
                <a:lnTo>
                  <a:pt x="1867" y="7"/>
                </a:lnTo>
                <a:lnTo>
                  <a:pt x="1968" y="11"/>
                </a:lnTo>
                <a:lnTo>
                  <a:pt x="2055" y="12"/>
                </a:lnTo>
                <a:lnTo>
                  <a:pt x="2156" y="19"/>
                </a:lnTo>
                <a:lnTo>
                  <a:pt x="2248" y="30"/>
                </a:lnTo>
                <a:lnTo>
                  <a:pt x="2333" y="42"/>
                </a:lnTo>
                <a:lnTo>
                  <a:pt x="2410" y="59"/>
                </a:lnTo>
                <a:lnTo>
                  <a:pt x="2480" y="78"/>
                </a:lnTo>
                <a:lnTo>
                  <a:pt x="2542" y="99"/>
                </a:lnTo>
                <a:lnTo>
                  <a:pt x="2598" y="122"/>
                </a:lnTo>
                <a:lnTo>
                  <a:pt x="2647" y="146"/>
                </a:lnTo>
                <a:lnTo>
                  <a:pt x="2690" y="172"/>
                </a:lnTo>
                <a:lnTo>
                  <a:pt x="2730" y="199"/>
                </a:lnTo>
                <a:lnTo>
                  <a:pt x="2763" y="225"/>
                </a:lnTo>
                <a:lnTo>
                  <a:pt x="2791" y="253"/>
                </a:lnTo>
                <a:lnTo>
                  <a:pt x="2816" y="277"/>
                </a:lnTo>
                <a:lnTo>
                  <a:pt x="2835" y="303"/>
                </a:lnTo>
                <a:lnTo>
                  <a:pt x="2852" y="326"/>
                </a:lnTo>
                <a:lnTo>
                  <a:pt x="2868" y="303"/>
                </a:lnTo>
                <a:lnTo>
                  <a:pt x="2887" y="277"/>
                </a:lnTo>
                <a:lnTo>
                  <a:pt x="2911" y="253"/>
                </a:lnTo>
                <a:lnTo>
                  <a:pt x="2939" y="225"/>
                </a:lnTo>
                <a:lnTo>
                  <a:pt x="2974" y="199"/>
                </a:lnTo>
                <a:lnTo>
                  <a:pt x="3012" y="172"/>
                </a:lnTo>
                <a:lnTo>
                  <a:pt x="3056" y="146"/>
                </a:lnTo>
                <a:lnTo>
                  <a:pt x="3105" y="122"/>
                </a:lnTo>
                <a:lnTo>
                  <a:pt x="3162" y="99"/>
                </a:lnTo>
                <a:lnTo>
                  <a:pt x="3223" y="78"/>
                </a:lnTo>
                <a:lnTo>
                  <a:pt x="3293" y="59"/>
                </a:lnTo>
                <a:lnTo>
                  <a:pt x="3369" y="42"/>
                </a:lnTo>
                <a:lnTo>
                  <a:pt x="3455" y="30"/>
                </a:lnTo>
                <a:lnTo>
                  <a:pt x="3547" y="19"/>
                </a:lnTo>
                <a:lnTo>
                  <a:pt x="3648" y="12"/>
                </a:lnTo>
                <a:lnTo>
                  <a:pt x="3735" y="11"/>
                </a:lnTo>
                <a:lnTo>
                  <a:pt x="3836" y="7"/>
                </a:lnTo>
                <a:lnTo>
                  <a:pt x="3949" y="5"/>
                </a:lnTo>
                <a:lnTo>
                  <a:pt x="4073" y="4"/>
                </a:lnTo>
                <a:lnTo>
                  <a:pt x="4210" y="2"/>
                </a:lnTo>
                <a:lnTo>
                  <a:pt x="4358" y="0"/>
                </a:lnTo>
                <a:lnTo>
                  <a:pt x="4519" y="0"/>
                </a:lnTo>
                <a:lnTo>
                  <a:pt x="4689" y="0"/>
                </a:lnTo>
                <a:lnTo>
                  <a:pt x="4907" y="0"/>
                </a:lnTo>
                <a:lnTo>
                  <a:pt x="5116" y="2"/>
                </a:lnTo>
                <a:lnTo>
                  <a:pt x="5318" y="2"/>
                </a:lnTo>
                <a:lnTo>
                  <a:pt x="5513" y="4"/>
                </a:lnTo>
                <a:lnTo>
                  <a:pt x="5702" y="5"/>
                </a:lnTo>
                <a:lnTo>
                  <a:pt x="5702" y="73"/>
                </a:lnTo>
                <a:lnTo>
                  <a:pt x="5513" y="72"/>
                </a:lnTo>
                <a:lnTo>
                  <a:pt x="5318" y="70"/>
                </a:lnTo>
                <a:lnTo>
                  <a:pt x="5116" y="70"/>
                </a:lnTo>
                <a:lnTo>
                  <a:pt x="4907" y="68"/>
                </a:lnTo>
                <a:lnTo>
                  <a:pt x="4689" y="68"/>
                </a:lnTo>
                <a:lnTo>
                  <a:pt x="4519" y="68"/>
                </a:lnTo>
                <a:lnTo>
                  <a:pt x="4358" y="70"/>
                </a:lnTo>
                <a:lnTo>
                  <a:pt x="4210" y="70"/>
                </a:lnTo>
                <a:lnTo>
                  <a:pt x="4073" y="72"/>
                </a:lnTo>
                <a:lnTo>
                  <a:pt x="3949" y="73"/>
                </a:lnTo>
                <a:lnTo>
                  <a:pt x="3836" y="75"/>
                </a:lnTo>
                <a:lnTo>
                  <a:pt x="3735" y="78"/>
                </a:lnTo>
                <a:lnTo>
                  <a:pt x="3648" y="80"/>
                </a:lnTo>
                <a:lnTo>
                  <a:pt x="3547" y="87"/>
                </a:lnTo>
                <a:lnTo>
                  <a:pt x="3455" y="98"/>
                </a:lnTo>
                <a:lnTo>
                  <a:pt x="3369" y="110"/>
                </a:lnTo>
                <a:lnTo>
                  <a:pt x="3293" y="127"/>
                </a:lnTo>
                <a:lnTo>
                  <a:pt x="3223" y="146"/>
                </a:lnTo>
                <a:lnTo>
                  <a:pt x="3162" y="167"/>
                </a:lnTo>
                <a:lnTo>
                  <a:pt x="3105" y="190"/>
                </a:lnTo>
                <a:lnTo>
                  <a:pt x="3056" y="214"/>
                </a:lnTo>
                <a:lnTo>
                  <a:pt x="3012" y="240"/>
                </a:lnTo>
                <a:lnTo>
                  <a:pt x="2974" y="266"/>
                </a:lnTo>
                <a:lnTo>
                  <a:pt x="2939" y="293"/>
                </a:lnTo>
                <a:lnTo>
                  <a:pt x="2911" y="320"/>
                </a:lnTo>
                <a:lnTo>
                  <a:pt x="2887" y="345"/>
                </a:lnTo>
                <a:lnTo>
                  <a:pt x="2868" y="371"/>
                </a:lnTo>
                <a:lnTo>
                  <a:pt x="2852" y="394"/>
                </a:lnTo>
                <a:lnTo>
                  <a:pt x="2835" y="371"/>
                </a:lnTo>
                <a:lnTo>
                  <a:pt x="2816" y="345"/>
                </a:lnTo>
                <a:lnTo>
                  <a:pt x="2791" y="320"/>
                </a:lnTo>
                <a:lnTo>
                  <a:pt x="2763" y="293"/>
                </a:lnTo>
                <a:lnTo>
                  <a:pt x="2730" y="266"/>
                </a:lnTo>
                <a:lnTo>
                  <a:pt x="2690" y="240"/>
                </a:lnTo>
                <a:lnTo>
                  <a:pt x="2647" y="214"/>
                </a:lnTo>
                <a:lnTo>
                  <a:pt x="2598" y="190"/>
                </a:lnTo>
                <a:lnTo>
                  <a:pt x="2542" y="167"/>
                </a:lnTo>
                <a:lnTo>
                  <a:pt x="2480" y="146"/>
                </a:lnTo>
                <a:lnTo>
                  <a:pt x="2410" y="127"/>
                </a:lnTo>
                <a:lnTo>
                  <a:pt x="2333" y="110"/>
                </a:lnTo>
                <a:lnTo>
                  <a:pt x="2248" y="98"/>
                </a:lnTo>
                <a:lnTo>
                  <a:pt x="2156" y="87"/>
                </a:lnTo>
                <a:lnTo>
                  <a:pt x="2055" y="80"/>
                </a:lnTo>
                <a:lnTo>
                  <a:pt x="1968" y="78"/>
                </a:lnTo>
                <a:lnTo>
                  <a:pt x="1867" y="75"/>
                </a:lnTo>
                <a:lnTo>
                  <a:pt x="1754" y="73"/>
                </a:lnTo>
                <a:lnTo>
                  <a:pt x="1630" y="72"/>
                </a:lnTo>
                <a:lnTo>
                  <a:pt x="1492" y="70"/>
                </a:lnTo>
                <a:lnTo>
                  <a:pt x="1344" y="70"/>
                </a:lnTo>
                <a:lnTo>
                  <a:pt x="1184" y="68"/>
                </a:lnTo>
                <a:lnTo>
                  <a:pt x="1014" y="68"/>
                </a:lnTo>
                <a:lnTo>
                  <a:pt x="796" y="68"/>
                </a:lnTo>
                <a:lnTo>
                  <a:pt x="587" y="70"/>
                </a:lnTo>
                <a:lnTo>
                  <a:pt x="385" y="70"/>
                </a:lnTo>
                <a:lnTo>
                  <a:pt x="190" y="72"/>
                </a:lnTo>
                <a:lnTo>
                  <a:pt x="0" y="73"/>
                </a:lnTo>
                <a:lnTo>
                  <a:pt x="0" y="5"/>
                </a:lnTo>
                <a:lnTo>
                  <a:pt x="190" y="4"/>
                </a:lnTo>
                <a:lnTo>
                  <a:pt x="385" y="2"/>
                </a:lnTo>
                <a:lnTo>
                  <a:pt x="587" y="2"/>
                </a:lnTo>
                <a:lnTo>
                  <a:pt x="796" y="0"/>
                </a:lnTo>
                <a:lnTo>
                  <a:pt x="1014" y="0"/>
                </a:lnTo>
                <a:close/>
              </a:path>
            </a:pathLst>
          </a:custGeom>
          <a:solidFill>
            <a:schemeClr val="accent1"/>
          </a:solidFill>
          <a:ln w="0">
            <a:noFill/>
            <a:prstDash val="solid"/>
            <a:round/>
          </a:ln>
        </p:spPr>
        <p:txBody>
          <a:bodyPr vert="horz" wrap="square" lIns="128580" tIns="64290" rIns="128580" bIns="64290" numCol="1" anchor="t" anchorCtr="0" compatLnSpc="1"/>
          <a:lstStyle/>
          <a:p>
            <a:endParaRPr lang="zh-CN" altLang="en-US"/>
          </a:p>
        </p:txBody>
      </p:sp>
      <p:sp>
        <p:nvSpPr>
          <p:cNvPr id="3" name="灯片编号占位符 2">
            <a:extLst>
              <a:ext uri="{FF2B5EF4-FFF2-40B4-BE49-F238E27FC236}">
                <a16:creationId xmlns:a16="http://schemas.microsoft.com/office/drawing/2014/main" id="{F6983297-C206-44DC-AD85-FA207CD2EB7B}"/>
              </a:ext>
            </a:extLst>
          </p:cNvPr>
          <p:cNvSpPr>
            <a:spLocks noGrp="1"/>
          </p:cNvSpPr>
          <p:nvPr>
            <p:ph type="sldNum" sz="quarter" idx="12"/>
          </p:nvPr>
        </p:nvSpPr>
        <p:spPr/>
        <p:txBody>
          <a:bodyPr/>
          <a:lstStyle/>
          <a:p>
            <a:fld id="{37AAA611-6692-4583-86AB-5AB9B972BD46}" type="slidenum">
              <a:rPr lang="zh-CN" altLang="en-US" smtClean="0"/>
              <a:t>23</a:t>
            </a:fld>
            <a:endParaRPr lang="zh-CN" altLang="en-US"/>
          </a:p>
        </p:txBody>
      </p:sp>
      <p:sp>
        <p:nvSpPr>
          <p:cNvPr id="5" name="日期占位符 4">
            <a:extLst>
              <a:ext uri="{FF2B5EF4-FFF2-40B4-BE49-F238E27FC236}">
                <a16:creationId xmlns:a16="http://schemas.microsoft.com/office/drawing/2014/main" id="{E5D3EF05-A2B4-427C-93D5-6BF32E634F2F}"/>
              </a:ext>
            </a:extLst>
          </p:cNvPr>
          <p:cNvSpPr>
            <a:spLocks noGrp="1"/>
          </p:cNvSpPr>
          <p:nvPr>
            <p:ph type="dt" sz="half" idx="10"/>
          </p:nvPr>
        </p:nvSpPr>
        <p:spPr/>
        <p:txBody>
          <a:bodyPr/>
          <a:lstStyle/>
          <a:p>
            <a:fld id="{607A176C-1213-4B0A-A802-F7C1E3E0AB2F}" type="datetime1">
              <a:rPr lang="zh-CN" altLang="en-US" smtClean="0"/>
              <a:t>2021/6/8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3.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4.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5.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6.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7.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8.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9.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0.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1.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2.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3.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4.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5.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6.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7.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8.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19.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0.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1.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2.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3.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4.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5.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6.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7.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8.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29.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30.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31.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ags/tag32.xml><?xml version="1.0" encoding="utf-8"?>
<p:tagLst xmlns:a="http://schemas.openxmlformats.org/drawingml/2006/main" xmlns:r="http://schemas.openxmlformats.org/officeDocument/2006/relationships" xmlns:p="http://schemas.openxmlformats.org/presentationml/2006/main">
  <p:tag name="MH" val="20160830110547"/>
  <p:tag name="MH_LIBRARY" val="CONTENTS"/>
  <p:tag name="MH_TYPE" val="OTHERS"/>
  <p:tag name="ID" val="545840"/>
</p:tagLst>
</file>

<file path=ppt/theme/theme1.xml><?xml version="1.0" encoding="utf-8"?>
<a:theme xmlns:a="http://schemas.openxmlformats.org/drawingml/2006/main" name="自定义设计方案">
  <a:themeElements>
    <a:clrScheme name="自定义 93">
      <a:dk1>
        <a:srgbClr val="000000"/>
      </a:dk1>
      <a:lt1>
        <a:srgbClr val="FFFFFF"/>
      </a:lt1>
      <a:dk2>
        <a:srgbClr val="44546A"/>
      </a:dk2>
      <a:lt2>
        <a:srgbClr val="E7E6E6"/>
      </a:lt2>
      <a:accent1>
        <a:srgbClr val="003366"/>
      </a:accent1>
      <a:accent2>
        <a:srgbClr val="003366"/>
      </a:accent2>
      <a:accent3>
        <a:srgbClr val="003366"/>
      </a:accent3>
      <a:accent4>
        <a:srgbClr val="003366"/>
      </a:accent4>
      <a:accent5>
        <a:srgbClr val="003366"/>
      </a:accent5>
      <a:accent6>
        <a:srgbClr val="003366"/>
      </a:accent6>
      <a:hlink>
        <a:srgbClr val="003366"/>
      </a:hlink>
      <a:folHlink>
        <a:srgbClr val="003366"/>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D9D9D9">
            <a:alpha val="50196"/>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1458</Words>
  <Application>Microsoft Office PowerPoint</Application>
  <PresentationFormat>自定义</PresentationFormat>
  <Paragraphs>208</Paragraphs>
  <Slides>23</Slides>
  <Notes>23</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-apple-system</vt:lpstr>
      <vt:lpstr>微软雅黑</vt:lpstr>
      <vt:lpstr>微软雅黑</vt:lpstr>
      <vt:lpstr>arial</vt:lpstr>
      <vt:lpstr>arial</vt:lpstr>
      <vt:lpstr>Calibri</vt:lpstr>
      <vt:lpstr>Impact</vt:lpstr>
      <vt:lpstr>Times New Roman</vt:lpstr>
      <vt:lpstr>Wingdings</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教育培訓</dc:title>
  <dc:creator/>
  <cp:keywords>第一PPT模板网：www.1ppt.com</cp:keywords>
  <cp:lastModifiedBy/>
  <cp:revision>64</cp:revision>
  <dcterms:created xsi:type="dcterms:W3CDTF">2019-10-06T14:41:51Z</dcterms:created>
  <dcterms:modified xsi:type="dcterms:W3CDTF">2021-06-08T01:55:41Z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2052-10.1.0.6757</vt:lpwstr>
  </property>
</Properties>
</file>