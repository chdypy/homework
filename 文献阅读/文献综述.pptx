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410" r:id="rId2"/>
    <p:sldId id="707" r:id="rId3"/>
    <p:sldId id="488" r:id="rId4"/>
    <p:sldId id="417" r:id="rId5"/>
    <p:sldId id="492" r:id="rId6"/>
    <p:sldId id="710" r:id="rId7"/>
    <p:sldId id="549" r:id="rId8"/>
    <p:sldId id="500" r:id="rId9"/>
    <p:sldId id="709" r:id="rId10"/>
    <p:sldId id="51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118" autoAdjust="0"/>
  </p:normalViewPr>
  <p:slideViewPr>
    <p:cSldViewPr snapToGrid="0">
      <p:cViewPr varScale="1">
        <p:scale>
          <a:sx n="87" d="100"/>
          <a:sy n="87" d="100"/>
        </p:scale>
        <p:origin x="499"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CD92E-36FC-4883-8176-5A84B4902B50}" type="datetimeFigureOut">
              <a:rPr lang="zh-CN" altLang="en-US" smtClean="0"/>
              <a:t>2021/6/24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D1A5A1-93A4-4EFA-AF0C-FD5BD6BBB15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b="1" dirty="0"/>
          </a:p>
        </p:txBody>
      </p:sp>
      <p:sp>
        <p:nvSpPr>
          <p:cNvPr id="4" name="Slide Number Placeholder 3"/>
          <p:cNvSpPr>
            <a:spLocks noGrp="1"/>
          </p:cNvSpPr>
          <p:nvPr>
            <p:ph type="sldNum" sz="quarter" idx="10"/>
          </p:nvPr>
        </p:nvSpPr>
        <p:spPr/>
        <p:txBody>
          <a:bodyPr/>
          <a:lstStyle/>
          <a:p>
            <a:fld id="{F36554A8-A301-4248-95DA-7962D7EC19F2}"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33450" indent="-933450"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33450" indent="-933450"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6554A8-A301-4248-95DA-7962D7EC19F2}" type="slidenum">
              <a:rPr lang="en-US" smtClean="0"/>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F93927-017B-4B7E-B23C-DD698B0260B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7" name="矩形 6"/>
          <p:cNvSpPr/>
          <p:nvPr userDrawn="1"/>
        </p:nvSpPr>
        <p:spPr>
          <a:xfrm>
            <a:off x="371325" y="387275"/>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8" name="矩形 7"/>
          <p:cNvSpPr/>
          <p:nvPr userDrawn="1"/>
        </p:nvSpPr>
        <p:spPr>
          <a:xfrm>
            <a:off x="119325" y="135275"/>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9" name="矩形 8"/>
          <p:cNvSpPr/>
          <p:nvPr userDrawn="1"/>
        </p:nvSpPr>
        <p:spPr>
          <a:xfrm>
            <a:off x="11226675" y="6318000"/>
            <a:ext cx="540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p>
        </p:txBody>
      </p:sp>
      <p:sp>
        <p:nvSpPr>
          <p:cNvPr id="16" name="灯片编号占位符 15"/>
          <p:cNvSpPr>
            <a:spLocks noGrp="1"/>
          </p:cNvSpPr>
          <p:nvPr>
            <p:ph type="sldNum" sz="quarter" idx="12"/>
          </p:nvPr>
        </p:nvSpPr>
        <p:spPr>
          <a:xfrm>
            <a:off x="10801349" y="6405439"/>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467D58-C645-4392-AF30-0741EDCAFA11}" type="datetimeFigureOut">
              <a:rPr lang="zh-CN" altLang="en-US" smtClean="0"/>
              <a:t>2021/6/24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F93927-017B-4B7E-B23C-DD698B0260B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image" Target="../media/image4.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8.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9.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10.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png"/><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1"/>
            </p:custDataLst>
          </p:nvPr>
        </p:nvSpPr>
        <p:spPr>
          <a:xfrm>
            <a:off x="1905" y="1490345"/>
            <a:ext cx="12212955" cy="2304415"/>
          </a:xfrm>
          <a:prstGeom prst="rect">
            <a:avLst/>
          </a:prstGeom>
          <a:solidFill>
            <a:srgbClr val="0066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altLang="zh-CN" sz="2400" dirty="0">
                <a:ln w="18000">
                  <a:solidFill>
                    <a:schemeClr val="accent2">
                      <a:satMod val="140000"/>
                    </a:schemeClr>
                  </a:solidFill>
                  <a:prstDash val="solid"/>
                  <a:miter lim="800000"/>
                </a:ln>
                <a:noFill/>
                <a:latin typeface="微软雅黑" panose="020B0503020204020204" pitchFamily="34" charset="-122"/>
                <a:ea typeface="微软雅黑" panose="020B0503020204020204" pitchFamily="34" charset="-122"/>
              </a:rPr>
              <a:t> </a:t>
            </a:r>
            <a:endParaRPr lang="zh-CN" altLang="en-US" sz="2400" dirty="0">
              <a:ln w="18000">
                <a:solidFill>
                  <a:schemeClr val="accent2">
                    <a:satMod val="140000"/>
                  </a:schemeClr>
                </a:solidFill>
                <a:prstDash val="solid"/>
                <a:miter lim="800000"/>
              </a:ln>
              <a:noFill/>
              <a:latin typeface="微软雅黑" panose="020B0503020204020204" pitchFamily="34" charset="-122"/>
              <a:ea typeface="微软雅黑" panose="020B0503020204020204" pitchFamily="34" charset="-122"/>
            </a:endParaRPr>
          </a:p>
        </p:txBody>
      </p:sp>
      <p:sp>
        <p:nvSpPr>
          <p:cNvPr id="12" name="矩形 11"/>
          <p:cNvSpPr/>
          <p:nvPr>
            <p:custDataLst>
              <p:tags r:id="rId2"/>
            </p:custDataLst>
          </p:nvPr>
        </p:nvSpPr>
        <p:spPr>
          <a:xfrm flipV="1">
            <a:off x="1546860" y="3939540"/>
            <a:ext cx="9122410" cy="76200"/>
          </a:xfrm>
          <a:prstGeom prst="rect">
            <a:avLst/>
          </a:prstGeom>
          <a:solidFill>
            <a:srgbClr val="0066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altLang="zh-CN" sz="24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 </a:t>
            </a:r>
            <a:endParaRPr lang="zh-CN" altLang="en-US" sz="240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5" name="文本框 4"/>
          <p:cNvSpPr txBox="1"/>
          <p:nvPr>
            <p:custDataLst>
              <p:tags r:id="rId3"/>
            </p:custDataLst>
          </p:nvPr>
        </p:nvSpPr>
        <p:spPr>
          <a:xfrm>
            <a:off x="202247" y="2257831"/>
            <a:ext cx="11819707" cy="706755"/>
          </a:xfrm>
          <a:prstGeom prst="rect">
            <a:avLst/>
          </a:prstGeom>
          <a:solidFill>
            <a:srgbClr val="006699"/>
          </a:solidFill>
        </p:spPr>
        <p:txBody>
          <a:bodyPr wrap="square" lIns="91440" tIns="45720" rIns="91440" bIns="45720" rtlCol="0">
            <a:spAutoFit/>
          </a:bodyPr>
          <a:lstStyle/>
          <a:p>
            <a:pPr algn="ctr"/>
            <a:r>
              <a:rPr lang="zh-CN" sz="4000" b="1" dirty="0" smtClean="0">
                <a:solidFill>
                  <a:schemeClr val="accent2">
                    <a:lumMod val="60000"/>
                    <a:lumOff val="40000"/>
                  </a:schemeClr>
                </a:solidFill>
                <a:latin typeface="微软雅黑" panose="020B0503020204020204" pitchFamily="34" charset="-122"/>
                <a:ea typeface="微软雅黑" panose="020B0503020204020204" pitchFamily="34" charset="-122"/>
              </a:rPr>
              <a:t>基于</a:t>
            </a:r>
            <a:r>
              <a:rPr lang="zh-CN" altLang="en-US" sz="4000" b="1" dirty="0" smtClean="0">
                <a:solidFill>
                  <a:schemeClr val="accent2">
                    <a:lumMod val="60000"/>
                    <a:lumOff val="40000"/>
                  </a:schemeClr>
                </a:solidFill>
                <a:latin typeface="微软雅黑" panose="020B0503020204020204" pitchFamily="34" charset="-122"/>
                <a:ea typeface="微软雅黑" panose="020B0503020204020204" pitchFamily="34" charset="-122"/>
              </a:rPr>
              <a:t>知识追踪</a:t>
            </a:r>
            <a:r>
              <a:rPr lang="zh-CN" sz="4000" b="1" dirty="0" smtClean="0">
                <a:solidFill>
                  <a:schemeClr val="accent2">
                    <a:lumMod val="60000"/>
                    <a:lumOff val="40000"/>
                  </a:schemeClr>
                </a:solidFill>
                <a:latin typeface="微软雅黑" panose="020B0503020204020204" pitchFamily="34" charset="-122"/>
                <a:ea typeface="微软雅黑" panose="020B0503020204020204" pitchFamily="34" charset="-122"/>
              </a:rPr>
              <a:t>的</a:t>
            </a:r>
            <a:r>
              <a:rPr lang="zh-CN" sz="4000" b="1" dirty="0">
                <a:solidFill>
                  <a:schemeClr val="accent2">
                    <a:lumMod val="60000"/>
                    <a:lumOff val="40000"/>
                  </a:schemeClr>
                </a:solidFill>
                <a:latin typeface="微软雅黑" panose="020B0503020204020204" pitchFamily="34" charset="-122"/>
                <a:ea typeface="微软雅黑" panose="020B0503020204020204" pitchFamily="34" charset="-122"/>
              </a:rPr>
              <a:t>同行互评关键技术研究</a:t>
            </a:r>
            <a:endParaRPr lang="zh-CN" sz="4000" b="1" dirty="0">
              <a:solidFill>
                <a:schemeClr val="bg1"/>
              </a:solidFill>
              <a:latin typeface="微软雅黑" panose="020B0503020204020204" pitchFamily="34" charset="-122"/>
              <a:ea typeface="微软雅黑" panose="020B0503020204020204" pitchFamily="34" charset="-122"/>
            </a:endParaRPr>
          </a:p>
        </p:txBody>
      </p:sp>
      <p:sp>
        <p:nvSpPr>
          <p:cNvPr id="26" name="副标题 4"/>
          <p:cNvSpPr txBox="1"/>
          <p:nvPr>
            <p:custDataLst>
              <p:tags r:id="rId4"/>
            </p:custDataLst>
          </p:nvPr>
        </p:nvSpPr>
        <p:spPr bwMode="auto">
          <a:xfrm>
            <a:off x="9534524" y="5648325"/>
            <a:ext cx="1284271" cy="4851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pPr>
            <a:r>
              <a:rPr lang="en-US" altLang="zh-CN" sz="2265" b="1" dirty="0" smtClean="0">
                <a:solidFill>
                  <a:schemeClr val="bg1">
                    <a:lumMod val="50000"/>
                  </a:schemeClr>
                </a:solidFill>
                <a:latin typeface="Times New Roman" panose="02020603050405020304" pitchFamily="18" charset="0"/>
                <a:ea typeface="黑体" panose="02010609060101010101" charset="-122"/>
                <a:cs typeface="Times New Roman" panose="02020603050405020304" pitchFamily="18" charset="0"/>
              </a:rPr>
              <a:t>2021.06</a:t>
            </a:r>
            <a:endParaRPr lang="zh-CN" altLang="en-US" sz="2265" b="1" dirty="0">
              <a:solidFill>
                <a:schemeClr val="bg1">
                  <a:lumMod val="50000"/>
                </a:schemeClr>
              </a:solidFill>
              <a:latin typeface="Times New Roman" panose="02020603050405020304" pitchFamily="18" charset="0"/>
              <a:ea typeface="黑体" panose="02010609060101010101" charset="-122"/>
              <a:cs typeface="Times New Roman" panose="02020603050405020304" pitchFamily="18" charset="0"/>
            </a:endParaRPr>
          </a:p>
        </p:txBody>
      </p:sp>
      <p:pic>
        <p:nvPicPr>
          <p:cNvPr id="3" name="Picture 13" descr="http://www.ccie.gxu.edu.cn/Web2016/images/logo.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247" y="268264"/>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custDataLst>
              <p:tags r:id="rId5"/>
            </p:custDataLst>
          </p:nvPr>
        </p:nvSpPr>
        <p:spPr>
          <a:xfrm>
            <a:off x="3216910" y="4420870"/>
            <a:ext cx="5354955" cy="1015663"/>
          </a:xfrm>
          <a:prstGeom prst="rect">
            <a:avLst/>
          </a:prstGeom>
          <a:noFill/>
        </p:spPr>
        <p:txBody>
          <a:bodyPr wrap="square" lIns="91440" tIns="45720" rIns="91440" bIns="45720" rtlCol="0">
            <a:spAutoFit/>
          </a:bodyPr>
          <a:lstStyle/>
          <a:p>
            <a:pPr algn="ctr"/>
            <a:r>
              <a:rPr lang="zh-CN"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答辩人</a:t>
            </a:r>
            <a:r>
              <a:rPr lang="zh-CN" altLang="en-US" sz="2000" b="1" dirty="0" smtClean="0">
                <a:solidFill>
                  <a:schemeClr val="tx1">
                    <a:lumMod val="95000"/>
                    <a:lumOff val="5000"/>
                  </a:schemeClr>
                </a:solidFill>
                <a:latin typeface="Times New Roman" panose="02020603050405020304" pitchFamily="18" charset="0"/>
                <a:cs typeface="Times New Roman" panose="02020603050405020304" pitchFamily="18" charset="0"/>
              </a:rPr>
              <a:t>：杨攀原</a:t>
            </a:r>
            <a:endParaRPr lang="en-US" altLang="zh-CN" sz="2000" b="1"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pPr algn="ctr"/>
            <a:endParaRPr lang="en-US" altLang="zh-CN"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zh-CN"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                           导    师：许    嘉       </a:t>
            </a:r>
            <a:endParaRPr lang="en-US" altLang="zh-CN"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研究背景</a:t>
            </a:r>
            <a:endParaRPr 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normAutofit fontScale="82500" lnSpcReduction="20000"/>
          </a:bodyPr>
          <a:lstStyle/>
          <a:p>
            <a:fld id="{51D91E7F-84B6-4064-9D4E-CC7D244BCA04}" type="slidenum">
              <a:rPr lang="zh-CN" altLang="en-US" sz="2665" smtClean="0"/>
              <a:t>2</a:t>
            </a:fld>
            <a:endParaRPr lang="zh-CN" altLang="en-US" sz="2665" dirty="0"/>
          </a:p>
        </p:txBody>
      </p:sp>
      <p:pic>
        <p:nvPicPr>
          <p:cNvPr id="2" name="Picture 13" descr="http://www.ccie.gxu.edu.cn/Web2016/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713" y="2289"/>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289050" y="1336675"/>
            <a:ext cx="9838690" cy="1014730"/>
          </a:xfrm>
          <a:prstGeom prst="rect">
            <a:avLst/>
          </a:prstGeom>
          <a:noFill/>
        </p:spPr>
        <p:txBody>
          <a:bodyPr wrap="square" rtlCol="0">
            <a:spAutoFit/>
          </a:bodyPr>
          <a:lstStyle/>
          <a:p>
            <a:pPr marL="342900" indent="-342900" fontAlgn="auto">
              <a:lnSpc>
                <a:spcPct val="150000"/>
              </a:lnSpc>
              <a:buFont typeface="Wingdings" panose="05000000000000000000" charset="0"/>
              <a:buChar char="Ø"/>
            </a:pPr>
            <a:r>
              <a:rPr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以Coursera、edX、中国大学MOOC和学堂在线为代表的</a:t>
            </a:r>
            <a:r>
              <a:rPr 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国内外</a:t>
            </a:r>
            <a:r>
              <a:rPr altLang="zh-CN" sz="2000" b="1" u="sng"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在线教育平台兴起</a:t>
            </a:r>
            <a:endParaRPr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342900" indent="-342900" fontAlgn="auto">
              <a:lnSpc>
                <a:spcPct val="150000"/>
              </a:lnSpc>
              <a:buFont typeface="Wingdings" panose="05000000000000000000" charset="0"/>
              <a:buChar char="Ø"/>
            </a:pPr>
            <a:r>
              <a:rPr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教师如何高效</a:t>
            </a:r>
            <a:r>
              <a:rPr altLang="zh-CN" sz="2000" b="1"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批改</a:t>
            </a:r>
            <a:r>
              <a:rPr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大规模选课学生在平台上提交的</a:t>
            </a:r>
            <a:r>
              <a:rPr altLang="zh-CN" sz="2000" b="1" u="sng" kern="100" dirty="0">
                <a:solidFill>
                  <a:srgbClr val="C00000"/>
                </a:solidFill>
                <a:effectLst/>
                <a:latin typeface="Times New Roman" panose="02020603050405020304" pitchFamily="18" charset="0"/>
                <a:ea typeface="楷体" panose="02010609060101010101" pitchFamily="49" charset="-122"/>
                <a:cs typeface="Times New Roman" panose="02020603050405020304" pitchFamily="18" charset="0"/>
              </a:rPr>
              <a:t>作业</a:t>
            </a:r>
          </a:p>
        </p:txBody>
      </p:sp>
      <p:pic>
        <p:nvPicPr>
          <p:cNvPr id="7" name="图片 6" descr="2f4985f1c90e33be6111d65c51a24020"/>
          <p:cNvPicPr>
            <a:picLocks noChangeAspect="1"/>
          </p:cNvPicPr>
          <p:nvPr/>
        </p:nvPicPr>
        <p:blipFill>
          <a:blip r:embed="rId5"/>
          <a:stretch>
            <a:fillRect/>
          </a:stretch>
        </p:blipFill>
        <p:spPr>
          <a:xfrm>
            <a:off x="1289050" y="2691765"/>
            <a:ext cx="2108200" cy="3513455"/>
          </a:xfrm>
          <a:prstGeom prst="rect">
            <a:avLst/>
          </a:prstGeom>
        </p:spPr>
      </p:pic>
      <p:pic>
        <p:nvPicPr>
          <p:cNvPr id="8" name="图片 7" descr="中国大学MOOC"/>
          <p:cNvPicPr>
            <a:picLocks noChangeAspect="1"/>
          </p:cNvPicPr>
          <p:nvPr/>
        </p:nvPicPr>
        <p:blipFill>
          <a:blip r:embed="rId6"/>
          <a:stretch>
            <a:fillRect/>
          </a:stretch>
        </p:blipFill>
        <p:spPr>
          <a:xfrm>
            <a:off x="3836670" y="3042920"/>
            <a:ext cx="7420610" cy="2927350"/>
          </a:xfrm>
          <a:prstGeom prst="rect">
            <a:avLst/>
          </a:prstGeom>
        </p:spPr>
      </p:pic>
    </p:spTree>
    <p:custDataLst>
      <p:tags r:id="rId1"/>
    </p:custData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sz="3200" b="1" dirty="0">
                <a:solidFill>
                  <a:schemeClr val="accent1">
                    <a:lumMod val="50000"/>
                  </a:schemeClr>
                </a:solidFill>
                <a:latin typeface="Times New Roman" panose="02020603050405020304" pitchFamily="18" charset="0"/>
                <a:cs typeface="Times New Roman" panose="02020603050405020304" pitchFamily="18" charset="0"/>
              </a:rPr>
              <a:t>研究背景</a:t>
            </a:r>
          </a:p>
        </p:txBody>
      </p:sp>
      <p:sp>
        <p:nvSpPr>
          <p:cNvPr id="4" name="灯片编号占位符 3"/>
          <p:cNvSpPr>
            <a:spLocks noGrp="1"/>
          </p:cNvSpPr>
          <p:nvPr>
            <p:ph type="sldNum" sz="quarter" idx="12"/>
          </p:nvPr>
        </p:nvSpPr>
        <p:spPr/>
        <p:txBody>
          <a:bodyPr>
            <a:normAutofit fontScale="80000" lnSpcReduction="20000"/>
          </a:bodyPr>
          <a:lstStyle/>
          <a:p>
            <a:fld id="{51D91E7F-84B6-4064-9D4E-CC7D244BCA04}" type="slidenum">
              <a:rPr lang="zh-CN" altLang="en-US" sz="2665" smtClean="0"/>
              <a:t>3</a:t>
            </a:fld>
            <a:endParaRPr lang="zh-CN" altLang="en-US" sz="2665" dirty="0"/>
          </a:p>
        </p:txBody>
      </p:sp>
      <p:sp>
        <p:nvSpPr>
          <p:cNvPr id="3" name="object 24"/>
          <p:cNvSpPr txBox="1"/>
          <p:nvPr/>
        </p:nvSpPr>
        <p:spPr>
          <a:xfrm>
            <a:off x="2131695" y="1526540"/>
            <a:ext cx="8220075" cy="443230"/>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Times New Roman" panose="02020603050405020304" pitchFamily="18" charset="0"/>
                <a:ea typeface="楷体" panose="02010609060101010101" pitchFamily="49" charset="-122"/>
                <a:sym typeface="+mn-ea"/>
              </a:rPr>
              <a:t>如何高效批改大规模选课学生在平台上提交的作业</a:t>
            </a:r>
            <a:r>
              <a:rPr lang="zh-CN" sz="2800" b="1" spc="-5" dirty="0">
                <a:latin typeface="Times New Roman" panose="02020603050405020304" pitchFamily="18" charset="0"/>
                <a:ea typeface="楷体" panose="02010609060101010101" pitchFamily="49" charset="-122"/>
                <a:sym typeface="+mn-ea"/>
              </a:rPr>
              <a:t>？</a:t>
            </a:r>
          </a:p>
        </p:txBody>
      </p:sp>
      <p:sp>
        <p:nvSpPr>
          <p:cNvPr id="10" name="文本框 9"/>
          <p:cNvSpPr txBox="1"/>
          <p:nvPr/>
        </p:nvSpPr>
        <p:spPr>
          <a:xfrm>
            <a:off x="539115" y="3333115"/>
            <a:ext cx="3797935" cy="1198880"/>
          </a:xfrm>
          <a:prstGeom prst="rect">
            <a:avLst/>
          </a:prstGeom>
          <a:noFill/>
        </p:spPr>
        <p:txBody>
          <a:bodyPr wrap="square">
            <a:spAutoFit/>
          </a:bodyPr>
          <a:lstStyle/>
          <a:p>
            <a:pPr indent="-285750" fontAlgn="auto">
              <a:lnSpc>
                <a:spcPct val="100000"/>
              </a:lnSpc>
              <a:buFont typeface="Wingdings" panose="05000000000000000000" charset="0"/>
              <a:buChar char="Ø"/>
            </a:pPr>
            <a:r>
              <a:rPr lang="zh-CN" altLang="en-US" sz="2400" dirty="0">
                <a:solidFill>
                  <a:schemeClr val="tx1"/>
                </a:solidFill>
                <a:latin typeface="楷体" panose="02010609060101010101" pitchFamily="49" charset="-122"/>
                <a:ea typeface="楷体" panose="02010609060101010101" pitchFamily="49" charset="-122"/>
                <a:sym typeface="+mn-ea"/>
              </a:rPr>
              <a:t>各大在线教育平台提供了</a:t>
            </a:r>
            <a:r>
              <a:rPr lang="zh-CN" altLang="en-US" sz="2400" b="1" dirty="0">
                <a:solidFill>
                  <a:srgbClr val="C00000"/>
                </a:solidFill>
                <a:latin typeface="楷体" panose="02010609060101010101" pitchFamily="49" charset="-122"/>
                <a:ea typeface="楷体" panose="02010609060101010101" pitchFamily="49" charset="-122"/>
                <a:sym typeface="+mn-ea"/>
              </a:rPr>
              <a:t>客观题</a:t>
            </a:r>
            <a:r>
              <a:rPr lang="zh-CN" altLang="en-US" sz="2400" dirty="0">
                <a:solidFill>
                  <a:schemeClr val="tx1"/>
                </a:solidFill>
                <a:latin typeface="楷体" panose="02010609060101010101" pitchFamily="49" charset="-122"/>
                <a:ea typeface="楷体" panose="02010609060101010101" pitchFamily="49" charset="-122"/>
                <a:sym typeface="+mn-ea"/>
              </a:rPr>
              <a:t>（例如选择题和判断题）的</a:t>
            </a:r>
            <a:r>
              <a:rPr lang="zh-CN" altLang="en-US" sz="2400" b="1" dirty="0">
                <a:solidFill>
                  <a:srgbClr val="C00000"/>
                </a:solidFill>
                <a:latin typeface="楷体" panose="02010609060101010101" pitchFamily="49" charset="-122"/>
                <a:ea typeface="楷体" panose="02010609060101010101" pitchFamily="49" charset="-122"/>
                <a:sym typeface="+mn-ea"/>
              </a:rPr>
              <a:t>自动批改</a:t>
            </a:r>
            <a:r>
              <a:rPr lang="zh-CN" altLang="en-US" sz="2400" dirty="0">
                <a:solidFill>
                  <a:schemeClr val="tx1"/>
                </a:solidFill>
                <a:latin typeface="楷体" panose="02010609060101010101" pitchFamily="49" charset="-122"/>
                <a:ea typeface="楷体" panose="02010609060101010101" pitchFamily="49" charset="-122"/>
                <a:sym typeface="+mn-ea"/>
              </a:rPr>
              <a:t>功能</a:t>
            </a:r>
          </a:p>
        </p:txBody>
      </p:sp>
      <p:sp>
        <p:nvSpPr>
          <p:cNvPr id="8" name="文本框 7"/>
          <p:cNvSpPr txBox="1"/>
          <p:nvPr/>
        </p:nvSpPr>
        <p:spPr>
          <a:xfrm>
            <a:off x="7908963" y="3333357"/>
            <a:ext cx="4282945" cy="1198880"/>
          </a:xfrm>
          <a:prstGeom prst="rect">
            <a:avLst/>
          </a:prstGeom>
          <a:noFill/>
        </p:spPr>
        <p:txBody>
          <a:bodyPr wrap="square">
            <a:spAutoFit/>
          </a:bodyPr>
          <a:lstStyle/>
          <a:p>
            <a:pPr indent="-285750" algn="l" fontAlgn="auto">
              <a:lnSpc>
                <a:spcPct val="100000"/>
              </a:lnSpc>
              <a:buClrTx/>
              <a:buSzTx/>
              <a:buFont typeface="Wingdings" panose="05000000000000000000" charset="0"/>
              <a:buChar char="Ø"/>
            </a:pPr>
            <a:r>
              <a:rPr lang="zh-CN" altLang="en-US" sz="2400" b="1" dirty="0">
                <a:solidFill>
                  <a:srgbClr val="C00000"/>
                </a:solidFill>
                <a:latin typeface="楷体" panose="02010609060101010101" pitchFamily="49" charset="-122"/>
                <a:ea typeface="楷体" panose="02010609060101010101" pitchFamily="49" charset="-122"/>
                <a:sym typeface="+mn-ea"/>
              </a:rPr>
              <a:t>主观题</a:t>
            </a:r>
            <a:r>
              <a:rPr lang="zh-CN" altLang="en-US" sz="2400" dirty="0">
                <a:solidFill>
                  <a:schemeClr val="tx1"/>
                </a:solidFill>
                <a:latin typeface="楷体" panose="02010609060101010101" pitchFamily="49" charset="-122"/>
                <a:ea typeface="楷体" panose="02010609060101010101" pitchFamily="49" charset="-122"/>
                <a:sym typeface="+mn-ea"/>
              </a:rPr>
              <a:t>的批改很难由计算机自动完成，需要任课教师花费大量精力逐份</a:t>
            </a:r>
            <a:r>
              <a:rPr lang="zh-CN" altLang="en-US" sz="2400" b="1" dirty="0">
                <a:solidFill>
                  <a:srgbClr val="C00000"/>
                </a:solidFill>
                <a:latin typeface="楷体" panose="02010609060101010101" pitchFamily="49" charset="-122"/>
                <a:ea typeface="楷体" panose="02010609060101010101" pitchFamily="49" charset="-122"/>
                <a:sym typeface="+mn-ea"/>
              </a:rPr>
              <a:t>手工批改</a:t>
            </a:r>
          </a:p>
        </p:txBody>
      </p:sp>
      <p:pic>
        <p:nvPicPr>
          <p:cNvPr id="2" name="Picture 13" descr="http://www.ccie.gxu.edu.cn/Web2016/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713" y="2289"/>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7b5f8107fd610eee5dd83af8ad139d97"/>
          <p:cNvPicPr>
            <a:picLocks noChangeAspect="1"/>
          </p:cNvPicPr>
          <p:nvPr/>
        </p:nvPicPr>
        <p:blipFill>
          <a:blip r:embed="rId5"/>
          <a:stretch>
            <a:fillRect/>
          </a:stretch>
        </p:blipFill>
        <p:spPr>
          <a:xfrm>
            <a:off x="5032375" y="2672080"/>
            <a:ext cx="2126615" cy="2858770"/>
          </a:xfrm>
          <a:prstGeom prst="rect">
            <a:avLst/>
          </a:prstGeom>
        </p:spPr>
      </p:pic>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sz="3200" b="1" dirty="0">
                <a:solidFill>
                  <a:schemeClr val="accent1">
                    <a:lumMod val="50000"/>
                  </a:schemeClr>
                </a:solidFill>
                <a:latin typeface="Times New Roman" panose="02020603050405020304" pitchFamily="18" charset="0"/>
                <a:cs typeface="Times New Roman" panose="02020603050405020304" pitchFamily="18" charset="0"/>
                <a:sym typeface="+mn-ea"/>
              </a:rPr>
              <a:t>主观题评价</a:t>
            </a:r>
            <a:endParaRPr lang="zh-CN" alt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51D91E7F-84B6-4064-9D4E-CC7D244BCA04}" type="slidenum">
              <a:rPr lang="zh-CN" altLang="en-US" smtClean="0"/>
              <a:t>4</a:t>
            </a:fld>
            <a:endParaRPr lang="zh-CN" altLang="en-US" dirty="0"/>
          </a:p>
        </p:txBody>
      </p:sp>
      <p:pic>
        <p:nvPicPr>
          <p:cNvPr id="3" name="Picture 13" descr="http://www.ccie.gxu.edu.cn/Web2016/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713" y="-4317"/>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íslídé"/>
          <p:cNvSpPr/>
          <p:nvPr/>
        </p:nvSpPr>
        <p:spPr>
          <a:xfrm rot="10800000">
            <a:off x="5061277" y="2849059"/>
            <a:ext cx="2016224" cy="1800200"/>
          </a:xfrm>
          <a:prstGeom prst="hexagon">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iśľîḑê"/>
          <p:cNvSpPr txBox="1"/>
          <p:nvPr/>
        </p:nvSpPr>
        <p:spPr>
          <a:xfrm>
            <a:off x="4230145" y="3492775"/>
            <a:ext cx="1649647" cy="584775"/>
          </a:xfrm>
          <a:prstGeom prst="rect">
            <a:avLst/>
          </a:prstGeom>
          <a:solidFill>
            <a:schemeClr val="bg1"/>
          </a:solidFill>
        </p:spPr>
        <p:txBody>
          <a:bodyPr wrap="none" lIns="90000" tIns="46800" rIns="90000" bIns="46800" anchor="ctr">
            <a:normAutofit/>
          </a:bodyPr>
          <a:lstStyle/>
          <a:p>
            <a:pPr algn="ctr"/>
            <a:r>
              <a:rPr lang="zh-CN" altLang="en-US" sz="2400"/>
              <a:t>自然语言处理技术</a:t>
            </a:r>
          </a:p>
        </p:txBody>
      </p:sp>
      <p:sp>
        <p:nvSpPr>
          <p:cNvPr id="8" name="iSľiďé"/>
          <p:cNvSpPr txBox="1"/>
          <p:nvPr/>
        </p:nvSpPr>
        <p:spPr>
          <a:xfrm>
            <a:off x="6449760" y="3492775"/>
            <a:ext cx="1658899" cy="584775"/>
          </a:xfrm>
          <a:prstGeom prst="rect">
            <a:avLst/>
          </a:prstGeom>
          <a:solidFill>
            <a:schemeClr val="bg1"/>
          </a:solidFill>
        </p:spPr>
        <p:txBody>
          <a:bodyPr wrap="none" lIns="90000" tIns="46800" rIns="90000" bIns="46800" anchor="ctr">
            <a:normAutofit/>
          </a:bodyPr>
          <a:lstStyle/>
          <a:p>
            <a:pPr algn="ctr"/>
            <a:r>
              <a:rPr lang="zh-CN" altLang="en-US" sz="2400"/>
              <a:t>同行互评技术</a:t>
            </a:r>
          </a:p>
        </p:txBody>
      </p:sp>
      <p:sp>
        <p:nvSpPr>
          <p:cNvPr id="48" name="îŝ1îḑè"/>
          <p:cNvSpPr txBox="1"/>
          <p:nvPr/>
        </p:nvSpPr>
        <p:spPr>
          <a:xfrm>
            <a:off x="33655" y="4420870"/>
            <a:ext cx="3762375" cy="1816100"/>
          </a:xfrm>
          <a:prstGeom prst="rect">
            <a:avLst/>
          </a:prstGeom>
          <a:noFill/>
        </p:spPr>
        <p:txBody>
          <a:bodyPr wrap="square" lIns="90000" tIns="46800" rIns="90000" bIns="46800" anchor="t"/>
          <a:lstStyle/>
          <a:p>
            <a:pPr algn="just" defTabSz="914400" fontAlgn="auto">
              <a:lnSpc>
                <a:spcPct val="120000"/>
              </a:lnSpc>
              <a:buClrTx/>
              <a:buSzTx/>
              <a:buFontTx/>
              <a:defRPr/>
            </a:pPr>
            <a:r>
              <a:rPr lang="zh-CN" altLang="en-US" sz="1800" b="1" kern="0" dirty="0">
                <a:latin typeface="楷体" panose="02010609060101010101" pitchFamily="49" charset="-122"/>
                <a:ea typeface="楷体" panose="02010609060101010101" pitchFamily="49" charset="-122"/>
              </a:rPr>
              <a:t>针对英文论文写作题给出了自动判分的解决方案，该方案利用潜在语义分析和学习向量量化算法来提升自动判分的准确率。</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(Automatic essay grading system with latent semantic analysis and learning vector quantization[C]. ICCIP, 2017.)</a:t>
            </a:r>
          </a:p>
        </p:txBody>
      </p:sp>
      <p:sp>
        <p:nvSpPr>
          <p:cNvPr id="46" name="íšľíďe"/>
          <p:cNvSpPr txBox="1"/>
          <p:nvPr/>
        </p:nvSpPr>
        <p:spPr>
          <a:xfrm>
            <a:off x="18415" y="1111885"/>
            <a:ext cx="3762375" cy="1536700"/>
          </a:xfrm>
          <a:prstGeom prst="rect">
            <a:avLst/>
          </a:prstGeom>
          <a:noFill/>
        </p:spPr>
        <p:txBody>
          <a:bodyPr wrap="square" lIns="90000" tIns="46800" rIns="90000" bIns="46800" anchor="t"/>
          <a:lstStyle/>
          <a:p>
            <a:pPr algn="just" defTabSz="914400" fontAlgn="auto">
              <a:lnSpc>
                <a:spcPct val="120000"/>
              </a:lnSpc>
              <a:spcBef>
                <a:spcPct val="0"/>
              </a:spcBef>
              <a:defRPr/>
            </a:pPr>
            <a:r>
              <a:rPr lang="zh-CN" altLang="en-US" sz="1800" b="1" kern="0" dirty="0">
                <a:latin typeface="楷体" panose="02010609060101010101" pitchFamily="49" charset="-122"/>
                <a:ea typeface="楷体" panose="02010609060101010101" pitchFamily="49" charset="-122"/>
                <a:sym typeface="+mn-ea"/>
              </a:rPr>
              <a:t>基于自然语言处理技术对开放式数学问题的每一个解答转变为数字特征，再通过聚类分析实现该类问题的自动判分。</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Mathematical language processing automatic grading and feedback for open response mathematical questions[C]. L@S, 2015</a:t>
            </a:r>
            <a:r>
              <a:rPr lang="en-US"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400">
              <a:solidFill>
                <a:schemeClr val="accent4"/>
              </a:solidFill>
            </a:endParaRPr>
          </a:p>
          <a:p>
            <a:pPr algn="just" defTabSz="914400" fontAlgn="auto">
              <a:lnSpc>
                <a:spcPct val="120000"/>
              </a:lnSpc>
              <a:spcBef>
                <a:spcPct val="0"/>
              </a:spcBef>
              <a:defRPr/>
            </a:pPr>
            <a:endParaRPr lang="zh-CN" altLang="en-US" sz="1400">
              <a:solidFill>
                <a:schemeClr val="accent4"/>
              </a:solidFill>
            </a:endParaRPr>
          </a:p>
        </p:txBody>
      </p:sp>
      <p:sp>
        <p:nvSpPr>
          <p:cNvPr id="44" name="íS1ïdé"/>
          <p:cNvSpPr/>
          <p:nvPr/>
        </p:nvSpPr>
        <p:spPr>
          <a:xfrm>
            <a:off x="3730397" y="4607816"/>
            <a:ext cx="422670" cy="422670"/>
          </a:xfrm>
          <a:prstGeom prst="ellipse">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2" name="îšļïdé"/>
          <p:cNvSpPr/>
          <p:nvPr/>
        </p:nvSpPr>
        <p:spPr>
          <a:xfrm>
            <a:off x="3746452" y="2556432"/>
            <a:ext cx="422670" cy="422670"/>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43" name="îslïdé"/>
          <p:cNvSpPr/>
          <p:nvPr/>
        </p:nvSpPr>
        <p:spPr bwMode="auto">
          <a:xfrm>
            <a:off x="3833775" y="2648321"/>
            <a:ext cx="248026" cy="238894"/>
          </a:xfrm>
          <a:custGeom>
            <a:avLst/>
            <a:gdLst>
              <a:gd name="connsiteX0" fmla="*/ 0 w 582235"/>
              <a:gd name="connsiteY0" fmla="*/ 404481 h 606722"/>
              <a:gd name="connsiteX1" fmla="*/ 101261 w 582235"/>
              <a:gd name="connsiteY1" fmla="*/ 404481 h 606722"/>
              <a:gd name="connsiteX2" fmla="*/ 101261 w 582235"/>
              <a:gd name="connsiteY2" fmla="*/ 606722 h 606722"/>
              <a:gd name="connsiteX3" fmla="*/ 0 w 582235"/>
              <a:gd name="connsiteY3" fmla="*/ 606722 h 606722"/>
              <a:gd name="connsiteX4" fmla="*/ 151927 w 582235"/>
              <a:gd name="connsiteY4" fmla="*/ 328623 h 606722"/>
              <a:gd name="connsiteX5" fmla="*/ 253188 w 582235"/>
              <a:gd name="connsiteY5" fmla="*/ 328623 h 606722"/>
              <a:gd name="connsiteX6" fmla="*/ 253188 w 582235"/>
              <a:gd name="connsiteY6" fmla="*/ 606722 h 606722"/>
              <a:gd name="connsiteX7" fmla="*/ 151927 w 582235"/>
              <a:gd name="connsiteY7" fmla="*/ 606722 h 606722"/>
              <a:gd name="connsiteX8" fmla="*/ 303855 w 582235"/>
              <a:gd name="connsiteY8" fmla="*/ 252766 h 606722"/>
              <a:gd name="connsiteX9" fmla="*/ 405046 w 582235"/>
              <a:gd name="connsiteY9" fmla="*/ 252766 h 606722"/>
              <a:gd name="connsiteX10" fmla="*/ 405046 w 582235"/>
              <a:gd name="connsiteY10" fmla="*/ 606722 h 606722"/>
              <a:gd name="connsiteX11" fmla="*/ 303855 w 582235"/>
              <a:gd name="connsiteY11" fmla="*/ 606722 h 606722"/>
              <a:gd name="connsiteX12" fmla="*/ 455711 w 582235"/>
              <a:gd name="connsiteY12" fmla="*/ 202241 h 606722"/>
              <a:gd name="connsiteX13" fmla="*/ 556972 w 582235"/>
              <a:gd name="connsiteY13" fmla="*/ 202241 h 606722"/>
              <a:gd name="connsiteX14" fmla="*/ 556972 w 582235"/>
              <a:gd name="connsiteY14" fmla="*/ 606722 h 606722"/>
              <a:gd name="connsiteX15" fmla="*/ 455711 w 582235"/>
              <a:gd name="connsiteY15" fmla="*/ 606722 h 606722"/>
              <a:gd name="connsiteX16" fmla="*/ 455697 w 582235"/>
              <a:gd name="connsiteY16" fmla="*/ 0 h 606722"/>
              <a:gd name="connsiteX17" fmla="*/ 556785 w 582235"/>
              <a:gd name="connsiteY17" fmla="*/ 0 h 606722"/>
              <a:gd name="connsiteX18" fmla="*/ 556874 w 582235"/>
              <a:gd name="connsiteY18" fmla="*/ 0 h 606722"/>
              <a:gd name="connsiteX19" fmla="*/ 556963 w 582235"/>
              <a:gd name="connsiteY19" fmla="*/ 0 h 606722"/>
              <a:gd name="connsiteX20" fmla="*/ 557675 w 582235"/>
              <a:gd name="connsiteY20" fmla="*/ 0 h 606722"/>
              <a:gd name="connsiteX21" fmla="*/ 559366 w 582235"/>
              <a:gd name="connsiteY21" fmla="*/ 89 h 606722"/>
              <a:gd name="connsiteX22" fmla="*/ 560611 w 582235"/>
              <a:gd name="connsiteY22" fmla="*/ 267 h 606722"/>
              <a:gd name="connsiteX23" fmla="*/ 561857 w 582235"/>
              <a:gd name="connsiteY23" fmla="*/ 444 h 606722"/>
              <a:gd name="connsiteX24" fmla="*/ 563192 w 582235"/>
              <a:gd name="connsiteY24" fmla="*/ 800 h 606722"/>
              <a:gd name="connsiteX25" fmla="*/ 564171 w 582235"/>
              <a:gd name="connsiteY25" fmla="*/ 1067 h 606722"/>
              <a:gd name="connsiteX26" fmla="*/ 565506 w 582235"/>
              <a:gd name="connsiteY26" fmla="*/ 1511 h 606722"/>
              <a:gd name="connsiteX27" fmla="*/ 566574 w 582235"/>
              <a:gd name="connsiteY27" fmla="*/ 1867 h 606722"/>
              <a:gd name="connsiteX28" fmla="*/ 567730 w 582235"/>
              <a:gd name="connsiteY28" fmla="*/ 2400 h 606722"/>
              <a:gd name="connsiteX29" fmla="*/ 568798 w 582235"/>
              <a:gd name="connsiteY29" fmla="*/ 2933 h 606722"/>
              <a:gd name="connsiteX30" fmla="*/ 569777 w 582235"/>
              <a:gd name="connsiteY30" fmla="*/ 3467 h 606722"/>
              <a:gd name="connsiteX31" fmla="*/ 570934 w 582235"/>
              <a:gd name="connsiteY31" fmla="*/ 4178 h 606722"/>
              <a:gd name="connsiteX32" fmla="*/ 571824 w 582235"/>
              <a:gd name="connsiteY32" fmla="*/ 4800 h 606722"/>
              <a:gd name="connsiteX33" fmla="*/ 572891 w 582235"/>
              <a:gd name="connsiteY33" fmla="*/ 5689 h 606722"/>
              <a:gd name="connsiteX34" fmla="*/ 573781 w 582235"/>
              <a:gd name="connsiteY34" fmla="*/ 6489 h 606722"/>
              <a:gd name="connsiteX35" fmla="*/ 574760 w 582235"/>
              <a:gd name="connsiteY35" fmla="*/ 7289 h 606722"/>
              <a:gd name="connsiteX36" fmla="*/ 575917 w 582235"/>
              <a:gd name="connsiteY36" fmla="*/ 8533 h 606722"/>
              <a:gd name="connsiteX37" fmla="*/ 576451 w 582235"/>
              <a:gd name="connsiteY37" fmla="*/ 9066 h 606722"/>
              <a:gd name="connsiteX38" fmla="*/ 576451 w 582235"/>
              <a:gd name="connsiteY38" fmla="*/ 9155 h 606722"/>
              <a:gd name="connsiteX39" fmla="*/ 577964 w 582235"/>
              <a:gd name="connsiteY39" fmla="*/ 11200 h 606722"/>
              <a:gd name="connsiteX40" fmla="*/ 578053 w 582235"/>
              <a:gd name="connsiteY40" fmla="*/ 11289 h 606722"/>
              <a:gd name="connsiteX41" fmla="*/ 579209 w 582235"/>
              <a:gd name="connsiteY41" fmla="*/ 13244 h 606722"/>
              <a:gd name="connsiteX42" fmla="*/ 579743 w 582235"/>
              <a:gd name="connsiteY42" fmla="*/ 14222 h 606722"/>
              <a:gd name="connsiteX43" fmla="*/ 580277 w 582235"/>
              <a:gd name="connsiteY43" fmla="*/ 15555 h 606722"/>
              <a:gd name="connsiteX44" fmla="*/ 580722 w 582235"/>
              <a:gd name="connsiteY44" fmla="*/ 16711 h 606722"/>
              <a:gd name="connsiteX45" fmla="*/ 581167 w 582235"/>
              <a:gd name="connsiteY45" fmla="*/ 17866 h 606722"/>
              <a:gd name="connsiteX46" fmla="*/ 581523 w 582235"/>
              <a:gd name="connsiteY46" fmla="*/ 19199 h 606722"/>
              <a:gd name="connsiteX47" fmla="*/ 581790 w 582235"/>
              <a:gd name="connsiteY47" fmla="*/ 20266 h 606722"/>
              <a:gd name="connsiteX48" fmla="*/ 582146 w 582235"/>
              <a:gd name="connsiteY48" fmla="*/ 22488 h 606722"/>
              <a:gd name="connsiteX49" fmla="*/ 582146 w 582235"/>
              <a:gd name="connsiteY49" fmla="*/ 22666 h 606722"/>
              <a:gd name="connsiteX50" fmla="*/ 582235 w 582235"/>
              <a:gd name="connsiteY50" fmla="*/ 25244 h 606722"/>
              <a:gd name="connsiteX51" fmla="*/ 582235 w 582235"/>
              <a:gd name="connsiteY51" fmla="*/ 126396 h 606722"/>
              <a:gd name="connsiteX52" fmla="*/ 556963 w 582235"/>
              <a:gd name="connsiteY52" fmla="*/ 151728 h 606722"/>
              <a:gd name="connsiteX53" fmla="*/ 531691 w 582235"/>
              <a:gd name="connsiteY53" fmla="*/ 126396 h 606722"/>
              <a:gd name="connsiteX54" fmla="*/ 531691 w 582235"/>
              <a:gd name="connsiteY54" fmla="*/ 79286 h 606722"/>
              <a:gd name="connsiteX55" fmla="*/ 421260 w 582235"/>
              <a:gd name="connsiteY55" fmla="*/ 171106 h 606722"/>
              <a:gd name="connsiteX56" fmla="*/ 385666 w 582235"/>
              <a:gd name="connsiteY56" fmla="*/ 167906 h 606722"/>
              <a:gd name="connsiteX57" fmla="*/ 388869 w 582235"/>
              <a:gd name="connsiteY57" fmla="*/ 132262 h 606722"/>
              <a:gd name="connsiteX58" fmla="*/ 487020 w 582235"/>
              <a:gd name="connsiteY58" fmla="*/ 50576 h 606722"/>
              <a:gd name="connsiteX59" fmla="*/ 455697 w 582235"/>
              <a:gd name="connsiteY59" fmla="*/ 50576 h 606722"/>
              <a:gd name="connsiteX60" fmla="*/ 430425 w 582235"/>
              <a:gd name="connsiteY60" fmla="*/ 25244 h 606722"/>
              <a:gd name="connsiteX61" fmla="*/ 455697 w 582235"/>
              <a:gd name="connsiteY61"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82235" h="606722">
                <a:moveTo>
                  <a:pt x="0" y="404481"/>
                </a:moveTo>
                <a:lnTo>
                  <a:pt x="101261" y="404481"/>
                </a:lnTo>
                <a:lnTo>
                  <a:pt x="101261" y="606722"/>
                </a:lnTo>
                <a:lnTo>
                  <a:pt x="0" y="606722"/>
                </a:lnTo>
                <a:close/>
                <a:moveTo>
                  <a:pt x="151927" y="328623"/>
                </a:moveTo>
                <a:lnTo>
                  <a:pt x="253188" y="328623"/>
                </a:lnTo>
                <a:lnTo>
                  <a:pt x="253188" y="606722"/>
                </a:lnTo>
                <a:lnTo>
                  <a:pt x="151927" y="606722"/>
                </a:lnTo>
                <a:close/>
                <a:moveTo>
                  <a:pt x="303855" y="252766"/>
                </a:moveTo>
                <a:lnTo>
                  <a:pt x="405046" y="252766"/>
                </a:lnTo>
                <a:lnTo>
                  <a:pt x="405046" y="606722"/>
                </a:lnTo>
                <a:lnTo>
                  <a:pt x="303855" y="606722"/>
                </a:lnTo>
                <a:close/>
                <a:moveTo>
                  <a:pt x="455711" y="202241"/>
                </a:moveTo>
                <a:lnTo>
                  <a:pt x="556972" y="202241"/>
                </a:lnTo>
                <a:lnTo>
                  <a:pt x="556972" y="606722"/>
                </a:lnTo>
                <a:lnTo>
                  <a:pt x="455711" y="606722"/>
                </a:lnTo>
                <a:close/>
                <a:moveTo>
                  <a:pt x="455697" y="0"/>
                </a:moveTo>
                <a:lnTo>
                  <a:pt x="556785" y="0"/>
                </a:lnTo>
                <a:lnTo>
                  <a:pt x="556874" y="0"/>
                </a:lnTo>
                <a:lnTo>
                  <a:pt x="556963" y="0"/>
                </a:lnTo>
                <a:cubicBezTo>
                  <a:pt x="557230" y="0"/>
                  <a:pt x="557408" y="0"/>
                  <a:pt x="557675" y="0"/>
                </a:cubicBezTo>
                <a:cubicBezTo>
                  <a:pt x="558298" y="89"/>
                  <a:pt x="558832" y="89"/>
                  <a:pt x="559366" y="89"/>
                </a:cubicBezTo>
                <a:cubicBezTo>
                  <a:pt x="559811" y="178"/>
                  <a:pt x="560256" y="267"/>
                  <a:pt x="560611" y="267"/>
                </a:cubicBezTo>
                <a:cubicBezTo>
                  <a:pt x="561056" y="356"/>
                  <a:pt x="561412" y="444"/>
                  <a:pt x="561857" y="444"/>
                </a:cubicBezTo>
                <a:cubicBezTo>
                  <a:pt x="562302" y="533"/>
                  <a:pt x="562747" y="711"/>
                  <a:pt x="563192" y="800"/>
                </a:cubicBezTo>
                <a:cubicBezTo>
                  <a:pt x="563548" y="889"/>
                  <a:pt x="563904" y="978"/>
                  <a:pt x="564171" y="1067"/>
                </a:cubicBezTo>
                <a:cubicBezTo>
                  <a:pt x="564616" y="1156"/>
                  <a:pt x="565061" y="1333"/>
                  <a:pt x="565506" y="1511"/>
                </a:cubicBezTo>
                <a:cubicBezTo>
                  <a:pt x="565862" y="1600"/>
                  <a:pt x="566218" y="1778"/>
                  <a:pt x="566574" y="1867"/>
                </a:cubicBezTo>
                <a:cubicBezTo>
                  <a:pt x="566929" y="2044"/>
                  <a:pt x="567285" y="2222"/>
                  <a:pt x="567730" y="2400"/>
                </a:cubicBezTo>
                <a:cubicBezTo>
                  <a:pt x="568086" y="2578"/>
                  <a:pt x="568442" y="2755"/>
                  <a:pt x="568798" y="2933"/>
                </a:cubicBezTo>
                <a:cubicBezTo>
                  <a:pt x="569154" y="3111"/>
                  <a:pt x="569421" y="3289"/>
                  <a:pt x="569777" y="3467"/>
                </a:cubicBezTo>
                <a:cubicBezTo>
                  <a:pt x="570133" y="3733"/>
                  <a:pt x="570578" y="4000"/>
                  <a:pt x="570934" y="4178"/>
                </a:cubicBezTo>
                <a:cubicBezTo>
                  <a:pt x="571201" y="4444"/>
                  <a:pt x="571557" y="4622"/>
                  <a:pt x="571824" y="4800"/>
                </a:cubicBezTo>
                <a:cubicBezTo>
                  <a:pt x="572180" y="5155"/>
                  <a:pt x="572536" y="5422"/>
                  <a:pt x="572891" y="5689"/>
                </a:cubicBezTo>
                <a:cubicBezTo>
                  <a:pt x="573247" y="5955"/>
                  <a:pt x="573514" y="6222"/>
                  <a:pt x="573781" y="6489"/>
                </a:cubicBezTo>
                <a:cubicBezTo>
                  <a:pt x="574137" y="6755"/>
                  <a:pt x="574493" y="7022"/>
                  <a:pt x="574760" y="7289"/>
                </a:cubicBezTo>
                <a:cubicBezTo>
                  <a:pt x="575205" y="7733"/>
                  <a:pt x="575561" y="8178"/>
                  <a:pt x="575917" y="8533"/>
                </a:cubicBezTo>
                <a:cubicBezTo>
                  <a:pt x="576095" y="8711"/>
                  <a:pt x="576273" y="8889"/>
                  <a:pt x="576451" y="9066"/>
                </a:cubicBezTo>
                <a:cubicBezTo>
                  <a:pt x="576451" y="9155"/>
                  <a:pt x="576451" y="9155"/>
                  <a:pt x="576451" y="9155"/>
                </a:cubicBezTo>
                <a:cubicBezTo>
                  <a:pt x="576985" y="9777"/>
                  <a:pt x="577519" y="10489"/>
                  <a:pt x="577964" y="11200"/>
                </a:cubicBezTo>
                <a:cubicBezTo>
                  <a:pt x="577964" y="11200"/>
                  <a:pt x="578053" y="11289"/>
                  <a:pt x="578053" y="11289"/>
                </a:cubicBezTo>
                <a:cubicBezTo>
                  <a:pt x="578498" y="12000"/>
                  <a:pt x="578854" y="12622"/>
                  <a:pt x="579209" y="13244"/>
                </a:cubicBezTo>
                <a:cubicBezTo>
                  <a:pt x="579387" y="13600"/>
                  <a:pt x="579565" y="13955"/>
                  <a:pt x="579743" y="14222"/>
                </a:cubicBezTo>
                <a:cubicBezTo>
                  <a:pt x="579921" y="14666"/>
                  <a:pt x="580099" y="15111"/>
                  <a:pt x="580277" y="15555"/>
                </a:cubicBezTo>
                <a:cubicBezTo>
                  <a:pt x="580455" y="15911"/>
                  <a:pt x="580633" y="16266"/>
                  <a:pt x="580722" y="16711"/>
                </a:cubicBezTo>
                <a:cubicBezTo>
                  <a:pt x="580900" y="17066"/>
                  <a:pt x="581078" y="17422"/>
                  <a:pt x="581167" y="17866"/>
                </a:cubicBezTo>
                <a:cubicBezTo>
                  <a:pt x="581256" y="18311"/>
                  <a:pt x="581434" y="18755"/>
                  <a:pt x="581523" y="19199"/>
                </a:cubicBezTo>
                <a:cubicBezTo>
                  <a:pt x="581612" y="19555"/>
                  <a:pt x="581701" y="19910"/>
                  <a:pt x="581790" y="20266"/>
                </a:cubicBezTo>
                <a:cubicBezTo>
                  <a:pt x="581879" y="20977"/>
                  <a:pt x="582057" y="21777"/>
                  <a:pt x="582146" y="22488"/>
                </a:cubicBezTo>
                <a:cubicBezTo>
                  <a:pt x="582146" y="22577"/>
                  <a:pt x="582146" y="22666"/>
                  <a:pt x="582146" y="22666"/>
                </a:cubicBezTo>
                <a:cubicBezTo>
                  <a:pt x="582235" y="23555"/>
                  <a:pt x="582235" y="24355"/>
                  <a:pt x="582235" y="25244"/>
                </a:cubicBezTo>
                <a:lnTo>
                  <a:pt x="582235" y="126396"/>
                </a:lnTo>
                <a:cubicBezTo>
                  <a:pt x="582235" y="140351"/>
                  <a:pt x="570934" y="151728"/>
                  <a:pt x="556963" y="151728"/>
                </a:cubicBezTo>
                <a:cubicBezTo>
                  <a:pt x="542992" y="151728"/>
                  <a:pt x="531691" y="140351"/>
                  <a:pt x="531691" y="126396"/>
                </a:cubicBezTo>
                <a:lnTo>
                  <a:pt x="531691" y="79286"/>
                </a:lnTo>
                <a:lnTo>
                  <a:pt x="421260" y="171106"/>
                </a:lnTo>
                <a:cubicBezTo>
                  <a:pt x="410582" y="180083"/>
                  <a:pt x="394564" y="178572"/>
                  <a:pt x="385666" y="167906"/>
                </a:cubicBezTo>
                <a:cubicBezTo>
                  <a:pt x="376678" y="157150"/>
                  <a:pt x="378191" y="141240"/>
                  <a:pt x="388869" y="132262"/>
                </a:cubicBezTo>
                <a:lnTo>
                  <a:pt x="487020" y="50576"/>
                </a:lnTo>
                <a:lnTo>
                  <a:pt x="455697" y="50576"/>
                </a:lnTo>
                <a:cubicBezTo>
                  <a:pt x="441727" y="50576"/>
                  <a:pt x="430425" y="39288"/>
                  <a:pt x="430425" y="25244"/>
                </a:cubicBezTo>
                <a:cubicBezTo>
                  <a:pt x="430425" y="11289"/>
                  <a:pt x="441727" y="0"/>
                  <a:pt x="455697" y="0"/>
                </a:cubicBezTo>
                <a:close/>
              </a:path>
            </a:pathLst>
          </a:custGeom>
          <a:solidFill>
            <a:schemeClr val="bg1"/>
          </a:solidFill>
          <a:ln>
            <a:noFill/>
          </a:ln>
          <a:effectLst/>
        </p:spPr>
        <p:txBody>
          <a:bodyPr anchor="ctr"/>
          <a:lstStyle/>
          <a:p>
            <a:pPr algn="ctr"/>
            <a:endParaRPr/>
          </a:p>
        </p:txBody>
      </p:sp>
      <p:sp>
        <p:nvSpPr>
          <p:cNvPr id="38" name="íŝ1íḋè"/>
          <p:cNvSpPr/>
          <p:nvPr/>
        </p:nvSpPr>
        <p:spPr>
          <a:xfrm>
            <a:off x="7867754" y="2548073"/>
            <a:ext cx="422670" cy="422670"/>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9" name="işlíḓe"/>
          <p:cNvSpPr/>
          <p:nvPr/>
        </p:nvSpPr>
        <p:spPr bwMode="auto">
          <a:xfrm>
            <a:off x="7954442" y="2640597"/>
            <a:ext cx="248026" cy="238894"/>
          </a:xfrm>
          <a:custGeom>
            <a:avLst/>
            <a:gdLst>
              <a:gd name="connsiteX0" fmla="*/ 297615 w 597921"/>
              <a:gd name="connsiteY0" fmla="*/ 96957 h 598324"/>
              <a:gd name="connsiteX1" fmla="*/ 323434 w 597921"/>
              <a:gd name="connsiteY1" fmla="*/ 122740 h 598324"/>
              <a:gd name="connsiteX2" fmla="*/ 323434 w 597921"/>
              <a:gd name="connsiteY2" fmla="*/ 289852 h 598324"/>
              <a:gd name="connsiteX3" fmla="*/ 462572 w 597921"/>
              <a:gd name="connsiteY3" fmla="*/ 289852 h 598324"/>
              <a:gd name="connsiteX4" fmla="*/ 487913 w 597921"/>
              <a:gd name="connsiteY4" fmla="*/ 315157 h 598324"/>
              <a:gd name="connsiteX5" fmla="*/ 462572 w 597921"/>
              <a:gd name="connsiteY5" fmla="*/ 340463 h 598324"/>
              <a:gd name="connsiteX6" fmla="*/ 297615 w 597921"/>
              <a:gd name="connsiteY6" fmla="*/ 340463 h 598324"/>
              <a:gd name="connsiteX7" fmla="*/ 272274 w 597921"/>
              <a:gd name="connsiteY7" fmla="*/ 315157 h 598324"/>
              <a:gd name="connsiteX8" fmla="*/ 272274 w 597921"/>
              <a:gd name="connsiteY8" fmla="*/ 122740 h 598324"/>
              <a:gd name="connsiteX9" fmla="*/ 297615 w 597921"/>
              <a:gd name="connsiteY9" fmla="*/ 96957 h 598324"/>
              <a:gd name="connsiteX10" fmla="*/ 298127 w 597921"/>
              <a:gd name="connsiteY10" fmla="*/ 0 h 598324"/>
              <a:gd name="connsiteX11" fmla="*/ 597921 w 597921"/>
              <a:gd name="connsiteY11" fmla="*/ 299401 h 598324"/>
              <a:gd name="connsiteX12" fmla="*/ 298127 w 597921"/>
              <a:gd name="connsiteY12" fmla="*/ 598324 h 598324"/>
              <a:gd name="connsiteX13" fmla="*/ 35150 w 597921"/>
              <a:gd name="connsiteY13" fmla="*/ 442177 h 598324"/>
              <a:gd name="connsiteX14" fmla="*/ 34194 w 597921"/>
              <a:gd name="connsiteY14" fmla="*/ 432149 h 598324"/>
              <a:gd name="connsiteX15" fmla="*/ 40410 w 597921"/>
              <a:gd name="connsiteY15" fmla="*/ 424509 h 598324"/>
              <a:gd name="connsiteX16" fmla="*/ 74836 w 597921"/>
              <a:gd name="connsiteY16" fmla="*/ 407796 h 598324"/>
              <a:gd name="connsiteX17" fmla="*/ 91571 w 597921"/>
              <a:gd name="connsiteY17" fmla="*/ 413049 h 598324"/>
              <a:gd name="connsiteX18" fmla="*/ 298127 w 597921"/>
              <a:gd name="connsiteY18" fmla="*/ 534815 h 598324"/>
              <a:gd name="connsiteX19" fmla="*/ 534328 w 597921"/>
              <a:gd name="connsiteY19" fmla="*/ 299401 h 598324"/>
              <a:gd name="connsiteX20" fmla="*/ 298127 w 597921"/>
              <a:gd name="connsiteY20" fmla="*/ 63509 h 598324"/>
              <a:gd name="connsiteX21" fmla="*/ 145123 w 597921"/>
              <a:gd name="connsiteY21" fmla="*/ 120333 h 598324"/>
              <a:gd name="connsiteX22" fmla="*/ 200587 w 597921"/>
              <a:gd name="connsiteY22" fmla="*/ 142299 h 598324"/>
              <a:gd name="connsiteX23" fmla="*/ 208237 w 597921"/>
              <a:gd name="connsiteY23" fmla="*/ 152327 h 598324"/>
              <a:gd name="connsiteX24" fmla="*/ 203456 w 597921"/>
              <a:gd name="connsiteY24" fmla="*/ 164265 h 598324"/>
              <a:gd name="connsiteX25" fmla="*/ 48060 w 597921"/>
              <a:gd name="connsiteY25" fmla="*/ 285553 h 598324"/>
              <a:gd name="connsiteX26" fmla="*/ 35150 w 597921"/>
              <a:gd name="connsiteY26" fmla="*/ 287463 h 598324"/>
              <a:gd name="connsiteX27" fmla="*/ 27500 w 597921"/>
              <a:gd name="connsiteY27" fmla="*/ 277435 h 598324"/>
              <a:gd name="connsiteX28" fmla="*/ 246 w 597921"/>
              <a:gd name="connsiteY28" fmla="*/ 82132 h 598324"/>
              <a:gd name="connsiteX29" fmla="*/ 4550 w 597921"/>
              <a:gd name="connsiteY29" fmla="*/ 70194 h 598324"/>
              <a:gd name="connsiteX30" fmla="*/ 17459 w 597921"/>
              <a:gd name="connsiteY30" fmla="*/ 68762 h 598324"/>
              <a:gd name="connsiteX31" fmla="*/ 80574 w 597921"/>
              <a:gd name="connsiteY31" fmla="*/ 94070 h 598324"/>
              <a:gd name="connsiteX32" fmla="*/ 298127 w 597921"/>
              <a:gd name="connsiteY32" fmla="*/ 0 h 59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7921" h="598324">
                <a:moveTo>
                  <a:pt x="297615" y="96957"/>
                </a:moveTo>
                <a:cubicBezTo>
                  <a:pt x="311959" y="96957"/>
                  <a:pt x="323434" y="108416"/>
                  <a:pt x="323434" y="122740"/>
                </a:cubicBezTo>
                <a:lnTo>
                  <a:pt x="323434" y="289852"/>
                </a:lnTo>
                <a:lnTo>
                  <a:pt x="462572" y="289852"/>
                </a:lnTo>
                <a:cubicBezTo>
                  <a:pt x="476438" y="289852"/>
                  <a:pt x="487913" y="301311"/>
                  <a:pt x="487913" y="315157"/>
                </a:cubicBezTo>
                <a:cubicBezTo>
                  <a:pt x="487913" y="329004"/>
                  <a:pt x="476438" y="340463"/>
                  <a:pt x="462572" y="340463"/>
                </a:cubicBezTo>
                <a:lnTo>
                  <a:pt x="297615" y="340463"/>
                </a:lnTo>
                <a:cubicBezTo>
                  <a:pt x="283749" y="340463"/>
                  <a:pt x="272274" y="329004"/>
                  <a:pt x="272274" y="315157"/>
                </a:cubicBezTo>
                <a:lnTo>
                  <a:pt x="272274" y="122740"/>
                </a:lnTo>
                <a:cubicBezTo>
                  <a:pt x="272274" y="108416"/>
                  <a:pt x="283749" y="96957"/>
                  <a:pt x="297615" y="96957"/>
                </a:cubicBezTo>
                <a:close/>
                <a:moveTo>
                  <a:pt x="298127" y="0"/>
                </a:moveTo>
                <a:cubicBezTo>
                  <a:pt x="463564" y="0"/>
                  <a:pt x="597921" y="134181"/>
                  <a:pt x="597921" y="299401"/>
                </a:cubicBezTo>
                <a:cubicBezTo>
                  <a:pt x="597921" y="464143"/>
                  <a:pt x="463564" y="598324"/>
                  <a:pt x="298127" y="598324"/>
                </a:cubicBezTo>
                <a:cubicBezTo>
                  <a:pt x="188155" y="598324"/>
                  <a:pt x="87268" y="538635"/>
                  <a:pt x="35150" y="442177"/>
                </a:cubicBezTo>
                <a:cubicBezTo>
                  <a:pt x="33238" y="438835"/>
                  <a:pt x="32760" y="435492"/>
                  <a:pt x="34194" y="432149"/>
                </a:cubicBezTo>
                <a:cubicBezTo>
                  <a:pt x="35150" y="428807"/>
                  <a:pt x="37541" y="425942"/>
                  <a:pt x="40410" y="424509"/>
                </a:cubicBezTo>
                <a:lnTo>
                  <a:pt x="74836" y="407796"/>
                </a:lnTo>
                <a:cubicBezTo>
                  <a:pt x="81052" y="404931"/>
                  <a:pt x="88702" y="407319"/>
                  <a:pt x="91571" y="413049"/>
                </a:cubicBezTo>
                <a:cubicBezTo>
                  <a:pt x="133169" y="488018"/>
                  <a:pt x="212540" y="534815"/>
                  <a:pt x="298127" y="534815"/>
                </a:cubicBezTo>
                <a:cubicBezTo>
                  <a:pt x="428181" y="534815"/>
                  <a:pt x="534328" y="429284"/>
                  <a:pt x="534328" y="299401"/>
                </a:cubicBezTo>
                <a:cubicBezTo>
                  <a:pt x="534328" y="169517"/>
                  <a:pt x="428181" y="63509"/>
                  <a:pt x="298127" y="63509"/>
                </a:cubicBezTo>
                <a:cubicBezTo>
                  <a:pt x="242185" y="63509"/>
                  <a:pt x="187677" y="83565"/>
                  <a:pt x="145123" y="120333"/>
                </a:cubicBezTo>
                <a:lnTo>
                  <a:pt x="200587" y="142299"/>
                </a:lnTo>
                <a:cubicBezTo>
                  <a:pt x="204890" y="144209"/>
                  <a:pt x="207759" y="148029"/>
                  <a:pt x="208237" y="152327"/>
                </a:cubicBezTo>
                <a:cubicBezTo>
                  <a:pt x="208715" y="157102"/>
                  <a:pt x="207281" y="161399"/>
                  <a:pt x="203456" y="164265"/>
                </a:cubicBezTo>
                <a:lnTo>
                  <a:pt x="48060" y="285553"/>
                </a:lnTo>
                <a:cubicBezTo>
                  <a:pt x="44235" y="288418"/>
                  <a:pt x="39454" y="289373"/>
                  <a:pt x="35150" y="287463"/>
                </a:cubicBezTo>
                <a:cubicBezTo>
                  <a:pt x="31325" y="285553"/>
                  <a:pt x="27978" y="281733"/>
                  <a:pt x="27500" y="277435"/>
                </a:cubicBezTo>
                <a:lnTo>
                  <a:pt x="246" y="82132"/>
                </a:lnTo>
                <a:cubicBezTo>
                  <a:pt x="-710" y="77835"/>
                  <a:pt x="1203" y="73060"/>
                  <a:pt x="4550" y="70194"/>
                </a:cubicBezTo>
                <a:cubicBezTo>
                  <a:pt x="8375" y="67807"/>
                  <a:pt x="13156" y="66852"/>
                  <a:pt x="17459" y="68762"/>
                </a:cubicBezTo>
                <a:lnTo>
                  <a:pt x="80574" y="94070"/>
                </a:lnTo>
                <a:cubicBezTo>
                  <a:pt x="137472" y="33426"/>
                  <a:pt x="214931" y="0"/>
                  <a:pt x="298127" y="0"/>
                </a:cubicBezTo>
                <a:close/>
              </a:path>
            </a:pathLst>
          </a:custGeom>
          <a:solidFill>
            <a:schemeClr val="bg1"/>
          </a:solidFill>
          <a:ln>
            <a:noFill/>
          </a:ln>
        </p:spPr>
        <p:txBody>
          <a:bodyPr anchor="ctr"/>
          <a:lstStyle/>
          <a:p>
            <a:pPr algn="ctr"/>
            <a:endParaRPr/>
          </a:p>
        </p:txBody>
      </p:sp>
      <p:sp>
        <p:nvSpPr>
          <p:cNvPr id="26" name="îṥḻïḋê"/>
          <p:cNvSpPr/>
          <p:nvPr/>
        </p:nvSpPr>
        <p:spPr>
          <a:xfrm>
            <a:off x="7973696" y="4574668"/>
            <a:ext cx="422670" cy="422670"/>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îšľîďê"/>
          <p:cNvSpPr/>
          <p:nvPr/>
        </p:nvSpPr>
        <p:spPr bwMode="auto">
          <a:xfrm>
            <a:off x="8069274" y="4658302"/>
            <a:ext cx="248026" cy="238894"/>
          </a:xfrm>
          <a:custGeom>
            <a:avLst/>
            <a:gdLst>
              <a:gd name="T0" fmla="*/ 3413 w 6827"/>
              <a:gd name="T1" fmla="*/ 0 h 5912"/>
              <a:gd name="T2" fmla="*/ 0 w 6827"/>
              <a:gd name="T3" fmla="*/ 5912 h 5912"/>
              <a:gd name="T4" fmla="*/ 6827 w 6827"/>
              <a:gd name="T5" fmla="*/ 5912 h 5912"/>
              <a:gd name="T6" fmla="*/ 3413 w 6827"/>
              <a:gd name="T7" fmla="*/ 0 h 5912"/>
              <a:gd name="T8" fmla="*/ 3413 w 6827"/>
              <a:gd name="T9" fmla="*/ 972 h 5912"/>
              <a:gd name="T10" fmla="*/ 4489 w 6827"/>
              <a:gd name="T11" fmla="*/ 2835 h 5912"/>
              <a:gd name="T12" fmla="*/ 2338 w 6827"/>
              <a:gd name="T13" fmla="*/ 2835 h 5912"/>
              <a:gd name="T14" fmla="*/ 3413 w 6827"/>
              <a:gd name="T15" fmla="*/ 972 h 5912"/>
              <a:gd name="T16" fmla="*/ 842 w 6827"/>
              <a:gd name="T17" fmla="*/ 5426 h 5912"/>
              <a:gd name="T18" fmla="*/ 1917 w 6827"/>
              <a:gd name="T19" fmla="*/ 3564 h 5912"/>
              <a:gd name="T20" fmla="*/ 2993 w 6827"/>
              <a:gd name="T21" fmla="*/ 5426 h 5912"/>
              <a:gd name="T22" fmla="*/ 842 w 6827"/>
              <a:gd name="T23" fmla="*/ 5426 h 5912"/>
              <a:gd name="T24" fmla="*/ 2338 w 6827"/>
              <a:gd name="T25" fmla="*/ 3321 h 5912"/>
              <a:gd name="T26" fmla="*/ 4489 w 6827"/>
              <a:gd name="T27" fmla="*/ 3321 h 5912"/>
              <a:gd name="T28" fmla="*/ 3413 w 6827"/>
              <a:gd name="T29" fmla="*/ 5183 h 5912"/>
              <a:gd name="T30" fmla="*/ 2338 w 6827"/>
              <a:gd name="T31" fmla="*/ 3321 h 5912"/>
              <a:gd name="T32" fmla="*/ 4910 w 6827"/>
              <a:gd name="T33" fmla="*/ 3564 h 5912"/>
              <a:gd name="T34" fmla="*/ 5985 w 6827"/>
              <a:gd name="T35" fmla="*/ 5426 h 5912"/>
              <a:gd name="T36" fmla="*/ 3834 w 6827"/>
              <a:gd name="T37" fmla="*/ 5426 h 5912"/>
              <a:gd name="T38" fmla="*/ 4910 w 6827"/>
              <a:gd name="T39" fmla="*/ 3564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827"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chemeClr val="bg1"/>
          </a:solidFill>
          <a:ln>
            <a:noFill/>
          </a:ln>
        </p:spPr>
        <p:txBody>
          <a:bodyPr anchor="ctr"/>
          <a:lstStyle/>
          <a:p>
            <a:pPr algn="ctr"/>
            <a:endParaRPr/>
          </a:p>
        </p:txBody>
      </p:sp>
      <p:cxnSp>
        <p:nvCxnSpPr>
          <p:cNvPr id="14" name="直接连接符 13"/>
          <p:cNvCxnSpPr/>
          <p:nvPr/>
        </p:nvCxnSpPr>
        <p:spPr>
          <a:xfrm flipH="1">
            <a:off x="7077710" y="2895600"/>
            <a:ext cx="830580" cy="62738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025005" y="4061460"/>
            <a:ext cx="1052830" cy="55880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42" idx="5"/>
            <a:endCxn id="7" idx="0"/>
          </p:cNvCxnSpPr>
          <p:nvPr/>
        </p:nvCxnSpPr>
        <p:spPr>
          <a:xfrm>
            <a:off x="4098968" y="2917203"/>
            <a:ext cx="948055" cy="57531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7" idx="2"/>
            <a:endCxn id="44" idx="7"/>
          </p:cNvCxnSpPr>
          <p:nvPr/>
        </p:nvCxnSpPr>
        <p:spPr>
          <a:xfrm flipH="1">
            <a:off x="4082784" y="4077550"/>
            <a:ext cx="963930" cy="59245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0" name="îšľîďê"/>
          <p:cNvSpPr/>
          <p:nvPr/>
        </p:nvSpPr>
        <p:spPr bwMode="auto">
          <a:xfrm>
            <a:off x="3817314" y="4683067"/>
            <a:ext cx="248026" cy="238894"/>
          </a:xfrm>
          <a:custGeom>
            <a:avLst/>
            <a:gdLst>
              <a:gd name="T0" fmla="*/ 3413 w 6827"/>
              <a:gd name="T1" fmla="*/ 0 h 5912"/>
              <a:gd name="T2" fmla="*/ 0 w 6827"/>
              <a:gd name="T3" fmla="*/ 5912 h 5912"/>
              <a:gd name="T4" fmla="*/ 6827 w 6827"/>
              <a:gd name="T5" fmla="*/ 5912 h 5912"/>
              <a:gd name="T6" fmla="*/ 3413 w 6827"/>
              <a:gd name="T7" fmla="*/ 0 h 5912"/>
              <a:gd name="T8" fmla="*/ 3413 w 6827"/>
              <a:gd name="T9" fmla="*/ 972 h 5912"/>
              <a:gd name="T10" fmla="*/ 4489 w 6827"/>
              <a:gd name="T11" fmla="*/ 2835 h 5912"/>
              <a:gd name="T12" fmla="*/ 2338 w 6827"/>
              <a:gd name="T13" fmla="*/ 2835 h 5912"/>
              <a:gd name="T14" fmla="*/ 3413 w 6827"/>
              <a:gd name="T15" fmla="*/ 972 h 5912"/>
              <a:gd name="T16" fmla="*/ 842 w 6827"/>
              <a:gd name="T17" fmla="*/ 5426 h 5912"/>
              <a:gd name="T18" fmla="*/ 1917 w 6827"/>
              <a:gd name="T19" fmla="*/ 3564 h 5912"/>
              <a:gd name="T20" fmla="*/ 2993 w 6827"/>
              <a:gd name="T21" fmla="*/ 5426 h 5912"/>
              <a:gd name="T22" fmla="*/ 842 w 6827"/>
              <a:gd name="T23" fmla="*/ 5426 h 5912"/>
              <a:gd name="T24" fmla="*/ 2338 w 6827"/>
              <a:gd name="T25" fmla="*/ 3321 h 5912"/>
              <a:gd name="T26" fmla="*/ 4489 w 6827"/>
              <a:gd name="T27" fmla="*/ 3321 h 5912"/>
              <a:gd name="T28" fmla="*/ 3413 w 6827"/>
              <a:gd name="T29" fmla="*/ 5183 h 5912"/>
              <a:gd name="T30" fmla="*/ 2338 w 6827"/>
              <a:gd name="T31" fmla="*/ 3321 h 5912"/>
              <a:gd name="T32" fmla="*/ 4910 w 6827"/>
              <a:gd name="T33" fmla="*/ 3564 h 5912"/>
              <a:gd name="T34" fmla="*/ 5985 w 6827"/>
              <a:gd name="T35" fmla="*/ 5426 h 5912"/>
              <a:gd name="T36" fmla="*/ 3834 w 6827"/>
              <a:gd name="T37" fmla="*/ 5426 h 5912"/>
              <a:gd name="T38" fmla="*/ 4910 w 6827"/>
              <a:gd name="T39" fmla="*/ 3564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827" h="5912">
                <a:moveTo>
                  <a:pt x="3413" y="0"/>
                </a:moveTo>
                <a:lnTo>
                  <a:pt x="0" y="5912"/>
                </a:lnTo>
                <a:lnTo>
                  <a:pt x="6827" y="5912"/>
                </a:lnTo>
                <a:lnTo>
                  <a:pt x="3413" y="0"/>
                </a:lnTo>
                <a:close/>
                <a:moveTo>
                  <a:pt x="3413" y="972"/>
                </a:moveTo>
                <a:lnTo>
                  <a:pt x="4489" y="2835"/>
                </a:lnTo>
                <a:lnTo>
                  <a:pt x="2338" y="2835"/>
                </a:lnTo>
                <a:lnTo>
                  <a:pt x="3413" y="972"/>
                </a:lnTo>
                <a:close/>
                <a:moveTo>
                  <a:pt x="842" y="5426"/>
                </a:moveTo>
                <a:lnTo>
                  <a:pt x="1917" y="3564"/>
                </a:lnTo>
                <a:lnTo>
                  <a:pt x="2993" y="5426"/>
                </a:lnTo>
                <a:lnTo>
                  <a:pt x="842" y="5426"/>
                </a:lnTo>
                <a:close/>
                <a:moveTo>
                  <a:pt x="2338" y="3321"/>
                </a:moveTo>
                <a:lnTo>
                  <a:pt x="4489" y="3321"/>
                </a:lnTo>
                <a:lnTo>
                  <a:pt x="3413" y="5183"/>
                </a:lnTo>
                <a:lnTo>
                  <a:pt x="2338" y="3321"/>
                </a:lnTo>
                <a:close/>
                <a:moveTo>
                  <a:pt x="4910" y="3564"/>
                </a:moveTo>
                <a:lnTo>
                  <a:pt x="5985" y="5426"/>
                </a:lnTo>
                <a:lnTo>
                  <a:pt x="3834" y="5426"/>
                </a:lnTo>
                <a:lnTo>
                  <a:pt x="4910" y="3564"/>
                </a:lnTo>
                <a:close/>
              </a:path>
            </a:pathLst>
          </a:custGeom>
          <a:solidFill>
            <a:schemeClr val="bg1"/>
          </a:solidFill>
          <a:ln>
            <a:noFill/>
          </a:ln>
        </p:spPr>
        <p:txBody>
          <a:bodyPr anchor="ctr"/>
          <a:lstStyle/>
          <a:p>
            <a:pPr algn="ctr"/>
            <a:endParaRPr/>
          </a:p>
        </p:txBody>
      </p:sp>
      <p:sp>
        <p:nvSpPr>
          <p:cNvPr id="12" name="íšľíďe"/>
          <p:cNvSpPr txBox="1"/>
          <p:nvPr/>
        </p:nvSpPr>
        <p:spPr>
          <a:xfrm>
            <a:off x="8285480" y="1106170"/>
            <a:ext cx="3762375" cy="1773555"/>
          </a:xfrm>
          <a:prstGeom prst="rect">
            <a:avLst/>
          </a:prstGeom>
          <a:noFill/>
        </p:spPr>
        <p:txBody>
          <a:bodyPr wrap="square" lIns="90000" tIns="46800" rIns="90000" bIns="46800" anchor="t"/>
          <a:lstStyle/>
          <a:p>
            <a:pPr algn="just" defTabSz="914400" fontAlgn="auto">
              <a:lnSpc>
                <a:spcPct val="120000"/>
              </a:lnSpc>
              <a:spcBef>
                <a:spcPct val="0"/>
              </a:spcBef>
              <a:defRPr/>
            </a:pPr>
            <a:r>
              <a:rPr lang="zh-CN" altLang="en-US" sz="1800" b="1" kern="0" dirty="0">
                <a:latin typeface="楷体" panose="02010609060101010101" pitchFamily="49" charset="-122"/>
                <a:ea typeface="楷体" panose="02010609060101010101" pitchFamily="49" charset="-122"/>
              </a:rPr>
              <a:t>通过课程论坛平台，对打分者的讨论进行分析，结合打分者之间的社会关系，进一步优化打分者偏见和可靠模型，以提高互评质量。</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(Leveraging Social Connections to Improve Peer Assessment in MOOCs[J]. WWW, 2017.)</a:t>
            </a:r>
            <a:endParaRPr lang="zh-CN" altLang="en-US" sz="1400">
              <a:solidFill>
                <a:schemeClr val="accent4"/>
              </a:solidFill>
            </a:endParaRPr>
          </a:p>
        </p:txBody>
      </p:sp>
      <p:sp>
        <p:nvSpPr>
          <p:cNvPr id="13" name="íšľíďe"/>
          <p:cNvSpPr txBox="1"/>
          <p:nvPr/>
        </p:nvSpPr>
        <p:spPr>
          <a:xfrm>
            <a:off x="8317230" y="4420870"/>
            <a:ext cx="3762375" cy="1816100"/>
          </a:xfrm>
          <a:prstGeom prst="rect">
            <a:avLst/>
          </a:prstGeom>
          <a:noFill/>
        </p:spPr>
        <p:txBody>
          <a:bodyPr wrap="square" lIns="90000" tIns="46800" rIns="90000" bIns="46800" anchor="t"/>
          <a:lstStyle/>
          <a:p>
            <a:pPr algn="just" defTabSz="914400" fontAlgn="auto">
              <a:lnSpc>
                <a:spcPct val="120000"/>
              </a:lnSpc>
              <a:spcBef>
                <a:spcPct val="0"/>
              </a:spcBef>
              <a:defRPr/>
            </a:pPr>
            <a:r>
              <a:rPr lang="zh-CN" altLang="en-US" sz="1800" b="1" kern="0" dirty="0">
                <a:latin typeface="楷体" panose="02010609060101010101" pitchFamily="49" charset="-122"/>
                <a:ea typeface="楷体" panose="02010609060101010101" pitchFamily="49" charset="-122"/>
                <a:sym typeface="+mn-ea"/>
              </a:rPr>
              <a:t>利用众包的思想让每名评价者对分配给其的一部分主观题作业进行评判，最终基于评价者反馈的评判信息估计作业的质量。</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Probabilistic graphical models for boosting cardinal and ordinal peer grading in moocs[C]. AAAI, 2015.</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400">
              <a:solidFill>
                <a:schemeClr val="accent4"/>
              </a:solidFill>
            </a:endParaRPr>
          </a:p>
          <a:p>
            <a:pPr algn="just" defTabSz="914400" fontAlgn="auto">
              <a:lnSpc>
                <a:spcPct val="120000"/>
              </a:lnSpc>
              <a:spcBef>
                <a:spcPct val="0"/>
              </a:spcBef>
              <a:defRPr/>
            </a:pPr>
            <a:endParaRPr lang="zh-CN" altLang="en-US" sz="1400">
              <a:solidFill>
                <a:schemeClr val="accent4"/>
              </a:solidFill>
            </a:endParaRPr>
          </a:p>
        </p:txBody>
      </p:sp>
      <p:sp>
        <p:nvSpPr>
          <p:cNvPr id="18" name="文本框 17"/>
          <p:cNvSpPr txBox="1"/>
          <p:nvPr/>
        </p:nvSpPr>
        <p:spPr>
          <a:xfrm>
            <a:off x="33655" y="3375660"/>
            <a:ext cx="3732530" cy="922020"/>
          </a:xfrm>
          <a:prstGeom prst="rect">
            <a:avLst/>
          </a:prstGeom>
          <a:noFill/>
        </p:spPr>
        <p:txBody>
          <a:bodyPr wrap="square" rtlCol="0" anchor="t">
            <a:spAutoFit/>
          </a:bodyPr>
          <a:lstStyle/>
          <a:p>
            <a:pPr lvl="0" algn="l" eaLnBrk="0" fontAlgn="base" hangingPunct="0">
              <a:buClrTx/>
              <a:buSzTx/>
              <a:buFont typeface="Wingdings" panose="05000000000000000000" charset="0"/>
              <a:buNone/>
              <a:defRPr/>
            </a:pPr>
            <a:r>
              <a:rPr lang="zh-CN" altLang="en-US" b="1" kern="0" dirty="0">
                <a:solidFill>
                  <a:srgbClr val="C00000"/>
                </a:solidFill>
                <a:latin typeface="楷体" panose="02010609060101010101" pitchFamily="49" charset="-122"/>
                <a:ea typeface="楷体" panose="02010609060101010101" pitchFamily="49" charset="-122"/>
                <a:sym typeface="+mn-ea"/>
              </a:rPr>
              <a:t>通常依赖特定领域的知识来优化自然语言的处理过程，适用于解决特定领域的主观题自动判分问题。</a:t>
            </a:r>
          </a:p>
        </p:txBody>
      </p:sp>
      <p:sp>
        <p:nvSpPr>
          <p:cNvPr id="21" name="文本框 20"/>
          <p:cNvSpPr txBox="1"/>
          <p:nvPr/>
        </p:nvSpPr>
        <p:spPr>
          <a:xfrm>
            <a:off x="8300720" y="3185795"/>
            <a:ext cx="3732530" cy="1198880"/>
          </a:xfrm>
          <a:prstGeom prst="rect">
            <a:avLst/>
          </a:prstGeom>
          <a:noFill/>
        </p:spPr>
        <p:txBody>
          <a:bodyPr wrap="square" rtlCol="0" anchor="t">
            <a:spAutoFit/>
          </a:bodyPr>
          <a:lstStyle/>
          <a:p>
            <a:pPr lvl="0" algn="l" eaLnBrk="0" fontAlgn="base" hangingPunct="0">
              <a:buClrTx/>
              <a:buSzTx/>
              <a:buFont typeface="Wingdings" panose="05000000000000000000" charset="0"/>
              <a:buNone/>
              <a:defRPr/>
            </a:pPr>
            <a:r>
              <a:rPr lang="zh-CN" altLang="en-US" b="1" kern="0" dirty="0">
                <a:solidFill>
                  <a:srgbClr val="C00000"/>
                </a:solidFill>
                <a:latin typeface="楷体" panose="02010609060101010101" pitchFamily="49" charset="-122"/>
                <a:ea typeface="楷体" panose="02010609060101010101" pitchFamily="49" charset="-122"/>
                <a:sym typeface="+mn-ea"/>
              </a:rPr>
              <a:t>同行互评技术评价主观题的思路恰好弥补了不足，让学生互相批改作业，既能以人的思维评判问题，又可以及时的给予反馈。</a:t>
            </a:r>
          </a:p>
        </p:txBody>
      </p:sp>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21" grpId="0"/>
      <p:bldP spid="21"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研究背景</a:t>
            </a:r>
            <a:endParaRPr 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normAutofit fontScale="80000" lnSpcReduction="20000"/>
          </a:bodyPr>
          <a:lstStyle/>
          <a:p>
            <a:fld id="{51D91E7F-84B6-4064-9D4E-CC7D244BCA04}" type="slidenum">
              <a:rPr lang="zh-CN" altLang="en-US" sz="2665" smtClean="0"/>
              <a:t>5</a:t>
            </a:fld>
            <a:endParaRPr lang="zh-CN" altLang="en-US" sz="2665" dirty="0"/>
          </a:p>
        </p:txBody>
      </p:sp>
      <p:pic>
        <p:nvPicPr>
          <p:cNvPr id="2" name="Picture 13" descr="http://www.ccie.gxu.edu.cn/Web2016/images/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713" y="2289"/>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6022219" y="5480216"/>
            <a:ext cx="6096000" cy="738664"/>
          </a:xfrm>
          <a:prstGeom prst="rect">
            <a:avLst/>
          </a:prstGeom>
        </p:spPr>
        <p:txBody>
          <a:bodyPr>
            <a:spAutoFit/>
          </a:bodyPr>
          <a:lstStyle/>
          <a:p>
            <a:pPr algn="ctr">
              <a:lnSpc>
                <a:spcPct val="150000"/>
              </a:lnSpc>
            </a:pP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图 </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 评价者对知识点的掌握程度与评分误差之间的关联性</a:t>
            </a:r>
          </a:p>
          <a:p>
            <a:pPr algn="just">
              <a:lnSpc>
                <a:spcPct val="150000"/>
              </a:lnSpc>
            </a:pP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Fig. 1-1 Correlation between graders’ competence to knowledge points and RMSE</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5810" y="1021032"/>
            <a:ext cx="5285618" cy="4512436"/>
          </a:xfrm>
          <a:prstGeom prst="rect">
            <a:avLst/>
          </a:prstGeom>
        </p:spPr>
      </p:pic>
      <p:sp>
        <p:nvSpPr>
          <p:cNvPr id="14" name="矩形 13"/>
          <p:cNvSpPr/>
          <p:nvPr/>
        </p:nvSpPr>
        <p:spPr>
          <a:xfrm>
            <a:off x="466181" y="4255810"/>
            <a:ext cx="5353353" cy="166776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2400" kern="100" dirty="0">
                <a:latin typeface="楷体" panose="02010609060101010101" pitchFamily="49" charset="-122"/>
                <a:ea typeface="楷体" panose="02010609060101010101" pitchFamily="49" charset="-122"/>
                <a:cs typeface="Times New Roman" panose="02020603050405020304" pitchFamily="18" charset="0"/>
              </a:rPr>
              <a:t>同行评价者的</a:t>
            </a:r>
            <a:r>
              <a:rPr lang="zh-CN" altLang="en-US"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评分质量</a:t>
            </a:r>
            <a:r>
              <a:rPr lang="zh-CN" altLang="en-US" sz="2400" kern="100" dirty="0">
                <a:latin typeface="楷体" panose="02010609060101010101" pitchFamily="49" charset="-122"/>
                <a:ea typeface="楷体" panose="02010609060101010101" pitchFamily="49" charset="-122"/>
                <a:cs typeface="Times New Roman" panose="02020603050405020304" pitchFamily="18" charset="0"/>
              </a:rPr>
              <a:t>受该评价者对主观题考察的</a:t>
            </a:r>
            <a:r>
              <a:rPr lang="zh-CN" altLang="en-US" sz="24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知识点的掌握程度</a:t>
            </a:r>
            <a:r>
              <a:rPr lang="zh-CN" altLang="en-US" sz="2400" kern="100" dirty="0">
                <a:latin typeface="楷体" panose="02010609060101010101" pitchFamily="49" charset="-122"/>
                <a:ea typeface="楷体" panose="02010609060101010101" pitchFamily="49" charset="-122"/>
                <a:cs typeface="Times New Roman" panose="02020603050405020304" pitchFamily="18" charset="0"/>
              </a:rPr>
              <a:t>的影响</a:t>
            </a:r>
            <a:endParaRPr lang="zh-CN" altLang="en-US" sz="2400" kern="100" dirty="0">
              <a:latin typeface="楷体" panose="02010609060101010101" pitchFamily="49" charset="-122"/>
              <a:ea typeface="楷体" panose="02010609060101010101" pitchFamily="49" charset="-122"/>
            </a:endParaRPr>
          </a:p>
        </p:txBody>
      </p:sp>
      <p:sp>
        <p:nvSpPr>
          <p:cNvPr id="15" name="矩形 14"/>
          <p:cNvSpPr/>
          <p:nvPr/>
        </p:nvSpPr>
        <p:spPr>
          <a:xfrm>
            <a:off x="485866" y="1435259"/>
            <a:ext cx="5333153" cy="2399665"/>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000" kern="100" dirty="0" smtClean="0">
                <a:latin typeface="Times New Roman" panose="02020603050405020304" pitchFamily="18" charset="0"/>
                <a:ea typeface="楷体" panose="02010609060101010101" pitchFamily="49" charset="-122"/>
                <a:cs typeface="Times New Roman" panose="02020603050405020304" pitchFamily="18" charset="0"/>
              </a:rPr>
              <a:t>以知识追踪得到</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的同行评价者对每道主观题作业的潜在正确作答概率为依据将</a:t>
            </a:r>
            <a:r>
              <a:rPr lang="en-US" altLang="zh-CN" sz="2000" b="1" kern="100" dirty="0">
                <a:latin typeface="Times New Roman" panose="02020603050405020304" pitchFamily="18" charset="0"/>
                <a:ea typeface="楷体" panose="02010609060101010101" pitchFamily="49" charset="-122"/>
                <a:cs typeface="Times New Roman" panose="02020603050405020304" pitchFamily="18" charset="0"/>
              </a:rPr>
              <a:t>2109</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条互评打分记录分为</a:t>
            </a:r>
            <a:r>
              <a:rPr lang="zh-CN" altLang="en-US" sz="2000" b="1" kern="100" dirty="0">
                <a:latin typeface="Times New Roman" panose="02020603050405020304" pitchFamily="18" charset="0"/>
                <a:ea typeface="楷体" panose="02010609060101010101" pitchFamily="49" charset="-122"/>
                <a:cs typeface="Times New Roman" panose="02020603050405020304" pitchFamily="18" charset="0"/>
              </a:rPr>
              <a:t>五类</a:t>
            </a:r>
            <a:endParaRPr lang="en-US" altLang="zh-CN" sz="2000" b="1" kern="1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统计每类中各条互评打分记录给出的评价分数与真实分数之间的</a:t>
            </a:r>
            <a:r>
              <a:rPr lang="zh-CN" altLang="en-US" sz="2000" b="1" kern="100" dirty="0">
                <a:latin typeface="Times New Roman" panose="02020603050405020304" pitchFamily="18" charset="0"/>
                <a:ea typeface="楷体" panose="02010609060101010101" pitchFamily="49" charset="-122"/>
                <a:cs typeface="Times New Roman" panose="02020603050405020304" pitchFamily="18" charset="0"/>
              </a:rPr>
              <a:t>均方根误差</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100" dirty="0">
                <a:latin typeface="Times New Roman" panose="02020603050405020304" pitchFamily="18" charset="0"/>
                <a:ea typeface="楷体" panose="02010609060101010101" pitchFamily="49" charset="-122"/>
                <a:cs typeface="Times New Roman" panose="02020603050405020304" pitchFamily="18" charset="0"/>
              </a:rPr>
              <a:t>RMSE</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同行互评关键技术</a:t>
            </a:r>
            <a:endParaRPr 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normAutofit fontScale="80000" lnSpcReduction="20000"/>
          </a:bodyPr>
          <a:lstStyle/>
          <a:p>
            <a:fld id="{51D91E7F-84B6-4064-9D4E-CC7D244BCA04}" type="slidenum">
              <a:rPr lang="zh-CN" altLang="en-US" sz="2665" smtClean="0"/>
              <a:t>6</a:t>
            </a:fld>
            <a:endParaRPr lang="zh-CN" altLang="en-US" sz="2665" dirty="0"/>
          </a:p>
        </p:txBody>
      </p:sp>
      <p:sp>
        <p:nvSpPr>
          <p:cNvPr id="12" name="内容占位符 4"/>
          <p:cNvSpPr txBox="1"/>
          <p:nvPr/>
        </p:nvSpPr>
        <p:spPr>
          <a:xfrm>
            <a:off x="2749550" y="1843405"/>
            <a:ext cx="6360160" cy="8648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en-US" dirty="0" smtClean="0">
                <a:latin typeface="楷体" panose="02010609060101010101" pitchFamily="49" charset="-122"/>
                <a:ea typeface="楷体" panose="02010609060101010101" pitchFamily="49" charset="-122"/>
                <a:sym typeface="+mn-ea"/>
              </a:rPr>
              <a:t>基于知识追踪的</a:t>
            </a:r>
            <a:r>
              <a:rPr lang="zh-CN" altLang="en-US" dirty="0">
                <a:latin typeface="楷体" panose="02010609060101010101" pitchFamily="49" charset="-122"/>
                <a:ea typeface="楷体" panose="02010609060101010101" pitchFamily="49" charset="-122"/>
                <a:sym typeface="+mn-ea"/>
              </a:rPr>
              <a:t>同行互评关键技术研究</a:t>
            </a:r>
          </a:p>
        </p:txBody>
      </p:sp>
      <p:pic>
        <p:nvPicPr>
          <p:cNvPr id="2" name="Picture 13" descr="http://www.ccie.gxu.edu.cn/Web2016/images/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713" y="2289"/>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左大括号 2"/>
          <p:cNvSpPr/>
          <p:nvPr/>
        </p:nvSpPr>
        <p:spPr>
          <a:xfrm rot="5400000">
            <a:off x="5621083" y="507211"/>
            <a:ext cx="616689" cy="5018519"/>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内容占位符 4"/>
          <p:cNvSpPr txBox="1"/>
          <p:nvPr/>
        </p:nvSpPr>
        <p:spPr>
          <a:xfrm>
            <a:off x="1623315" y="3437445"/>
            <a:ext cx="3593705" cy="6166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en-US" sz="2400" dirty="0">
                <a:latin typeface="楷体" panose="02010609060101010101" pitchFamily="49" charset="-122"/>
                <a:ea typeface="楷体" panose="02010609060101010101" pitchFamily="49" charset="-122"/>
                <a:sym typeface="+mn-ea"/>
              </a:rPr>
              <a:t>同行互评</a:t>
            </a:r>
            <a:r>
              <a:rPr lang="zh-CN" altLang="en-US" sz="2400" b="1" dirty="0">
                <a:latin typeface="楷体" panose="02010609060101010101" pitchFamily="49" charset="-122"/>
                <a:ea typeface="楷体" panose="02010609060101010101" pitchFamily="49" charset="-122"/>
                <a:sym typeface="+mn-ea"/>
              </a:rPr>
              <a:t>基数</a:t>
            </a:r>
            <a:r>
              <a:rPr lang="zh-CN" altLang="en-US" sz="2400" dirty="0">
                <a:latin typeface="楷体" panose="02010609060101010101" pitchFamily="49" charset="-122"/>
                <a:ea typeface="楷体" panose="02010609060101010101" pitchFamily="49" charset="-122"/>
                <a:sym typeface="+mn-ea"/>
              </a:rPr>
              <a:t>估计技术</a:t>
            </a:r>
          </a:p>
        </p:txBody>
      </p:sp>
      <p:sp>
        <p:nvSpPr>
          <p:cNvPr id="7" name="内容占位符 4"/>
          <p:cNvSpPr txBox="1"/>
          <p:nvPr/>
        </p:nvSpPr>
        <p:spPr>
          <a:xfrm>
            <a:off x="6641834" y="3437445"/>
            <a:ext cx="3593705" cy="6166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en-US" sz="2400" dirty="0">
                <a:latin typeface="楷体" panose="02010609060101010101" pitchFamily="49" charset="-122"/>
                <a:ea typeface="楷体" panose="02010609060101010101" pitchFamily="49" charset="-122"/>
                <a:sym typeface="+mn-ea"/>
              </a:rPr>
              <a:t>同行互评</a:t>
            </a:r>
            <a:r>
              <a:rPr lang="zh-CN" altLang="en-US" sz="2400" b="1" dirty="0">
                <a:latin typeface="楷体" panose="02010609060101010101" pitchFamily="49" charset="-122"/>
                <a:ea typeface="楷体" panose="02010609060101010101" pitchFamily="49" charset="-122"/>
                <a:sym typeface="+mn-ea"/>
              </a:rPr>
              <a:t>序数</a:t>
            </a:r>
            <a:r>
              <a:rPr lang="zh-CN" altLang="en-US" sz="2400" dirty="0">
                <a:latin typeface="楷体" panose="02010609060101010101" pitchFamily="49" charset="-122"/>
                <a:ea typeface="楷体" panose="02010609060101010101" pitchFamily="49" charset="-122"/>
                <a:sym typeface="+mn-ea"/>
              </a:rPr>
              <a:t>估计技术</a:t>
            </a:r>
          </a:p>
        </p:txBody>
      </p:sp>
      <p:sp>
        <p:nvSpPr>
          <p:cNvPr id="5" name="内容占位符 4"/>
          <p:cNvSpPr txBox="1"/>
          <p:nvPr/>
        </p:nvSpPr>
        <p:spPr>
          <a:xfrm>
            <a:off x="5182870" y="4710430"/>
            <a:ext cx="1825625" cy="8648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en-US" sz="3200" b="1" dirty="0">
                <a:solidFill>
                  <a:srgbClr val="C00000"/>
                </a:solidFill>
                <a:latin typeface="楷体" panose="02010609060101010101" pitchFamily="49" charset="-122"/>
                <a:ea typeface="楷体" panose="02010609060101010101" pitchFamily="49" charset="-122"/>
                <a:sym typeface="+mn-ea"/>
              </a:rPr>
              <a:t>信息聚合</a:t>
            </a:r>
            <a:r>
              <a:rPr lang="zh-CN" altLang="en-US" dirty="0">
                <a:solidFill>
                  <a:srgbClr val="C00000"/>
                </a:solidFill>
                <a:latin typeface="楷体" panose="02010609060101010101" pitchFamily="49" charset="-122"/>
                <a:ea typeface="楷体" panose="02010609060101010101" pitchFamily="49" charset="-122"/>
                <a:sym typeface="+mn-ea"/>
              </a:rPr>
              <a:t>！</a:t>
            </a:r>
          </a:p>
        </p:txBody>
      </p:sp>
      <p:cxnSp>
        <p:nvCxnSpPr>
          <p:cNvPr id="8" name="直接箭头连接符 7"/>
          <p:cNvCxnSpPr/>
          <p:nvPr/>
        </p:nvCxnSpPr>
        <p:spPr>
          <a:xfrm>
            <a:off x="2945765" y="4149725"/>
            <a:ext cx="1976120" cy="85026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7010400" y="4115435"/>
            <a:ext cx="1891030" cy="84201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09507" y="158750"/>
            <a:ext cx="7672493" cy="583565"/>
          </a:xfrm>
          <a:prstGeom prst="rect">
            <a:avLst/>
          </a:prstGeom>
          <a:noFill/>
        </p:spPr>
        <p:txBody>
          <a:bodyPr wrap="square" lIns="91440" tIns="45720" rIns="91440" bIns="45720" rtlCol="0">
            <a:spAutoFit/>
          </a:bodyPr>
          <a:lstStyle/>
          <a:p>
            <a:r>
              <a:rPr lang="zh-CN" altLang="zh-CN" sz="3200" b="1" dirty="0">
                <a:solidFill>
                  <a:schemeClr val="accent1">
                    <a:lumMod val="50000"/>
                  </a:schemeClr>
                </a:solidFill>
                <a:latin typeface="Times New Roman" panose="02020603050405020304" pitchFamily="18" charset="0"/>
                <a:cs typeface="Times New Roman" panose="02020603050405020304" pitchFamily="18" charset="0"/>
              </a:rPr>
              <a:t>信息聚合技术</a:t>
            </a:r>
          </a:p>
        </p:txBody>
      </p:sp>
      <p:sp>
        <p:nvSpPr>
          <p:cNvPr id="4" name="灯片编号占位符 3"/>
          <p:cNvSpPr>
            <a:spLocks noGrp="1"/>
          </p:cNvSpPr>
          <p:nvPr>
            <p:ph type="sldNum" sz="quarter" idx="12"/>
          </p:nvPr>
        </p:nvSpPr>
        <p:spPr/>
        <p:txBody>
          <a:bodyPr>
            <a:normAutofit fontScale="82500" lnSpcReduction="20000"/>
          </a:bodyPr>
          <a:lstStyle/>
          <a:p>
            <a:fld id="{51D91E7F-84B6-4064-9D4E-CC7D244BCA04}" type="slidenum">
              <a:rPr lang="zh-CN" altLang="en-US" sz="2665" smtClean="0"/>
              <a:t>7</a:t>
            </a:fld>
            <a:endParaRPr lang="zh-CN" altLang="en-US" sz="2665" dirty="0"/>
          </a:p>
        </p:txBody>
      </p:sp>
      <p:sp>
        <p:nvSpPr>
          <p:cNvPr id="22" name="11 Rectángulo"/>
          <p:cNvSpPr/>
          <p:nvPr/>
        </p:nvSpPr>
        <p:spPr>
          <a:xfrm>
            <a:off x="803275" y="993140"/>
            <a:ext cx="2743200" cy="1077595"/>
          </a:xfrm>
          <a:prstGeom prst="hexagon">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ctr" fontAlgn="base">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基于众包</a:t>
            </a:r>
            <a:endParaRPr 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42 Rectángulo"/>
          <p:cNvSpPr/>
          <p:nvPr/>
        </p:nvSpPr>
        <p:spPr>
          <a:xfrm>
            <a:off x="4724266" y="994466"/>
            <a:ext cx="2743220" cy="1076408"/>
          </a:xfrm>
          <a:prstGeom prst="hexagon">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论文和基金评审</a:t>
            </a:r>
            <a:endParaRPr 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 name="51 Rectángulo"/>
          <p:cNvSpPr/>
          <p:nvPr/>
        </p:nvSpPr>
        <p:spPr>
          <a:xfrm>
            <a:off x="8698737" y="994466"/>
            <a:ext cx="2743220" cy="1076408"/>
          </a:xfrm>
          <a:prstGeom prst="hexagon">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教育主观题评判</a:t>
            </a:r>
            <a:endParaRPr 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0" name="直接连接符 29"/>
          <p:cNvCxnSpPr/>
          <p:nvPr/>
        </p:nvCxnSpPr>
        <p:spPr>
          <a:xfrm>
            <a:off x="4040505" y="1137920"/>
            <a:ext cx="27940" cy="479552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007660" y="1137920"/>
            <a:ext cx="27940" cy="479552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3656" y="2167890"/>
            <a:ext cx="4034790" cy="3630930"/>
          </a:xfrm>
          <a:prstGeom prst="rect">
            <a:avLst/>
          </a:prstGeom>
        </p:spPr>
        <p:txBody>
          <a:bodyPr wrap="square">
            <a:spAutoFit/>
          </a:bodyPr>
          <a:lstStyle/>
          <a:p>
            <a:pPr marL="171450" lvl="0" indent="-171450" algn="l" eaLnBrk="0" fontAlgn="base" hangingPunct="0">
              <a:spcBef>
                <a:spcPct val="0"/>
              </a:spcBef>
              <a:spcAft>
                <a:spcPts val="1200"/>
              </a:spcAft>
              <a:buFont typeface="Wingdings" panose="05000000000000000000" charset="0"/>
              <a:buChar char="l"/>
              <a:defRPr/>
            </a:pPr>
            <a:r>
              <a:rPr lang="zh-CN" altLang="en-US" b="1" kern="0" dirty="0">
                <a:solidFill>
                  <a:schemeClr val="tx1"/>
                </a:solidFill>
                <a:latin typeface="楷体" panose="02010609060101010101" pitchFamily="49" charset="-122"/>
                <a:ea typeface="楷体" panose="02010609060101010101" pitchFamily="49" charset="-122"/>
              </a:rPr>
              <a:t>基于建立每个打标签者的专业知识能力、每张图像的难度和图像标签是否正确的概率关系，以推断隐含变量。</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(Whose vote should count more: optimal integration of labels from labelers of unknown expertise[C]. NIPS, 2009.</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Aft>
                <a:spcPts val="1200"/>
              </a:spcAft>
              <a:buFont typeface="Wingdings" panose="05000000000000000000" charset="0"/>
              <a:buChar char="l"/>
              <a:defRPr/>
            </a:pPr>
            <a:r>
              <a:rPr b="1" kern="0" dirty="0">
                <a:solidFill>
                  <a:schemeClr val="tx1"/>
                </a:solidFill>
                <a:ea typeface="楷体" panose="02010609060101010101" pitchFamily="49" charset="-122"/>
              </a:rPr>
              <a:t>提出通过一个问题的每个评价的质量估计对不同的评价分配权重，再使用加权求和的聚合方法推断真实值</a:t>
            </a:r>
            <a:r>
              <a:rPr lang="zh-CN" b="1" kern="0" dirty="0">
                <a:solidFill>
                  <a:schemeClr val="tx1"/>
                </a:solidFill>
                <a:latin typeface="楷体" panose="02010609060101010101" pitchFamily="49" charset="-122"/>
                <a:ea typeface="楷体" panose="02010609060101010101" pitchFamily="49" charset="-122"/>
              </a:rPr>
              <a:t>。</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Crowdsourcing for multiple-choice question answering[C]. AAAI, 2014.</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Bef>
                <a:spcPct val="0"/>
              </a:spcBef>
              <a:spcAft>
                <a:spcPct val="0"/>
              </a:spcAft>
              <a:buFont typeface="Wingdings" panose="05000000000000000000" charset="0"/>
              <a:buChar char="l"/>
              <a:defRPr/>
            </a:pPr>
            <a:endParaRPr lang="en-US" altLang="zh-CN" sz="1600" b="1" kern="0" dirty="0">
              <a:solidFill>
                <a:schemeClr val="tx1">
                  <a:lumMod val="75000"/>
                  <a:lumOff val="25000"/>
                </a:schemeClr>
              </a:solidFill>
              <a:latin typeface="微软雅黑" panose="020B0503020204020204" pitchFamily="34" charset="-122"/>
              <a:ea typeface="微软雅黑" panose="020B0503020204020204" pitchFamily="34" charset="-122"/>
            </a:endParaRPr>
          </a:p>
          <a:p>
            <a:pPr lvl="0" indent="0" algn="l" eaLnBrk="0" fontAlgn="base" hangingPunct="0">
              <a:spcBef>
                <a:spcPct val="0"/>
              </a:spcBef>
              <a:spcAft>
                <a:spcPct val="0"/>
              </a:spcAft>
              <a:buFont typeface="Wingdings" panose="05000000000000000000" charset="0"/>
              <a:buNone/>
              <a:defRPr/>
            </a:pPr>
            <a:endParaRPr lang="en-US" altLang="zh-CN" sz="1600" b="1"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4007266" y="2160471"/>
            <a:ext cx="4109085" cy="3353435"/>
          </a:xfrm>
          <a:prstGeom prst="rect">
            <a:avLst/>
          </a:prstGeom>
        </p:spPr>
        <p:txBody>
          <a:bodyPr wrap="square">
            <a:spAutoFit/>
          </a:bodyPr>
          <a:lstStyle/>
          <a:p>
            <a:pPr marL="171450" lvl="0" indent="-171450" algn="l" eaLnBrk="0" fontAlgn="base" hangingPunct="0">
              <a:spcAft>
                <a:spcPts val="1200"/>
              </a:spcAft>
              <a:buFont typeface="Wingdings" panose="05000000000000000000" charset="0"/>
              <a:buChar char="l"/>
              <a:defRPr/>
            </a:pPr>
            <a:r>
              <a:rPr lang="zh-CN" b="1" kern="0" dirty="0">
                <a:ea typeface="楷体" panose="02010609060101010101" pitchFamily="49" charset="-122"/>
              </a:rPr>
              <a:t>利用</a:t>
            </a:r>
            <a:r>
              <a:rPr b="1" kern="0" dirty="0">
                <a:ea typeface="楷体" panose="02010609060101010101" pitchFamily="49" charset="-122"/>
              </a:rPr>
              <a:t>证据推理方法对模糊或不完整的观点信息进行建模，在不改变证据性质的情况下处理相互矛盾的评估信息</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Evidential reasoning rule for evidence combination[J]. Artificial Intelligence, 2013.</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p>
          <a:p>
            <a:pPr marL="171450" lvl="0" indent="-171450" algn="l" eaLnBrk="0" fontAlgn="base" hangingPunct="0">
              <a:spcAft>
                <a:spcPts val="1200"/>
              </a:spcAft>
              <a:buFont typeface="Wingdings" panose="05000000000000000000" charset="0"/>
              <a:buChar char="l"/>
              <a:defRPr/>
            </a:pPr>
            <a:r>
              <a:rPr lang="zh-CN" altLang="en-US" sz="1800" b="1" kern="0" dirty="0">
                <a:latin typeface="楷体" panose="02010609060101010101" pitchFamily="49" charset="-122"/>
                <a:ea typeface="楷体" panose="02010609060101010101" pitchFamily="49" charset="-122"/>
                <a:sym typeface="+mn-ea"/>
              </a:rPr>
              <a:t>利用</a:t>
            </a:r>
            <a:r>
              <a:rPr lang="en-US" altLang="zh-CN" sz="1800" b="1" kern="0" dirty="0">
                <a:latin typeface="Times New Roman" panose="02020603050405020304" pitchFamily="18" charset="0"/>
                <a:ea typeface="楷体" panose="02010609060101010101" pitchFamily="49" charset="-122"/>
                <a:cs typeface="Times New Roman" panose="02020603050405020304" pitchFamily="18" charset="0"/>
                <a:sym typeface="+mn-ea"/>
              </a:rPr>
              <a:t>ER</a:t>
            </a:r>
            <a:r>
              <a:rPr lang="zh-CN" altLang="en-US" sz="1800" b="1" kern="0" dirty="0">
                <a:latin typeface="楷体" panose="02010609060101010101" pitchFamily="49" charset="-122"/>
                <a:ea typeface="楷体" panose="02010609060101010101" pitchFamily="49" charset="-122"/>
                <a:sym typeface="+mn-ea"/>
              </a:rPr>
              <a:t>方法对基金项目选择中的多个专家评价信息聚合进行了扩展研究并取得不错的效果。</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IFS/ER-based large-scale multiattribute group decision-making method by considering expert knowledge structure[J]. Knowledge-Based Systems, 2018.</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Aft>
                <a:spcPts val="1200"/>
              </a:spcAft>
              <a:buFont typeface="Wingdings" panose="05000000000000000000" charset="0"/>
              <a:buChar char="l"/>
              <a:defRPr/>
            </a:pP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p:txBody>
      </p:sp>
      <p:sp>
        <p:nvSpPr>
          <p:cNvPr id="35" name="矩形 34"/>
          <p:cNvSpPr/>
          <p:nvPr/>
        </p:nvSpPr>
        <p:spPr>
          <a:xfrm>
            <a:off x="7982341" y="2137410"/>
            <a:ext cx="4292600" cy="3261360"/>
          </a:xfrm>
          <a:prstGeom prst="rect">
            <a:avLst/>
          </a:prstGeom>
        </p:spPr>
        <p:txBody>
          <a:bodyPr wrap="square">
            <a:spAutoFit/>
          </a:bodyPr>
          <a:lstStyle/>
          <a:p>
            <a:pPr marL="171450" lvl="0" indent="-171450" algn="l" eaLnBrk="0" fontAlgn="base" hangingPunct="0">
              <a:spcAft>
                <a:spcPts val="1200"/>
              </a:spcAft>
              <a:buFont typeface="Wingdings" panose="05000000000000000000" charset="0"/>
              <a:buChar char="l"/>
              <a:defRPr/>
            </a:pPr>
            <a:r>
              <a:rPr b="1" kern="0" dirty="0">
                <a:ea typeface="楷体" panose="02010609060101010101" pitchFamily="49" charset="-122"/>
              </a:rPr>
              <a:t>基于自然语言处理技术对开放式数学问题的每一个解答转变为数字特征，再通过聚类分析实现该类问题的自动判分。</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Mathematical language processing automatic grading and feedback for open response mathematical questions[C]. L@S, 2015</a:t>
            </a:r>
            <a:r>
              <a:rPr lang="en-US"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Aft>
                <a:spcPts val="1200"/>
              </a:spcAft>
              <a:buFont typeface="Wingdings" panose="05000000000000000000" charset="0"/>
              <a:buChar char="l"/>
              <a:defRPr/>
            </a:pPr>
            <a:r>
              <a:rPr b="1" kern="0" dirty="0">
                <a:ea typeface="楷体" panose="02010609060101010101" pitchFamily="49" charset="-122"/>
              </a:rPr>
              <a:t>利用众包的思想让每名评价者对分配给其的一部分主观题作业进行评判，最终基于评价者反馈的评判信息估计作业的质量。</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Probabilistic graphical models for boosting cardinal and ordinal peer grading in moocs[C]. AAAI, 2015.</a:t>
            </a:r>
            <a:r>
              <a:rPr lang="zh-CN"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 name="文本框 1"/>
          <p:cNvSpPr txBox="1"/>
          <p:nvPr/>
        </p:nvSpPr>
        <p:spPr>
          <a:xfrm>
            <a:off x="113592" y="5239722"/>
            <a:ext cx="3875405" cy="1322070"/>
          </a:xfrm>
          <a:prstGeom prst="rect">
            <a:avLst/>
          </a:prstGeom>
          <a:noFill/>
        </p:spPr>
        <p:txBody>
          <a:bodyPr wrap="square" rtlCol="0" anchor="t">
            <a:spAutoFit/>
          </a:bodyPr>
          <a:lstStyle/>
          <a:p>
            <a:pPr lvl="0" indent="0" algn="l" eaLnBrk="0" fontAlgn="base" hangingPunct="0">
              <a:spcBef>
                <a:spcPct val="0"/>
              </a:spcBef>
              <a:spcAft>
                <a:spcPct val="0"/>
              </a:spcAft>
              <a:buFont typeface="Wingdings" panose="05000000000000000000" charset="0"/>
              <a:buNone/>
              <a:defRPr/>
            </a:pPr>
            <a:r>
              <a:rPr lang="zh-CN" altLang="en-US" sz="2000" b="1" kern="0" dirty="0">
                <a:solidFill>
                  <a:srgbClr val="C00000"/>
                </a:solidFill>
                <a:latin typeface="楷体" panose="02010609060101010101" pitchFamily="49" charset="-122"/>
                <a:ea typeface="楷体" panose="02010609060101010101" pitchFamily="49" charset="-122"/>
                <a:sym typeface="+mn-ea"/>
              </a:rPr>
              <a:t>概率模型聚合方法优点：</a:t>
            </a:r>
          </a:p>
          <a:p>
            <a:pPr lvl="0" indent="0" algn="l" eaLnBrk="0" fontAlgn="base" hangingPunct="0">
              <a:spcBef>
                <a:spcPct val="0"/>
              </a:spcBef>
              <a:spcAft>
                <a:spcPct val="0"/>
              </a:spcAft>
              <a:buFont typeface="Wingdings" panose="05000000000000000000" charset="0"/>
              <a:buNone/>
              <a:defRPr/>
            </a:pPr>
            <a:r>
              <a:rPr lang="zh-CN" altLang="en-US" sz="2000" b="1" kern="0" dirty="0">
                <a:solidFill>
                  <a:srgbClr val="C00000"/>
                </a:solidFill>
                <a:latin typeface="楷体" panose="02010609060101010101" pitchFamily="49" charset="-122"/>
                <a:ea typeface="楷体" panose="02010609060101010101" pitchFamily="49" charset="-122"/>
                <a:sym typeface="+mn-ea"/>
              </a:rPr>
              <a:t>模型清晰，通过其表示随机变量之间的条件依赖关系能被直观地理解，有较强的解释性。</a:t>
            </a:r>
          </a:p>
        </p:txBody>
      </p:sp>
      <p:sp>
        <p:nvSpPr>
          <p:cNvPr id="6" name="文本框 5"/>
          <p:cNvSpPr txBox="1"/>
          <p:nvPr/>
        </p:nvSpPr>
        <p:spPr>
          <a:xfrm>
            <a:off x="4158173" y="5318584"/>
            <a:ext cx="3875405" cy="1014730"/>
          </a:xfrm>
          <a:prstGeom prst="rect">
            <a:avLst/>
          </a:prstGeom>
          <a:noFill/>
        </p:spPr>
        <p:txBody>
          <a:bodyPr wrap="square" rtlCol="0" anchor="t">
            <a:spAutoFit/>
          </a:bodyPr>
          <a:lstStyle/>
          <a:p>
            <a:pPr lvl="0" indent="0" algn="l" eaLnBrk="0" fontAlgn="base" hangingPunct="0">
              <a:spcBef>
                <a:spcPct val="0"/>
              </a:spcBef>
              <a:spcAft>
                <a:spcPct val="0"/>
              </a:spcAft>
              <a:buFont typeface="Wingdings" panose="05000000000000000000" charset="0"/>
              <a:buNone/>
              <a:defRPr/>
            </a:pPr>
            <a:r>
              <a:rPr lang="zh-CN" altLang="en-US" sz="2000" b="1" kern="0" dirty="0">
                <a:solidFill>
                  <a:srgbClr val="C00000"/>
                </a:solidFill>
                <a:latin typeface="楷体" panose="02010609060101010101" pitchFamily="49" charset="-122"/>
                <a:ea typeface="楷体" panose="02010609060101010101" pitchFamily="49" charset="-122"/>
                <a:sym typeface="+mn-ea"/>
              </a:rPr>
              <a:t>评审者的专业知识背景依赖较强，而同行互评中评价者的知识水平在同一知识框架下存在差异。</a:t>
            </a:r>
          </a:p>
        </p:txBody>
      </p:sp>
      <p:sp>
        <p:nvSpPr>
          <p:cNvPr id="9" name="文本框 8"/>
          <p:cNvSpPr txBox="1"/>
          <p:nvPr/>
        </p:nvSpPr>
        <p:spPr>
          <a:xfrm>
            <a:off x="8190938" y="5623621"/>
            <a:ext cx="3875405" cy="706755"/>
          </a:xfrm>
          <a:prstGeom prst="rect">
            <a:avLst/>
          </a:prstGeom>
          <a:noFill/>
        </p:spPr>
        <p:txBody>
          <a:bodyPr wrap="square" rtlCol="0" anchor="t">
            <a:spAutoFit/>
          </a:bodyPr>
          <a:lstStyle/>
          <a:p>
            <a:pPr lvl="0" indent="0" algn="l" eaLnBrk="0" fontAlgn="base" hangingPunct="0">
              <a:spcBef>
                <a:spcPct val="0"/>
              </a:spcBef>
              <a:spcAft>
                <a:spcPct val="0"/>
              </a:spcAft>
              <a:buFont typeface="Wingdings" panose="05000000000000000000" charset="0"/>
              <a:buNone/>
              <a:defRPr/>
            </a:pPr>
            <a:r>
              <a:rPr sz="2000" b="1" kern="0" dirty="0">
                <a:solidFill>
                  <a:srgbClr val="C00000"/>
                </a:solidFill>
                <a:ea typeface="楷体" panose="02010609060101010101" pitchFamily="49" charset="-122"/>
                <a:sym typeface="+mn-ea"/>
              </a:rPr>
              <a:t>具有特殊的教育价值</a:t>
            </a:r>
            <a:r>
              <a:rPr lang="zh-CN" sz="2000" b="1" kern="0" dirty="0">
                <a:solidFill>
                  <a:srgbClr val="C00000"/>
                </a:solidFill>
                <a:ea typeface="楷体" panose="02010609060101010101" pitchFamily="49" charset="-122"/>
                <a:sym typeface="+mn-ea"/>
              </a:rPr>
              <a:t>，对学生和教师均有益处。</a:t>
            </a:r>
          </a:p>
        </p:txBody>
      </p:sp>
      <p:pic>
        <p:nvPicPr>
          <p:cNvPr id="3" name="Picture 13" descr="http://www.ccie.gxu.edu.cn/Web2016/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713" y="-4317"/>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sz="3200" b="1" dirty="0">
                <a:solidFill>
                  <a:schemeClr val="accent1">
                    <a:lumMod val="50000"/>
                  </a:schemeClr>
                </a:solidFill>
                <a:latin typeface="Times New Roman" panose="02020603050405020304" pitchFamily="18" charset="0"/>
                <a:cs typeface="Times New Roman" panose="02020603050405020304" pitchFamily="18" charset="0"/>
                <a:sym typeface="+mn-ea"/>
              </a:rPr>
              <a:t>同行互评基数估计</a:t>
            </a:r>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技术</a:t>
            </a:r>
            <a:endParaRPr 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normAutofit fontScale="82500" lnSpcReduction="20000"/>
          </a:bodyPr>
          <a:lstStyle/>
          <a:p>
            <a:fld id="{51D91E7F-84B6-4064-9D4E-CC7D244BCA04}" type="slidenum">
              <a:rPr lang="zh-CN" altLang="en-US" sz="2665" smtClean="0"/>
              <a:t>8</a:t>
            </a:fld>
            <a:endParaRPr lang="zh-CN" altLang="en-US" sz="2665" dirty="0"/>
          </a:p>
        </p:txBody>
      </p:sp>
      <p:sp>
        <p:nvSpPr>
          <p:cNvPr id="12" name="内容占位符 4"/>
          <p:cNvSpPr txBox="1"/>
          <p:nvPr/>
        </p:nvSpPr>
        <p:spPr>
          <a:xfrm>
            <a:off x="777875" y="1734185"/>
            <a:ext cx="10636250" cy="8801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u="sng" dirty="0">
                <a:solidFill>
                  <a:srgbClr val="C00000"/>
                </a:solidFill>
                <a:latin typeface="楷体" panose="02010609060101010101" pitchFamily="49" charset="-122"/>
                <a:sym typeface="+mn-ea"/>
              </a:rPr>
              <a:t>基数估计</a:t>
            </a:r>
            <a:r>
              <a:rPr lang="zh-CN" altLang="en-US" sz="2400" dirty="0">
                <a:latin typeface="楷体" panose="02010609060101010101" pitchFamily="49" charset="-122"/>
                <a:sym typeface="+mn-ea"/>
              </a:rPr>
              <a:t>要求评价者对主观题作业给出绝对分数更能准确量化作业之间的差距</a:t>
            </a:r>
          </a:p>
        </p:txBody>
      </p:sp>
      <p:pic>
        <p:nvPicPr>
          <p:cNvPr id="2" name="Picture 13" descr="http://www.ccie.gxu.edu.cn/Web2016/images/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713" y="2289"/>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descr="学生互评2"/>
          <p:cNvPicPr>
            <a:picLocks noChangeAspect="1"/>
          </p:cNvPicPr>
          <p:nvPr/>
        </p:nvPicPr>
        <p:blipFill>
          <a:blip r:embed="rId4"/>
          <a:stretch>
            <a:fillRect/>
          </a:stretch>
        </p:blipFill>
        <p:spPr>
          <a:xfrm>
            <a:off x="4453890" y="3058160"/>
            <a:ext cx="3284220" cy="2959100"/>
          </a:xfrm>
          <a:prstGeom prst="rect">
            <a:avLst/>
          </a:prstGeom>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19667" y="165100"/>
            <a:ext cx="7672493" cy="583565"/>
          </a:xfrm>
          <a:prstGeom prst="rect">
            <a:avLst/>
          </a:prstGeom>
          <a:noFill/>
        </p:spPr>
        <p:txBody>
          <a:bodyPr wrap="square" lIns="91440" tIns="45720" rIns="91440" bIns="45720" rtlCol="0">
            <a:spAutoFit/>
          </a:bodyPr>
          <a:lstStyle/>
          <a:p>
            <a:r>
              <a:rPr lang="zh-CN" sz="3200" b="1" dirty="0">
                <a:solidFill>
                  <a:schemeClr val="accent1">
                    <a:lumMod val="50000"/>
                  </a:schemeClr>
                </a:solidFill>
                <a:latin typeface="Times New Roman" panose="02020603050405020304" pitchFamily="18" charset="0"/>
                <a:cs typeface="Times New Roman" panose="02020603050405020304" pitchFamily="18" charset="0"/>
                <a:sym typeface="+mn-ea"/>
              </a:rPr>
              <a:t>基数估计</a:t>
            </a:r>
            <a:r>
              <a:rPr lang="zh-CN" altLang="en-US" sz="3200" b="1" dirty="0">
                <a:solidFill>
                  <a:schemeClr val="accent1">
                    <a:lumMod val="50000"/>
                  </a:schemeClr>
                </a:solidFill>
                <a:latin typeface="Times New Roman" panose="02020603050405020304" pitchFamily="18" charset="0"/>
                <a:cs typeface="Times New Roman" panose="02020603050405020304" pitchFamily="18" charset="0"/>
              </a:rPr>
              <a:t>技术</a:t>
            </a:r>
            <a:endParaRPr lang="zh-CN" altLang="zh-C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normAutofit fontScale="82500" lnSpcReduction="20000"/>
          </a:bodyPr>
          <a:lstStyle/>
          <a:p>
            <a:fld id="{51D91E7F-84B6-4064-9D4E-CC7D244BCA04}" type="slidenum">
              <a:rPr lang="zh-CN" altLang="en-US" sz="2665" smtClean="0"/>
              <a:t>9</a:t>
            </a:fld>
            <a:endParaRPr lang="zh-CN" altLang="en-US" sz="2665" dirty="0"/>
          </a:p>
        </p:txBody>
      </p:sp>
      <p:sp>
        <p:nvSpPr>
          <p:cNvPr id="23" name="42 Rectángulo"/>
          <p:cNvSpPr/>
          <p:nvPr/>
        </p:nvSpPr>
        <p:spPr>
          <a:xfrm>
            <a:off x="7311827" y="1171825"/>
            <a:ext cx="2743220" cy="1076408"/>
          </a:xfrm>
          <a:prstGeom prst="hexagon">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基于概率模型</a:t>
            </a:r>
            <a:endParaRPr 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0" name="直接连接符 29"/>
          <p:cNvCxnSpPr/>
          <p:nvPr/>
        </p:nvCxnSpPr>
        <p:spPr>
          <a:xfrm>
            <a:off x="5866692" y="1466707"/>
            <a:ext cx="27940" cy="479552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87672" y="2405515"/>
            <a:ext cx="4678825" cy="3999865"/>
          </a:xfrm>
          <a:prstGeom prst="rect">
            <a:avLst/>
          </a:prstGeom>
        </p:spPr>
        <p:txBody>
          <a:bodyPr wrap="square">
            <a:spAutoFit/>
          </a:bodyPr>
          <a:lstStyle/>
          <a:p>
            <a:pPr marL="171450" lvl="0" indent="-171450" algn="l" eaLnBrk="0" fontAlgn="base" hangingPunct="0">
              <a:spcBef>
                <a:spcPct val="0"/>
              </a:spcBef>
              <a:spcAft>
                <a:spcPts val="1200"/>
              </a:spcAft>
              <a:buFont typeface="Wingdings" panose="05000000000000000000" charset="0"/>
              <a:buChar char="l"/>
              <a:defRPr/>
            </a:pPr>
            <a:r>
              <a:rPr lang="zh-CN" altLang="en-US" b="1" kern="0" dirty="0">
                <a:latin typeface="楷体" panose="02010609060101010101" pitchFamily="49" charset="-122"/>
                <a:ea typeface="楷体" panose="02010609060101010101" pitchFamily="49" charset="-122"/>
                <a:sym typeface="+mn-ea"/>
              </a:rPr>
              <a:t>提出了一种基于信任的估计算法，通过学生之间的互动度量学生的被信任程度以对互评分数进行加权计算。</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(Collaborative assessment</a:t>
            </a:r>
            <a:r>
              <a:rPr lang="en-US"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[C]</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 CCIA, 2014.</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Aft>
                <a:spcPts val="1200"/>
              </a:spcAft>
              <a:buFont typeface="Wingdings" panose="05000000000000000000" charset="0"/>
              <a:buChar char="l"/>
              <a:defRPr/>
            </a:pPr>
            <a:r>
              <a:rPr lang="zh-CN" altLang="en-US" b="1" kern="0" dirty="0">
                <a:latin typeface="楷体" panose="02010609060101010101" pitchFamily="49" charset="-122"/>
                <a:ea typeface="楷体" panose="02010609060101010101" pitchFamily="49" charset="-122"/>
                <a:sym typeface="+mn-ea"/>
              </a:rPr>
              <a:t>提出了Vancouver聚合算法，最终得分是互评得分、被评价的学生给出的反馈帮助分以及评判准确性分数的加权得分。</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(Crowdgrader: a tool for crowdsourcing the evaluation of homework assignments[C]. SIGCSE, 2014.)</a:t>
            </a:r>
            <a:endParaRPr lang="zh-CN" altLang="en-US">
              <a:solidFill>
                <a:schemeClr val="accent4"/>
              </a:solidFill>
            </a:endParaRPr>
          </a:p>
          <a:p>
            <a:pPr marL="171450" lvl="0" indent="-171450" algn="l" eaLnBrk="0" fontAlgn="base" hangingPunct="0">
              <a:spcAft>
                <a:spcPts val="1200"/>
              </a:spcAft>
              <a:buFont typeface="Wingdings" panose="05000000000000000000" charset="0"/>
              <a:buChar char="l"/>
              <a:defRPr/>
            </a:pPr>
            <a:endParaRPr lang="zh-CN" altLang="en-US" b="1" kern="0" dirty="0">
              <a:latin typeface="楷体" panose="02010609060101010101" pitchFamily="49" charset="-122"/>
              <a:ea typeface="楷体" panose="02010609060101010101" pitchFamily="49" charset="-122"/>
              <a:sym typeface="+mn-ea"/>
            </a:endParaRPr>
          </a:p>
          <a:p>
            <a:pPr lvl="0" indent="0" algn="l" eaLnBrk="0" fontAlgn="base" hangingPunct="0">
              <a:spcAft>
                <a:spcPts val="1200"/>
              </a:spcAft>
              <a:buFont typeface="Wingdings" panose="05000000000000000000" charset="0"/>
              <a:buNone/>
              <a:defRPr/>
            </a:pPr>
            <a:endParaRPr lang="zh-CN" sz="1400" b="1" kern="0" dirty="0">
              <a:solidFill>
                <a:srgbClr val="38B1BF"/>
              </a:solidFill>
              <a:latin typeface="Arial" panose="020B0604020202020204" pitchFamily="34" charset="0"/>
              <a:ea typeface="微软雅黑" panose="020B0503020204020204" pitchFamily="34" charset="-122"/>
              <a:cs typeface="Arial" panose="020B0604020202020204" pitchFamily="34" charset="0"/>
            </a:endParaRPr>
          </a:p>
          <a:p>
            <a:pPr marL="171450" lvl="0" indent="-171450" algn="l" eaLnBrk="0" fontAlgn="base" hangingPunct="0">
              <a:spcBef>
                <a:spcPct val="0"/>
              </a:spcBef>
              <a:spcAft>
                <a:spcPct val="0"/>
              </a:spcAft>
              <a:buFont typeface="Wingdings" panose="05000000000000000000" charset="0"/>
              <a:buChar char="l"/>
              <a:defRPr/>
            </a:pPr>
            <a:endParaRPr lang="en-US" altLang="zh-CN" sz="1600" b="1" kern="0" dirty="0">
              <a:solidFill>
                <a:schemeClr val="tx1">
                  <a:lumMod val="75000"/>
                  <a:lumOff val="25000"/>
                </a:schemeClr>
              </a:solidFill>
              <a:latin typeface="微软雅黑" panose="020B0503020204020204" pitchFamily="34" charset="-122"/>
              <a:ea typeface="微软雅黑" panose="020B0503020204020204" pitchFamily="34" charset="-122"/>
            </a:endParaRPr>
          </a:p>
          <a:p>
            <a:pPr lvl="0" indent="0" algn="l" eaLnBrk="0" fontAlgn="base" hangingPunct="0">
              <a:spcBef>
                <a:spcPct val="0"/>
              </a:spcBef>
              <a:spcAft>
                <a:spcPct val="0"/>
              </a:spcAft>
              <a:buFont typeface="Wingdings" panose="05000000000000000000" charset="0"/>
              <a:buNone/>
              <a:defRPr/>
            </a:pPr>
            <a:endParaRPr lang="en-US" altLang="zh-CN" sz="1600" b="1"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6594827" y="2405515"/>
            <a:ext cx="4600405" cy="2768600"/>
          </a:xfrm>
          <a:prstGeom prst="rect">
            <a:avLst/>
          </a:prstGeom>
        </p:spPr>
        <p:txBody>
          <a:bodyPr wrap="square">
            <a:spAutoFit/>
          </a:bodyPr>
          <a:lstStyle/>
          <a:p>
            <a:pPr marL="171450" lvl="0" indent="-171450" eaLnBrk="0" fontAlgn="base" hangingPunct="0">
              <a:spcAft>
                <a:spcPts val="1200"/>
              </a:spcAft>
              <a:buFont typeface="Wingdings" panose="05000000000000000000" charset="0"/>
              <a:buChar char="l"/>
              <a:defRPr/>
            </a:pPr>
            <a:r>
              <a:rPr lang="zh-CN" altLang="en-US" b="1" kern="0" dirty="0">
                <a:latin typeface="楷体" panose="02010609060101010101" pitchFamily="49" charset="-122"/>
                <a:ea typeface="楷体" panose="02010609060101010101" pitchFamily="49" charset="-122"/>
                <a:sym typeface="+mn-ea"/>
              </a:rPr>
              <a:t>提出两个概率模型引入了评价者的相对分数信息，降低了数据稀疏性给参数估计带来的负面影响，有效提高了对真实分数估计的准确性。</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(Improving peer assessment accuracy by incorporating relative peer grades[C].</a:t>
            </a:r>
            <a:r>
              <a:rPr lang="en-US"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 EDM, 2019.</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171450" lvl="0" indent="-171450" algn="l" eaLnBrk="0" fontAlgn="base" hangingPunct="0">
              <a:spcAft>
                <a:spcPts val="1200"/>
              </a:spcAft>
              <a:buClrTx/>
              <a:buSzTx/>
              <a:buFont typeface="Wingdings" panose="05000000000000000000" charset="0"/>
              <a:buChar char="l"/>
              <a:defRPr/>
            </a:pPr>
            <a:r>
              <a:rPr lang="zh-CN" altLang="en-US" sz="1800" b="1" kern="0" dirty="0">
                <a:latin typeface="楷体" panose="02010609060101010101" pitchFamily="49" charset="-122"/>
                <a:ea typeface="楷体" panose="02010609060101010101" pitchFamily="49" charset="-122"/>
              </a:rPr>
              <a:t>将评价者当前可靠性设定为评价者当前作业真实分数的线性函数的随机变量。</a:t>
            </a:r>
            <a:r>
              <a:rPr sz="1400"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rPr>
              <a:t>(Tuned models of peer assessment in moocs[C]. EDM, 2013.)</a:t>
            </a:r>
            <a:endParaRPr b="1" kern="0" dirty="0">
              <a:solidFill>
                <a:srgbClr val="38B1BF"/>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71450" lvl="0" indent="-171450" algn="l" eaLnBrk="0" fontAlgn="base" hangingPunct="0">
              <a:spcAft>
                <a:spcPts val="1200"/>
              </a:spcAft>
              <a:buClrTx/>
              <a:buSzTx/>
              <a:buFont typeface="Wingdings" panose="05000000000000000000" charset="0"/>
              <a:buChar char="l"/>
              <a:defRPr/>
            </a:pPr>
            <a:endParaRPr lang="zh-CN" altLang="en-US" sz="1800" b="1" kern="0" dirty="0">
              <a:latin typeface="楷体" panose="02010609060101010101" pitchFamily="49" charset="-122"/>
              <a:ea typeface="楷体" panose="02010609060101010101" pitchFamily="49" charset="-122"/>
            </a:endParaRPr>
          </a:p>
        </p:txBody>
      </p:sp>
      <p:sp>
        <p:nvSpPr>
          <p:cNvPr id="2" name="文本框 1"/>
          <p:cNvSpPr txBox="1"/>
          <p:nvPr/>
        </p:nvSpPr>
        <p:spPr>
          <a:xfrm>
            <a:off x="487680" y="5031740"/>
            <a:ext cx="4824730" cy="1322070"/>
          </a:xfrm>
          <a:prstGeom prst="rect">
            <a:avLst/>
          </a:prstGeom>
          <a:noFill/>
        </p:spPr>
        <p:txBody>
          <a:bodyPr wrap="square" rtlCol="0" anchor="t">
            <a:spAutoFit/>
          </a:bodyPr>
          <a:lstStyle/>
          <a:p>
            <a:pPr eaLnBrk="0" fontAlgn="base" hangingPunct="0">
              <a:spcBef>
                <a:spcPct val="0"/>
              </a:spcBef>
              <a:spcAft>
                <a:spcPct val="0"/>
              </a:spcAft>
              <a:defRPr/>
            </a:pPr>
            <a:r>
              <a:rPr lang="zh-CN" altLang="zh-CN" sz="2000" b="1" kern="0" dirty="0">
                <a:solidFill>
                  <a:schemeClr val="tx1"/>
                </a:solidFill>
                <a:latin typeface="楷体" panose="02010609060101010101" pitchFamily="49" charset="-122"/>
                <a:ea typeface="楷体" panose="02010609060101010101" pitchFamily="49" charset="-122"/>
                <a:sym typeface="+mn-ea"/>
              </a:rPr>
              <a:t>存在问题：</a:t>
            </a:r>
            <a:endParaRPr lang="en-US" altLang="zh-CN" sz="2000" b="1" kern="0" dirty="0">
              <a:solidFill>
                <a:srgbClr val="FF0000"/>
              </a:solidFill>
              <a:latin typeface="楷体" panose="02010609060101010101" pitchFamily="49" charset="-122"/>
              <a:ea typeface="楷体" panose="02010609060101010101" pitchFamily="49" charset="-122"/>
              <a:sym typeface="+mn-ea"/>
            </a:endParaRPr>
          </a:p>
          <a:p>
            <a:pPr marL="342900" lvl="0" indent="-342900" algn="l" eaLnBrk="0" fontAlgn="base" hangingPunct="0">
              <a:spcBef>
                <a:spcPct val="0"/>
              </a:spcBef>
              <a:spcAft>
                <a:spcPct val="0"/>
              </a:spcAft>
              <a:buFont typeface="Arial" panose="020B0604020202020204" pitchFamily="34" charset="0"/>
              <a:buChar char="•"/>
              <a:defRPr/>
            </a:pPr>
            <a:r>
              <a:rPr lang="en-US" altLang="zh-CN" sz="2000" b="1" kern="0" dirty="0">
                <a:solidFill>
                  <a:srgbClr val="C00000"/>
                </a:solidFill>
                <a:latin typeface="楷体" panose="02010609060101010101" pitchFamily="49" charset="-122"/>
                <a:ea typeface="楷体" panose="02010609060101010101" pitchFamily="49" charset="-122"/>
                <a:sym typeface="+mn-ea"/>
              </a:rPr>
              <a:t>忽略了学生在评价过程中的可靠性和带有偏见的评估状态</a:t>
            </a:r>
          </a:p>
          <a:p>
            <a:pPr marL="342900" lvl="0" indent="-342900" algn="l" eaLnBrk="0" fontAlgn="base" hangingPunct="0">
              <a:spcBef>
                <a:spcPct val="0"/>
              </a:spcBef>
              <a:spcAft>
                <a:spcPct val="0"/>
              </a:spcAft>
              <a:buFont typeface="Arial" panose="020B0604020202020204" pitchFamily="34" charset="0"/>
              <a:buChar char="•"/>
              <a:defRPr/>
            </a:pPr>
            <a:r>
              <a:rPr lang="en-US" altLang="zh-CN" sz="2000" b="1" kern="0" dirty="0">
                <a:solidFill>
                  <a:srgbClr val="C00000"/>
                </a:solidFill>
                <a:latin typeface="楷体" panose="02010609060101010101" pitchFamily="49" charset="-122"/>
                <a:ea typeface="楷体" panose="02010609060101010101" pitchFamily="49" charset="-122"/>
                <a:sym typeface="+mn-ea"/>
              </a:rPr>
              <a:t>加权权重设定上存在主观因素</a:t>
            </a:r>
          </a:p>
        </p:txBody>
      </p:sp>
      <p:sp>
        <p:nvSpPr>
          <p:cNvPr id="6" name="文本框 5"/>
          <p:cNvSpPr txBox="1"/>
          <p:nvPr/>
        </p:nvSpPr>
        <p:spPr>
          <a:xfrm>
            <a:off x="6595110" y="4878070"/>
            <a:ext cx="5347970" cy="1630045"/>
          </a:xfrm>
          <a:prstGeom prst="rect">
            <a:avLst/>
          </a:prstGeom>
          <a:noFill/>
        </p:spPr>
        <p:txBody>
          <a:bodyPr wrap="square" rtlCol="0" anchor="t">
            <a:spAutoFit/>
          </a:bodyPr>
          <a:lstStyle/>
          <a:p>
            <a:pPr lvl="0" indent="0" algn="l" eaLnBrk="0" fontAlgn="base" hangingPunct="0">
              <a:spcBef>
                <a:spcPct val="0"/>
              </a:spcBef>
              <a:spcAft>
                <a:spcPct val="0"/>
              </a:spcAft>
              <a:buFont typeface="Wingdings" panose="05000000000000000000" charset="0"/>
              <a:buNone/>
              <a:defRPr/>
            </a:pPr>
            <a:r>
              <a:rPr lang="zh-CN" sz="2000" b="1" kern="0" dirty="0">
                <a:solidFill>
                  <a:schemeClr val="tx1"/>
                </a:solidFill>
                <a:latin typeface="楷体" panose="02010609060101010101" pitchFamily="49" charset="-122"/>
                <a:ea typeface="楷体" panose="02010609060101010101" pitchFamily="49" charset="-122"/>
                <a:sym typeface="+mn-ea"/>
              </a:rPr>
              <a:t>存在问题：</a:t>
            </a:r>
            <a:endParaRPr lang="zh-CN" sz="2000" b="1" kern="0" dirty="0">
              <a:solidFill>
                <a:srgbClr val="FF0000"/>
              </a:solidFill>
              <a:latin typeface="楷体" panose="02010609060101010101" pitchFamily="49" charset="-122"/>
              <a:ea typeface="楷体" panose="02010609060101010101" pitchFamily="49" charset="-122"/>
              <a:sym typeface="+mn-ea"/>
            </a:endParaRPr>
          </a:p>
          <a:p>
            <a:pPr marL="342900" lvl="0" indent="-342900" eaLnBrk="0" fontAlgn="base" hangingPunct="0">
              <a:spcBef>
                <a:spcPct val="0"/>
              </a:spcBef>
              <a:spcAft>
                <a:spcPct val="0"/>
              </a:spcAft>
              <a:buFont typeface="Arial" panose="020B0604020202020204" pitchFamily="34" charset="0"/>
              <a:buChar char="•"/>
              <a:defRPr/>
            </a:pPr>
            <a:r>
              <a:rPr lang="zh-CN" altLang="en-US" sz="2000" b="1" kern="0" dirty="0">
                <a:solidFill>
                  <a:srgbClr val="C00000"/>
                </a:solidFill>
                <a:latin typeface="楷体" panose="02010609060101010101" pitchFamily="49" charset="-122"/>
                <a:ea typeface="楷体" panose="02010609060101010101" pitchFamily="49" charset="-122"/>
                <a:sym typeface="+mn-ea"/>
              </a:rPr>
              <a:t>在概率建模时均未同时考虑影响同行评价者评分可靠性的两大因素：本次作业中的答题表现以及历史答题表现</a:t>
            </a:r>
          </a:p>
          <a:p>
            <a:pPr lvl="0" eaLnBrk="0" fontAlgn="base" hangingPunct="0">
              <a:spcBef>
                <a:spcPct val="0"/>
              </a:spcBef>
              <a:spcAft>
                <a:spcPct val="0"/>
              </a:spcAft>
              <a:defRPr/>
            </a:pPr>
            <a:endParaRPr lang="zh-CN" sz="2000" b="1" kern="0" dirty="0">
              <a:solidFill>
                <a:srgbClr val="C00000"/>
              </a:solidFill>
              <a:latin typeface="楷体" panose="02010609060101010101" pitchFamily="49" charset="-122"/>
              <a:ea typeface="楷体" panose="02010609060101010101" pitchFamily="49" charset="-122"/>
              <a:sym typeface="+mn-ea"/>
            </a:endParaRPr>
          </a:p>
        </p:txBody>
      </p:sp>
      <p:pic>
        <p:nvPicPr>
          <p:cNvPr id="3" name="Picture 13" descr="http://www.ccie.gxu.edu.cn/Web2016/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713" y="-4317"/>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2 Rectángulo"/>
          <p:cNvSpPr/>
          <p:nvPr/>
        </p:nvSpPr>
        <p:spPr>
          <a:xfrm>
            <a:off x="1455600" y="1171825"/>
            <a:ext cx="2743220" cy="1076408"/>
          </a:xfrm>
          <a:prstGeom prst="hexagon">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基于加权求和</a:t>
            </a:r>
            <a:endParaRPr 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1"/>
            </p:custDataLst>
          </p:nvPr>
        </p:nvSpPr>
        <p:spPr>
          <a:xfrm>
            <a:off x="0" y="2308030"/>
            <a:ext cx="12212955" cy="2304415"/>
          </a:xfrm>
          <a:prstGeom prst="rect">
            <a:avLst/>
          </a:prstGeom>
          <a:solidFill>
            <a:srgbClr val="0066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altLang="zh-CN" sz="2400" dirty="0">
                <a:ln w="18000">
                  <a:solidFill>
                    <a:schemeClr val="accent2">
                      <a:satMod val="140000"/>
                    </a:schemeClr>
                  </a:solidFill>
                  <a:prstDash val="solid"/>
                  <a:miter lim="800000"/>
                </a:ln>
                <a:noFill/>
                <a:latin typeface="微软雅黑" panose="020B0503020204020204" pitchFamily="34" charset="-122"/>
                <a:ea typeface="微软雅黑" panose="020B0503020204020204" pitchFamily="34" charset="-122"/>
              </a:rPr>
              <a:t> </a:t>
            </a:r>
            <a:endParaRPr lang="zh-CN" altLang="en-US" sz="2400" dirty="0">
              <a:ln w="18000">
                <a:solidFill>
                  <a:schemeClr val="accent2">
                    <a:satMod val="140000"/>
                  </a:schemeClr>
                </a:solidFill>
                <a:prstDash val="solid"/>
                <a:miter lim="800000"/>
              </a:ln>
              <a:noFill/>
              <a:latin typeface="微软雅黑" panose="020B0503020204020204" pitchFamily="34" charset="-122"/>
              <a:ea typeface="微软雅黑" panose="020B0503020204020204" pitchFamily="34" charset="-122"/>
            </a:endParaRPr>
          </a:p>
        </p:txBody>
      </p:sp>
      <p:sp>
        <p:nvSpPr>
          <p:cNvPr id="12" name="矩形 11"/>
          <p:cNvSpPr/>
          <p:nvPr>
            <p:custDataLst>
              <p:tags r:id="rId2"/>
            </p:custDataLst>
          </p:nvPr>
        </p:nvSpPr>
        <p:spPr>
          <a:xfrm flipV="1">
            <a:off x="1544955" y="4757225"/>
            <a:ext cx="9122410" cy="76200"/>
          </a:xfrm>
          <a:prstGeom prst="rect">
            <a:avLst/>
          </a:prstGeom>
          <a:solidFill>
            <a:srgbClr val="0066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altLang="zh-CN" sz="24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 </a:t>
            </a:r>
            <a:endParaRPr lang="zh-CN" altLang="en-US" sz="240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5" name="文本框 4"/>
          <p:cNvSpPr txBox="1"/>
          <p:nvPr>
            <p:custDataLst>
              <p:tags r:id="rId3"/>
            </p:custDataLst>
          </p:nvPr>
        </p:nvSpPr>
        <p:spPr>
          <a:xfrm>
            <a:off x="368483" y="3106294"/>
            <a:ext cx="11819707" cy="707886"/>
          </a:xfrm>
          <a:prstGeom prst="rect">
            <a:avLst/>
          </a:prstGeom>
          <a:solidFill>
            <a:srgbClr val="006699"/>
          </a:solidFill>
        </p:spPr>
        <p:txBody>
          <a:bodyPr wrap="square" lIns="91440" tIns="45720" rIns="91440" bIns="45720" rtlCol="0">
            <a:spAutoFit/>
          </a:bodyPr>
          <a:lstStyle/>
          <a:p>
            <a:pPr algn="ctr"/>
            <a:r>
              <a:rPr lang="en-US" altLang="zh-CN" sz="4000" b="1" dirty="0" smtClean="0">
                <a:solidFill>
                  <a:schemeClr val="accent2">
                    <a:lumMod val="60000"/>
                    <a:lumOff val="40000"/>
                  </a:schemeClr>
                </a:solidFill>
                <a:latin typeface="微软雅黑" panose="020B0503020204020204" pitchFamily="34" charset="-122"/>
                <a:ea typeface="微软雅黑" panose="020B0503020204020204" pitchFamily="34" charset="-122"/>
              </a:rPr>
              <a:t>Thank you!</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pic>
        <p:nvPicPr>
          <p:cNvPr id="3" name="Picture 13" descr="http://www.ccie.gxu.edu.cn/Web2016/images/logo.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247" y="268264"/>
            <a:ext cx="5345287" cy="90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EFSHAPE" val="145762340"/>
</p:tagLst>
</file>

<file path=ppt/tags/tag2.xml><?xml version="1.0" encoding="utf-8"?>
<p:tagLst xmlns:a="http://schemas.openxmlformats.org/drawingml/2006/main" xmlns:r="http://schemas.openxmlformats.org/officeDocument/2006/relationships" xmlns:p="http://schemas.openxmlformats.org/presentationml/2006/main">
  <p:tag name="REFSHAPE" val="145760844"/>
</p:tagLst>
</file>

<file path=ppt/tags/tag3.xml><?xml version="1.0" encoding="utf-8"?>
<p:tagLst xmlns:a="http://schemas.openxmlformats.org/drawingml/2006/main" xmlns:r="http://schemas.openxmlformats.org/officeDocument/2006/relationships" xmlns:p="http://schemas.openxmlformats.org/presentationml/2006/main">
  <p:tag name="REFSHAPE" val="145765196"/>
</p:tagLst>
</file>

<file path=ppt/tags/tag4.xml><?xml version="1.0" encoding="utf-8"?>
<p:tagLst xmlns:a="http://schemas.openxmlformats.org/drawingml/2006/main" xmlns:r="http://schemas.openxmlformats.org/officeDocument/2006/relationships" xmlns:p="http://schemas.openxmlformats.org/presentationml/2006/main">
  <p:tag name="REFSHAPE" val="145766012"/>
</p:tagLst>
</file>

<file path=ppt/tags/tag5.xml><?xml version="1.0" encoding="utf-8"?>
<p:tagLst xmlns:a="http://schemas.openxmlformats.org/drawingml/2006/main" xmlns:r="http://schemas.openxmlformats.org/officeDocument/2006/relationships" xmlns:p="http://schemas.openxmlformats.org/presentationml/2006/main">
  <p:tag name="REFSHAPE" val="145766828"/>
</p:tagLst>
</file>

<file path=ppt/tags/tag6.xml><?xml version="1.0" encoding="utf-8"?>
<p:tagLst xmlns:a="http://schemas.openxmlformats.org/drawingml/2006/main" xmlns:r="http://schemas.openxmlformats.org/officeDocument/2006/relationships" xmlns:p="http://schemas.openxmlformats.org/presentationml/2006/main">
  <p:tag name="TIMING" val="|18.5"/>
</p:tagLst>
</file>

<file path=ppt/tags/tag7.xml><?xml version="1.0" encoding="utf-8"?>
<p:tagLst xmlns:a="http://schemas.openxmlformats.org/drawingml/2006/main" xmlns:r="http://schemas.openxmlformats.org/officeDocument/2006/relationships" xmlns:p="http://schemas.openxmlformats.org/presentationml/2006/main">
  <p:tag name="TIMING" val="|6.3"/>
</p:tagLst>
</file>

<file path=ppt/tags/tag8.xml><?xml version="1.0" encoding="utf-8"?>
<p:tagLst xmlns:a="http://schemas.openxmlformats.org/drawingml/2006/main" xmlns:r="http://schemas.openxmlformats.org/officeDocument/2006/relationships" xmlns:p="http://schemas.openxmlformats.org/presentationml/2006/main">
  <p:tag name="TIMING" val="|20.3|8|8.6"/>
</p:tagLst>
</file>

<file path=ppt/tags/tag9.xml><?xml version="1.0" encoding="utf-8"?>
<p:tagLst xmlns:a="http://schemas.openxmlformats.org/drawingml/2006/main" xmlns:r="http://schemas.openxmlformats.org/officeDocument/2006/relationships" xmlns:p="http://schemas.openxmlformats.org/presentationml/2006/main">
  <p:tag name="TIMING" val="|20.3|8|8.6"/>
</p:tagLst>
</file>

<file path=ppt/tags/tag10.xml><?xml version="1.0" encoding="utf-8"?>
<p:tagLst xmlns:a="http://schemas.openxmlformats.org/drawingml/2006/main" xmlns:r="http://schemas.openxmlformats.org/officeDocument/2006/relationships" xmlns:p="http://schemas.openxmlformats.org/presentationml/2006/main">
  <p:tag name="TIMING" val="|53.4|0.6"/>
</p:tagLst>
</file>

<file path=ppt/tags/tag11.xml><?xml version="1.0" encoding="utf-8"?>
<p:tagLst xmlns:a="http://schemas.openxmlformats.org/drawingml/2006/main" xmlns:r="http://schemas.openxmlformats.org/officeDocument/2006/relationships" xmlns:p="http://schemas.openxmlformats.org/presentationml/2006/main">
  <p:tag name="REFSHAPE" val="145762340"/>
</p:tagLst>
</file>

<file path=ppt/tags/tag12.xml><?xml version="1.0" encoding="utf-8"?>
<p:tagLst xmlns:a="http://schemas.openxmlformats.org/drawingml/2006/main" xmlns:r="http://schemas.openxmlformats.org/officeDocument/2006/relationships" xmlns:p="http://schemas.openxmlformats.org/presentationml/2006/main">
  <p:tag name="REFSHAPE" val="145760844"/>
</p:tagLst>
</file>

<file path=ppt/tags/tag13.xml><?xml version="1.0" encoding="utf-8"?>
<p:tagLst xmlns:a="http://schemas.openxmlformats.org/drawingml/2006/main" xmlns:r="http://schemas.openxmlformats.org/officeDocument/2006/relationships" xmlns:p="http://schemas.openxmlformats.org/presentationml/2006/main">
  <p:tag name="REFSHAPE" val="1457651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marL="285750" indent="-285750" algn="l">
          <a:lnSpc>
            <a:spcPct val="150000"/>
          </a:lnSpc>
          <a:buFont typeface="Wingdings" panose="05000000000000000000" pitchFamily="2" charset="2"/>
          <a:buChar char="Ø"/>
          <a:defRPr sz="2000" b="0" dirty="0" smtClean="0">
            <a:latin typeface="楷体" panose="02010609060101010101" pitchFamily="49" charset="-122"/>
            <a:ea typeface="楷体" panose="02010609060101010101" pitchFamily="49" charset="-122"/>
            <a:sym typeface="Calibri" panose="020F050202020403020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999</Words>
  <Application>Microsoft Office PowerPoint</Application>
  <PresentationFormat>宽屏</PresentationFormat>
  <Paragraphs>85</Paragraphs>
  <Slides>10</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等线</vt:lpstr>
      <vt:lpstr>等线 Light</vt:lpstr>
      <vt:lpstr>黑体</vt:lpstr>
      <vt:lpstr>楷体</vt:lpstr>
      <vt:lpstr>宋体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李秋云</dc:creator>
  <cp:lastModifiedBy>Windows User</cp:lastModifiedBy>
  <cp:revision>1077</cp:revision>
  <dcterms:created xsi:type="dcterms:W3CDTF">2020-11-16T02:10:00Z</dcterms:created>
  <dcterms:modified xsi:type="dcterms:W3CDTF">2021-06-24T15:41:23Z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E2761995BA1D410787B7A52B4DADEAA2</vt:lpwstr>
  </property>
  <property fmtid="{D5CDD505-2E9C-101B-9397-08002B2CF9AE}" pid="3" name="KSOProductBuildVer">
    <vt:lpwstr>2052-11.1.0.10356</vt:lpwstr>
  </property>
</Properties>
</file>